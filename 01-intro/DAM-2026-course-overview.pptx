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0" r:id="rId6"/>
    <p:sldId id="271" r:id="rId7"/>
    <p:sldId id="260" r:id="rId8"/>
    <p:sldId id="274" r:id="rId9"/>
    <p:sldId id="261" r:id="rId10"/>
    <p:sldId id="276" r:id="rId11"/>
    <p:sldId id="263" r:id="rId12"/>
    <p:sldId id="264" r:id="rId13"/>
    <p:sldId id="275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Myriad Pro"/>
        <a:ea typeface="Myriad Pro"/>
        <a:cs typeface="Myriad Pro"/>
        <a:sym typeface="Myriad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Myriad Pro"/>
        <a:ea typeface="Myriad Pro"/>
        <a:cs typeface="Myriad Pro"/>
        <a:sym typeface="Myriad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Myriad Pro"/>
        <a:ea typeface="Myriad Pro"/>
        <a:cs typeface="Myriad Pro"/>
        <a:sym typeface="Myriad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Myriad Pro"/>
        <a:ea typeface="Myriad Pro"/>
        <a:cs typeface="Myriad Pro"/>
        <a:sym typeface="Myriad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Myriad Pro"/>
        <a:ea typeface="Myriad Pro"/>
        <a:cs typeface="Myriad Pro"/>
        <a:sym typeface="Myriad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Myriad Pro"/>
        <a:ea typeface="Myriad Pro"/>
        <a:cs typeface="Myriad Pro"/>
        <a:sym typeface="Myriad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Myriad Pro"/>
        <a:ea typeface="Myriad Pro"/>
        <a:cs typeface="Myriad Pro"/>
        <a:sym typeface="Myriad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Myriad Pro"/>
        <a:ea typeface="Myriad Pro"/>
        <a:cs typeface="Myriad Pro"/>
        <a:sym typeface="Myriad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Myriad Pro"/>
        <a:ea typeface="Myriad Pro"/>
        <a:cs typeface="Myriad Pro"/>
        <a:sym typeface="Myriad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Myriad Pro"/>
          <a:ea typeface="Myriad Pro"/>
          <a:cs typeface="Myriad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CBCB"/>
          </a:solidFill>
        </a:fill>
      </a:tcStyle>
    </a:wholeTbl>
    <a:band2H>
      <a:tcTxStyle/>
      <a:tcStyle>
        <a:tcBdr/>
        <a:fill>
          <a:solidFill>
            <a:srgbClr val="EFE7E7"/>
          </a:solidFill>
        </a:fill>
      </a:tcStyle>
    </a:band2H>
    <a:firstCol>
      <a:tcTxStyle b="on" i="off">
        <a:font>
          <a:latin typeface="Myriad Pro"/>
          <a:ea typeface="Myriad Pro"/>
          <a:cs typeface="Myriad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Myriad Pro"/>
          <a:ea typeface="Myriad Pro"/>
          <a:cs typeface="Myriad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Myriad Pro"/>
          <a:ea typeface="Myriad Pro"/>
          <a:cs typeface="Myriad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Myriad Pro"/>
          <a:ea typeface="Myriad Pro"/>
          <a:cs typeface="Myriad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5D8CB"/>
          </a:solidFill>
        </a:fill>
      </a:tcStyle>
    </a:wholeTbl>
    <a:band2H>
      <a:tcTxStyle/>
      <a:tcStyle>
        <a:tcBdr/>
        <a:fill>
          <a:solidFill>
            <a:srgbClr val="FAECE7"/>
          </a:solidFill>
        </a:fill>
      </a:tcStyle>
    </a:band2H>
    <a:firstCol>
      <a:tcTxStyle b="on" i="off">
        <a:font>
          <a:latin typeface="Myriad Pro"/>
          <a:ea typeface="Myriad Pro"/>
          <a:cs typeface="Myriad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Myriad Pro"/>
          <a:ea typeface="Myriad Pro"/>
          <a:cs typeface="Myriad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Myriad Pro"/>
          <a:ea typeface="Myriad Pro"/>
          <a:cs typeface="Myriad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Myriad Pro"/>
          <a:ea typeface="Myriad Pro"/>
          <a:cs typeface="Myriad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0CE"/>
          </a:solidFill>
        </a:fill>
      </a:tcStyle>
    </a:wholeTbl>
    <a:band2H>
      <a:tcTxStyle/>
      <a:tcStyle>
        <a:tcBdr/>
        <a:fill>
          <a:solidFill>
            <a:srgbClr val="E7F0E8"/>
          </a:solidFill>
        </a:fill>
      </a:tcStyle>
    </a:band2H>
    <a:firstCol>
      <a:tcTxStyle b="on" i="off">
        <a:font>
          <a:latin typeface="Myriad Pro"/>
          <a:ea typeface="Myriad Pro"/>
          <a:cs typeface="Myriad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Myriad Pro"/>
          <a:ea typeface="Myriad Pro"/>
          <a:cs typeface="Myriad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Myriad Pro"/>
          <a:ea typeface="Myriad Pro"/>
          <a:cs typeface="Myriad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Myriad Pro"/>
          <a:ea typeface="Myriad Pro"/>
          <a:cs typeface="Myriad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Myriad Pro"/>
          <a:ea typeface="Myriad Pro"/>
          <a:cs typeface="Myriad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Myriad Pro"/>
          <a:ea typeface="Myriad Pro"/>
          <a:cs typeface="Myriad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Myriad Pro"/>
          <a:ea typeface="Myriad Pro"/>
          <a:cs typeface="Myriad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Myriad Pro"/>
          <a:ea typeface="Myriad Pro"/>
          <a:cs typeface="Myriad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Myriad Pro"/>
          <a:ea typeface="Myriad Pro"/>
          <a:cs typeface="Myriad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Myriad Pro"/>
          <a:ea typeface="Myriad Pro"/>
          <a:cs typeface="Myriad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Myriad Pro"/>
          <a:ea typeface="Myriad Pro"/>
          <a:cs typeface="Myriad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Myriad Pro"/>
          <a:ea typeface="Myriad Pro"/>
          <a:cs typeface="Myriad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Myriad Pro"/>
          <a:ea typeface="Myriad Pro"/>
          <a:cs typeface="Myriad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Myriad Pro"/>
          <a:ea typeface="Myriad Pro"/>
          <a:cs typeface="Myriad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Myriad Pro"/>
          <a:ea typeface="Myriad Pro"/>
          <a:cs typeface="Myriad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79"/>
    <p:restoredTop sz="94676"/>
  </p:normalViewPr>
  <p:slideViewPr>
    <p:cSldViewPr snapToGrid="0">
      <p:cViewPr varScale="1">
        <p:scale>
          <a:sx n="106" d="100"/>
          <a:sy n="106" d="100"/>
        </p:scale>
        <p:origin x="1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864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418252"/>
            <a:ext cx="10515600" cy="4758711"/>
          </a:xfrm>
          <a:prstGeom prst="rect">
            <a:avLst/>
          </a:prstGeom>
        </p:spPr>
        <p:txBody>
          <a:bodyPr/>
          <a:lstStyle>
            <a:lvl1pPr marL="719999" indent="-410399">
              <a:lnSpc>
                <a:spcPct val="125000"/>
              </a:lnSpc>
              <a:spcBef>
                <a:spcPts val="700"/>
              </a:spcBef>
              <a:buClr>
                <a:srgbClr val="005AAA"/>
              </a:buClr>
              <a:buSzPct val="70000"/>
              <a:buFont typeface="Menlo Regular"/>
              <a:buChar char="▶"/>
              <a:defRPr sz="2400"/>
            </a:lvl1pPr>
            <a:lvl2pPr marL="1065600" indent="-345600">
              <a:lnSpc>
                <a:spcPct val="125000"/>
              </a:lnSpc>
              <a:spcBef>
                <a:spcPts val="700"/>
              </a:spcBef>
              <a:buClr>
                <a:srgbClr val="005AAA"/>
              </a:buClr>
              <a:buFont typeface="Menlo Regular"/>
              <a:buChar char="–"/>
              <a:defRPr sz="2400"/>
            </a:lvl2pPr>
            <a:lvl3pPr marL="1409999" indent="-384000">
              <a:lnSpc>
                <a:spcPct val="125000"/>
              </a:lnSpc>
              <a:spcBef>
                <a:spcPts val="700"/>
              </a:spcBef>
              <a:buClr>
                <a:srgbClr val="005AAA"/>
              </a:buClr>
              <a:buFont typeface="Menlo Regular"/>
              <a:buChar char="–"/>
              <a:defRPr sz="2400"/>
            </a:lvl3pPr>
            <a:lvl4pPr marL="1744200" indent="-432000">
              <a:lnSpc>
                <a:spcPct val="125000"/>
              </a:lnSpc>
              <a:spcBef>
                <a:spcPts val="700"/>
              </a:spcBef>
              <a:buClr>
                <a:srgbClr val="005AAA"/>
              </a:buClr>
              <a:buFont typeface="Menlo Regular"/>
              <a:buChar char="–"/>
              <a:defRPr sz="2400"/>
            </a:lvl4pPr>
            <a:lvl5pPr marL="2016000" indent="-432000">
              <a:lnSpc>
                <a:spcPct val="125000"/>
              </a:lnSpc>
              <a:spcBef>
                <a:spcPts val="700"/>
              </a:spcBef>
              <a:buClr>
                <a:srgbClr val="005AAA"/>
              </a:buClr>
              <a:buFont typeface="Menlo Regular"/>
              <a:buChar char="–"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Title Text"/>
          <p:cNvSpPr txBox="1">
            <a:spLocks noGrp="1"/>
          </p:cNvSpPr>
          <p:nvPr>
            <p:ph type="title"/>
          </p:nvPr>
        </p:nvSpPr>
        <p:spPr>
          <a:xfrm>
            <a:off x="192505" y="72192"/>
            <a:ext cx="11806991" cy="765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5AAA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638705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638705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1" name="Title Text"/>
          <p:cNvSpPr txBox="1">
            <a:spLocks noGrp="1"/>
          </p:cNvSpPr>
          <p:nvPr>
            <p:ph type="title"/>
          </p:nvPr>
        </p:nvSpPr>
        <p:spPr>
          <a:xfrm>
            <a:off x="192505" y="72192"/>
            <a:ext cx="11806991" cy="765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5AAA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Text"/>
          <p:cNvSpPr txBox="1">
            <a:spLocks noGrp="1"/>
          </p:cNvSpPr>
          <p:nvPr>
            <p:ph type="title"/>
          </p:nvPr>
        </p:nvSpPr>
        <p:spPr>
          <a:xfrm>
            <a:off x="192505" y="72192"/>
            <a:ext cx="11806991" cy="765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5AAA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5AAA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6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5AAA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74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bg>
      <p:bgPr>
        <a:solidFill>
          <a:srgbClr val="005A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5"/>
          <p:cNvSpPr txBox="1"/>
          <p:nvPr/>
        </p:nvSpPr>
        <p:spPr>
          <a:xfrm rot="5400000">
            <a:off x="6024809" y="5933871"/>
            <a:ext cx="317204" cy="109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sz="7200">
                <a:solidFill>
                  <a:srgbClr val="FFFFFF"/>
                </a:solidFill>
              </a:defRPr>
            </a:lvl1pPr>
          </a:lstStyle>
          <a:p>
            <a:r>
              <a:t>›</a:t>
            </a:r>
          </a:p>
        </p:txBody>
      </p:sp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xfrm>
            <a:off x="838200" y="2766217"/>
            <a:ext cx="10515600" cy="1325564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9359900" y="5207000"/>
            <a:ext cx="2832100" cy="1651000"/>
          </a:xfrm>
          <a:prstGeom prst="rect">
            <a:avLst/>
          </a:prstGeom>
          <a:solidFill>
            <a:srgbClr val="F2F2F2">
              <a:alpha val="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25839" y="6540817"/>
            <a:ext cx="273656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05AAA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Myriad Pro"/>
          <a:ea typeface="Myriad Pro"/>
          <a:cs typeface="Myriad Pro"/>
          <a:sym typeface="Myriad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yriad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yriad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yriad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yriad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yriad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yriad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yriad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yriad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yriad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aggle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RNnZwvklwa8&amp;ab_channel=AdamEubank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>
            <a:spLocks noGrp="1"/>
          </p:cNvSpPr>
          <p:nvPr>
            <p:ph type="ctrTitle"/>
          </p:nvPr>
        </p:nvSpPr>
        <p:spPr>
          <a:xfrm>
            <a:off x="487588" y="415606"/>
            <a:ext cx="11428640" cy="2155863"/>
          </a:xfrm>
          <a:prstGeom prst="rect">
            <a:avLst/>
          </a:prstGeom>
        </p:spPr>
        <p:txBody>
          <a:bodyPr/>
          <a:lstStyle>
            <a:lvl1pPr algn="l">
              <a:defRPr sz="5400" b="1">
                <a:solidFill>
                  <a:srgbClr val="005AAA"/>
                </a:solidFill>
              </a:defRPr>
            </a:lvl1pPr>
          </a:lstStyle>
          <a:p>
            <a:r>
              <a:rPr lang="en-US" dirty="0"/>
              <a:t>Data</a:t>
            </a:r>
            <a:r>
              <a:rPr dirty="0"/>
              <a:t> </a:t>
            </a:r>
            <a:r>
              <a:rPr lang="en-US" dirty="0"/>
              <a:t>Analytics</a:t>
            </a:r>
            <a:r>
              <a:rPr dirty="0"/>
              <a:t> and</a:t>
            </a:r>
            <a:r>
              <a:rPr lang="en-US" dirty="0"/>
              <a:t> Mining</a:t>
            </a:r>
            <a:endParaRPr dirty="0"/>
          </a:p>
        </p:txBody>
      </p:sp>
      <p:sp>
        <p:nvSpPr>
          <p:cNvPr id="95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487588" y="2485839"/>
            <a:ext cx="9058748" cy="817743"/>
          </a:xfrm>
          <a:prstGeom prst="rect">
            <a:avLst/>
          </a:prstGeom>
        </p:spPr>
        <p:txBody>
          <a:bodyPr/>
          <a:lstStyle>
            <a:lvl1pPr algn="l">
              <a:lnSpc>
                <a:spcPct val="120000"/>
              </a:lnSpc>
              <a:defRPr sz="3200"/>
            </a:lvl1pPr>
          </a:lstStyle>
          <a:p>
            <a:r>
              <a:rPr dirty="0"/>
              <a:t>Intro and Course overview</a:t>
            </a:r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73" y="5795054"/>
            <a:ext cx="771528" cy="703379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Subtitle 2"/>
          <p:cNvSpPr txBox="1"/>
          <p:nvPr/>
        </p:nvSpPr>
        <p:spPr>
          <a:xfrm>
            <a:off x="533307" y="3963289"/>
            <a:ext cx="8079197" cy="404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5000"/>
              </a:lnSpc>
              <a:spcBef>
                <a:spcPts val="1000"/>
              </a:spcBef>
            </a:lvl1pPr>
          </a:lstStyle>
          <a:p>
            <a:r>
              <a:rPr lang="en-US" dirty="0"/>
              <a:t>Fedor </a:t>
            </a:r>
            <a:r>
              <a:rPr lang="en-US" dirty="0" err="1"/>
              <a:t>Shlyakhov</a:t>
            </a:r>
            <a:endParaRPr dirty="0"/>
          </a:p>
        </p:txBody>
      </p:sp>
      <p:sp>
        <p:nvSpPr>
          <p:cNvPr id="99" name="Subtitle 2"/>
          <p:cNvSpPr txBox="1"/>
          <p:nvPr/>
        </p:nvSpPr>
        <p:spPr>
          <a:xfrm>
            <a:off x="533307" y="4342319"/>
            <a:ext cx="8079197" cy="575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400"/>
            </a:lvl1pPr>
          </a:lstStyle>
          <a:p>
            <a:r>
              <a:t>National Research University Higher School of Economics</a:t>
            </a:r>
          </a:p>
        </p:txBody>
      </p:sp>
      <p:sp>
        <p:nvSpPr>
          <p:cNvPr id="100" name="Subtitle 2"/>
          <p:cNvSpPr txBox="1"/>
          <p:nvPr/>
        </p:nvSpPr>
        <p:spPr>
          <a:xfrm>
            <a:off x="1569719" y="6475050"/>
            <a:ext cx="9052561" cy="439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200">
                <a:solidFill>
                  <a:srgbClr val="005AAA"/>
                </a:solidFill>
              </a:defRPr>
            </a:lvl1pPr>
          </a:lstStyle>
          <a:p>
            <a:r>
              <a:rPr lang="en-US" dirty="0"/>
              <a:t>September</a:t>
            </a:r>
            <a:r>
              <a:rPr dirty="0"/>
              <a:t> </a:t>
            </a:r>
            <a:r>
              <a:rPr lang="en-US" dirty="0"/>
              <a:t>18</a:t>
            </a:r>
            <a:r>
              <a:rPr dirty="0"/>
              <a:t>, 202</a:t>
            </a: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ooter Placeholder 3"/>
          <p:cNvSpPr txBox="1"/>
          <p:nvPr/>
        </p:nvSpPr>
        <p:spPr>
          <a:xfrm>
            <a:off x="238225" y="6536938"/>
            <a:ext cx="367622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005AAA"/>
                </a:solidFill>
              </a:defRPr>
            </a:lvl1pPr>
          </a:lstStyle>
          <a:p>
            <a:r>
              <a:rPr lang="en-US" dirty="0"/>
              <a:t>Fedor </a:t>
            </a:r>
            <a:r>
              <a:rPr lang="en-US" dirty="0" err="1"/>
              <a:t>Shlyakhov</a:t>
            </a:r>
            <a:r>
              <a:rPr dirty="0"/>
              <a:t>, NRU HSE</a:t>
            </a:r>
          </a:p>
        </p:txBody>
      </p:sp>
      <p:sp>
        <p:nvSpPr>
          <p:cNvPr id="103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547530" y="1109099"/>
            <a:ext cx="10074044" cy="261511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Fedor </a:t>
            </a:r>
            <a:r>
              <a:rPr lang="en-US" dirty="0" err="1"/>
              <a:t>Shlyakhov</a:t>
            </a:r>
            <a:r>
              <a:rPr lang="en-US" dirty="0"/>
              <a:t> </a:t>
            </a:r>
            <a:r>
              <a:rPr dirty="0"/>
              <a:t>(lectures</a:t>
            </a:r>
            <a:r>
              <a:rPr lang="en-US" dirty="0"/>
              <a:t> and seminars</a:t>
            </a:r>
            <a:r>
              <a:rPr dirty="0"/>
              <a:t>)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2000"/>
            </a:pPr>
            <a:r>
              <a:rPr dirty="0"/>
              <a:t>Email: </a:t>
            </a:r>
            <a:r>
              <a:rPr lang="en-US" u="sng" dirty="0" err="1">
                <a:uFill>
                  <a:solidFill>
                    <a:srgbClr val="000000"/>
                  </a:solidFill>
                </a:uFill>
              </a:rPr>
              <a:t>fshlyahov@hse.ru</a:t>
            </a:r>
            <a:endParaRPr sz="2000" dirty="0"/>
          </a:p>
        </p:txBody>
      </p:sp>
      <p:sp>
        <p:nvSpPr>
          <p:cNvPr id="104" name="Title 2"/>
          <p:cNvSpPr txBox="1">
            <a:spLocks noGrp="1"/>
          </p:cNvSpPr>
          <p:nvPr>
            <p:ph type="title"/>
          </p:nvPr>
        </p:nvSpPr>
        <p:spPr>
          <a:xfrm>
            <a:off x="192504" y="72191"/>
            <a:ext cx="11806992" cy="76584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Teaching Team </a:t>
            </a:r>
            <a:r>
              <a:rPr dirty="0"/>
              <a:t>Contacts</a:t>
            </a:r>
            <a:r>
              <a:rPr lang="en-US" dirty="0"/>
              <a:t> / Timetable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9A83C1-FDB6-9273-8058-873135825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821292"/>
              </p:ext>
            </p:extLst>
          </p:nvPr>
        </p:nvGraphicFramePr>
        <p:xfrm>
          <a:off x="2159495" y="4499030"/>
          <a:ext cx="7873010" cy="7924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035364">
                  <a:extLst>
                    <a:ext uri="{9D8B030D-6E8A-4147-A177-3AD203B41FA5}">
                      <a16:colId xmlns:a16="http://schemas.microsoft.com/office/drawing/2014/main" val="23285638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740692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82287781"/>
                    </a:ext>
                  </a:extLst>
                </a:gridCol>
                <a:gridCol w="1773646">
                  <a:extLst>
                    <a:ext uri="{9D8B030D-6E8A-4147-A177-3AD203B41FA5}">
                      <a16:colId xmlns:a16="http://schemas.microsoft.com/office/drawing/2014/main" val="205607727"/>
                    </a:ext>
                  </a:extLst>
                </a:gridCol>
              </a:tblGrid>
              <a:tr h="376403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aseline="0" dirty="0"/>
                        <a:t>Lectures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aseline="0" dirty="0"/>
                        <a:t>Seminars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aseline="0" dirty="0"/>
                        <a:t>Format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aseline="0" dirty="0"/>
                        <a:t>Duration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5128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aseline="0" dirty="0"/>
                        <a:t>Fridays 18:10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aseline="0" dirty="0"/>
                        <a:t>Fridays ~ 19:40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aseline="0" dirty="0"/>
                        <a:t>Offline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aseline="0" dirty="0"/>
                        <a:t>Modules 1-2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976102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ooter Placeholder 2"/>
          <p:cNvSpPr txBox="1"/>
          <p:nvPr/>
        </p:nvSpPr>
        <p:spPr>
          <a:xfrm>
            <a:off x="238225" y="6536938"/>
            <a:ext cx="367622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005AAA"/>
                </a:solidFill>
              </a:defRPr>
            </a:lvl1pPr>
          </a:lstStyle>
          <a:p>
            <a:r>
              <a:rPr lang="en-US" dirty="0"/>
              <a:t>Fedor </a:t>
            </a:r>
            <a:r>
              <a:rPr lang="en-US" dirty="0" err="1"/>
              <a:t>Shlyakhov</a:t>
            </a:r>
            <a:r>
              <a:rPr dirty="0"/>
              <a:t>, NRU HSE</a:t>
            </a:r>
          </a:p>
        </p:txBody>
      </p:sp>
      <p:sp>
        <p:nvSpPr>
          <p:cNvPr id="107" name="Title 1"/>
          <p:cNvSpPr txBox="1">
            <a:spLocks noGrp="1"/>
          </p:cNvSpPr>
          <p:nvPr>
            <p:ph type="title"/>
          </p:nvPr>
        </p:nvSpPr>
        <p:spPr>
          <a:xfrm>
            <a:off x="192504" y="72191"/>
            <a:ext cx="11806992" cy="765845"/>
          </a:xfrm>
          <a:prstGeom prst="rect">
            <a:avLst/>
          </a:prstGeom>
        </p:spPr>
        <p:txBody>
          <a:bodyPr/>
          <a:lstStyle/>
          <a:p>
            <a:r>
              <a:rPr dirty="0"/>
              <a:t>Repository with course material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26F5C-211A-3726-5034-68AF120BF46F}"/>
              </a:ext>
            </a:extLst>
          </p:cNvPr>
          <p:cNvSpPr txBox="1"/>
          <p:nvPr/>
        </p:nvSpPr>
        <p:spPr>
          <a:xfrm>
            <a:off x="1854926" y="2844225"/>
            <a:ext cx="866067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dirty="0"/>
              <a:t>https://</a:t>
            </a:r>
            <a:r>
              <a:rPr lang="en-US" sz="3200" dirty="0" err="1"/>
              <a:t>github.com</a:t>
            </a:r>
            <a:r>
              <a:rPr lang="en-US" sz="3200" dirty="0"/>
              <a:t>/</a:t>
            </a:r>
            <a:r>
              <a:rPr lang="en-US" sz="3200" dirty="0" err="1"/>
              <a:t>FedorShlyakhov</a:t>
            </a:r>
            <a:r>
              <a:rPr lang="en-US" sz="3200" dirty="0"/>
              <a:t>/DAM2026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ooter Placeholder 3"/>
          <p:cNvSpPr txBox="1"/>
          <p:nvPr/>
        </p:nvSpPr>
        <p:spPr>
          <a:xfrm>
            <a:off x="238225" y="6536938"/>
            <a:ext cx="367622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005AAA"/>
                </a:solidFill>
              </a:defRPr>
            </a:lvl1pPr>
          </a:lstStyle>
          <a:p>
            <a:r>
              <a:rPr lang="en-US" dirty="0"/>
              <a:t>Fedor </a:t>
            </a:r>
            <a:r>
              <a:rPr lang="en-US" dirty="0" err="1"/>
              <a:t>Shlyakhov</a:t>
            </a:r>
            <a:r>
              <a:rPr dirty="0"/>
              <a:t>, NRU HSE</a:t>
            </a:r>
          </a:p>
        </p:txBody>
      </p:sp>
      <p:sp>
        <p:nvSpPr>
          <p:cNvPr id="114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838199" y="838034"/>
            <a:ext cx="11275424" cy="565484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Introduction to Data Analytics and Mining</a:t>
            </a:r>
            <a:endParaRPr dirty="0"/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Overview of data analytics and mining</a:t>
            </a:r>
            <a:endParaRPr sz="2000" dirty="0"/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Importance and applications</a:t>
            </a:r>
            <a:endParaRPr sz="2000" dirty="0"/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Types of data, structured vs. unstructured</a:t>
            </a:r>
            <a:endParaRPr sz="2000" dirty="0"/>
          </a:p>
          <a:p>
            <a:r>
              <a:rPr lang="en-US" dirty="0"/>
              <a:t>Data Processing and Cleaning</a:t>
            </a:r>
            <a:endParaRPr dirty="0"/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Handling missing data, outliers, noise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sz="2000" dirty="0"/>
              <a:t>Data transformation, normalization, standardization, encoding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sz="2000" dirty="0"/>
              <a:t>Feature selection and dimensionality reduction</a:t>
            </a:r>
            <a:endParaRPr sz="2000" dirty="0"/>
          </a:p>
          <a:p>
            <a:r>
              <a:rPr lang="en-US" dirty="0"/>
              <a:t>Exploratory Data Analysis (EDA)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Descriptive Statistics and Data Summarization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Data Visualization Techniques (Histograms, Scatter Plots, Box Plots)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Identifying Patterns, Trends, and Anomalies</a:t>
            </a:r>
            <a:endParaRPr dirty="0"/>
          </a:p>
        </p:txBody>
      </p:sp>
      <p:sp>
        <p:nvSpPr>
          <p:cNvPr id="115" name="Title 2"/>
          <p:cNvSpPr txBox="1">
            <a:spLocks noGrp="1"/>
          </p:cNvSpPr>
          <p:nvPr>
            <p:ph type="title"/>
          </p:nvPr>
        </p:nvSpPr>
        <p:spPr>
          <a:xfrm>
            <a:off x="192504" y="72191"/>
            <a:ext cx="11806992" cy="765845"/>
          </a:xfrm>
          <a:prstGeom prst="rect">
            <a:avLst/>
          </a:prstGeom>
        </p:spPr>
        <p:txBody>
          <a:bodyPr/>
          <a:lstStyle/>
          <a:p>
            <a:r>
              <a:rPr dirty="0"/>
              <a:t>Course content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ACDD7-3388-AB4B-4F63-2F133F96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ooter Placeholder 3">
            <a:extLst>
              <a:ext uri="{FF2B5EF4-FFF2-40B4-BE49-F238E27FC236}">
                <a16:creationId xmlns:a16="http://schemas.microsoft.com/office/drawing/2014/main" id="{B0611457-947C-34F0-F167-F77146D60324}"/>
              </a:ext>
            </a:extLst>
          </p:cNvPr>
          <p:cNvSpPr txBox="1"/>
          <p:nvPr/>
        </p:nvSpPr>
        <p:spPr>
          <a:xfrm>
            <a:off x="238225" y="6536938"/>
            <a:ext cx="367622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005AAA"/>
                </a:solidFill>
              </a:defRPr>
            </a:lvl1pPr>
          </a:lstStyle>
          <a:p>
            <a:r>
              <a:rPr lang="en-US" dirty="0"/>
              <a:t>Fedor </a:t>
            </a:r>
            <a:r>
              <a:rPr lang="en-US" dirty="0" err="1"/>
              <a:t>Shlyakhov</a:t>
            </a:r>
            <a:r>
              <a:rPr dirty="0"/>
              <a:t>, NRU HSE</a:t>
            </a:r>
          </a:p>
        </p:txBody>
      </p:sp>
      <p:sp>
        <p:nvSpPr>
          <p:cNvPr id="114" name="Content Placeholder 1">
            <a:extLst>
              <a:ext uri="{FF2B5EF4-FFF2-40B4-BE49-F238E27FC236}">
                <a16:creationId xmlns:a16="http://schemas.microsoft.com/office/drawing/2014/main" id="{E0C91945-75ED-0611-BB93-E1A79D1376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199" y="838034"/>
            <a:ext cx="11275424" cy="565484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Statistical Foundations for Data Analysis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Probability Theory and Distributions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Correlation and Causation, introduction to Regression Analysis</a:t>
            </a:r>
          </a:p>
          <a:p>
            <a:r>
              <a:rPr lang="en-US" dirty="0"/>
              <a:t>Machine Learning Fundamentals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Supervised vs. Unsupervised Learning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Linear and Logistic Regression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Support Vector Machines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Model Evaluation (accuracy, precision, recall, F1-score), Cross-Validation</a:t>
            </a:r>
          </a:p>
          <a:p>
            <a:r>
              <a:rPr lang="en-US" dirty="0"/>
              <a:t>Data Mining Techniques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Classification, decision tree, k-Nearest Neighbors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Clustering, k-Means</a:t>
            </a:r>
          </a:p>
        </p:txBody>
      </p:sp>
      <p:sp>
        <p:nvSpPr>
          <p:cNvPr id="115" name="Title 2">
            <a:extLst>
              <a:ext uri="{FF2B5EF4-FFF2-40B4-BE49-F238E27FC236}">
                <a16:creationId xmlns:a16="http://schemas.microsoft.com/office/drawing/2014/main" id="{84C61DCD-7EAF-6431-E24E-A0EC789CA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504" y="72191"/>
            <a:ext cx="11806992" cy="765845"/>
          </a:xfrm>
          <a:prstGeom prst="rect">
            <a:avLst/>
          </a:prstGeom>
        </p:spPr>
        <p:txBody>
          <a:bodyPr/>
          <a:lstStyle/>
          <a:p>
            <a:r>
              <a:rPr dirty="0"/>
              <a:t>Course content</a:t>
            </a:r>
          </a:p>
        </p:txBody>
      </p:sp>
    </p:spTree>
    <p:extLst>
      <p:ext uri="{BB962C8B-B14F-4D97-AF65-F5344CB8AC3E}">
        <p14:creationId xmlns:p14="http://schemas.microsoft.com/office/powerpoint/2010/main" val="269155820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BAD2E-A4C2-DF52-03D4-A38E101C3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ooter Placeholder 3">
            <a:extLst>
              <a:ext uri="{FF2B5EF4-FFF2-40B4-BE49-F238E27FC236}">
                <a16:creationId xmlns:a16="http://schemas.microsoft.com/office/drawing/2014/main" id="{1F6B7449-03BA-BC22-C3D1-AA885453E9B9}"/>
              </a:ext>
            </a:extLst>
          </p:cNvPr>
          <p:cNvSpPr txBox="1"/>
          <p:nvPr/>
        </p:nvSpPr>
        <p:spPr>
          <a:xfrm>
            <a:off x="238225" y="6536938"/>
            <a:ext cx="367622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005AAA"/>
                </a:solidFill>
              </a:defRPr>
            </a:lvl1pPr>
          </a:lstStyle>
          <a:p>
            <a:r>
              <a:rPr lang="en-US" dirty="0"/>
              <a:t>Fedor </a:t>
            </a:r>
            <a:r>
              <a:rPr lang="en-US" dirty="0" err="1"/>
              <a:t>Shlyakhov</a:t>
            </a:r>
            <a:r>
              <a:rPr dirty="0"/>
              <a:t>, NRU HSE</a:t>
            </a:r>
          </a:p>
        </p:txBody>
      </p:sp>
      <p:sp>
        <p:nvSpPr>
          <p:cNvPr id="114" name="Content Placeholder 1">
            <a:extLst>
              <a:ext uri="{FF2B5EF4-FFF2-40B4-BE49-F238E27FC236}">
                <a16:creationId xmlns:a16="http://schemas.microsoft.com/office/drawing/2014/main" id="{E2A7C053-F743-4E74-9744-F17D1C5C7C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199" y="1358538"/>
            <a:ext cx="11275424" cy="51343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Advanced-Data Mining and Machine Learning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1800"/>
            </a:pPr>
            <a:r>
              <a:rPr lang="en-US" dirty="0"/>
              <a:t>Ensemble Methods: Random Forests</a:t>
            </a:r>
          </a:p>
        </p:txBody>
      </p:sp>
      <p:sp>
        <p:nvSpPr>
          <p:cNvPr id="115" name="Title 2">
            <a:extLst>
              <a:ext uri="{FF2B5EF4-FFF2-40B4-BE49-F238E27FC236}">
                <a16:creationId xmlns:a16="http://schemas.microsoft.com/office/drawing/2014/main" id="{F40BA5A3-3A30-2597-80B1-A0F0AD5571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504" y="72191"/>
            <a:ext cx="11806992" cy="765845"/>
          </a:xfrm>
          <a:prstGeom prst="rect">
            <a:avLst/>
          </a:prstGeom>
        </p:spPr>
        <p:txBody>
          <a:bodyPr/>
          <a:lstStyle/>
          <a:p>
            <a:r>
              <a:rPr dirty="0"/>
              <a:t>Course content</a:t>
            </a:r>
          </a:p>
        </p:txBody>
      </p:sp>
    </p:spTree>
    <p:extLst>
      <p:ext uri="{BB962C8B-B14F-4D97-AF65-F5344CB8AC3E}">
        <p14:creationId xmlns:p14="http://schemas.microsoft.com/office/powerpoint/2010/main" val="87545427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ooter Placeholder 3"/>
          <p:cNvSpPr txBox="1"/>
          <p:nvPr/>
        </p:nvSpPr>
        <p:spPr>
          <a:xfrm>
            <a:off x="238225" y="6536938"/>
            <a:ext cx="367622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005AAA"/>
                </a:solidFill>
              </a:defRPr>
            </a:lvl1pPr>
          </a:lstStyle>
          <a:p>
            <a:r>
              <a:rPr lang="en-US" dirty="0"/>
              <a:t>Fedor </a:t>
            </a:r>
            <a:r>
              <a:rPr lang="en-US" dirty="0" err="1"/>
              <a:t>Shlyakhov</a:t>
            </a:r>
            <a:r>
              <a:rPr dirty="0"/>
              <a:t>, NRU HSE</a:t>
            </a:r>
          </a:p>
        </p:txBody>
      </p:sp>
      <p:sp>
        <p:nvSpPr>
          <p:cNvPr id="120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838200" y="838034"/>
            <a:ext cx="10515600" cy="565484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Compulsory course for year 2</a:t>
            </a:r>
          </a:p>
          <a:p>
            <a:r>
              <a:rPr dirty="0"/>
              <a:t>Duration: 1</a:t>
            </a:r>
            <a:r>
              <a:rPr baseline="30000" dirty="0"/>
              <a:t>st</a:t>
            </a:r>
            <a:r>
              <a:rPr dirty="0"/>
              <a:t> half of the academic year (modules 1 and 2)</a:t>
            </a:r>
          </a:p>
          <a:p>
            <a:r>
              <a:rPr dirty="0"/>
              <a:t>Assessment elements: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2000"/>
            </a:pPr>
            <a:r>
              <a:rPr lang="en-US" dirty="0"/>
              <a:t>Quizzes (50% weight)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2000"/>
            </a:pPr>
            <a:r>
              <a:rPr dirty="0"/>
              <a:t>Exam (</a:t>
            </a:r>
            <a:r>
              <a:rPr lang="en-US" dirty="0"/>
              <a:t>50</a:t>
            </a:r>
            <a:r>
              <a:rPr dirty="0"/>
              <a:t>% weight), in the form of a project, with </a:t>
            </a:r>
            <a:r>
              <a:rPr b="1" dirty="0"/>
              <a:t>progress tracked during the semester </a:t>
            </a:r>
            <a:r>
              <a:rPr dirty="0"/>
              <a:t>(topic choice deadline, preliminary results deadline, final result deadline)</a:t>
            </a:r>
          </a:p>
          <a:p>
            <a:r>
              <a:rPr dirty="0"/>
              <a:t>Format:</a:t>
            </a:r>
          </a:p>
          <a:p>
            <a:pPr marL="1008000" lvl="1" indent="-288000">
              <a:buClr>
                <a:srgbClr val="000000"/>
              </a:buClr>
              <a:buFont typeface="Helvetica"/>
              <a:defRPr sz="2000"/>
            </a:pPr>
            <a:r>
              <a:rPr lang="en-US" dirty="0"/>
              <a:t>Offline</a:t>
            </a:r>
            <a:r>
              <a:rPr dirty="0"/>
              <a:t> (lectures &amp; seminars)</a:t>
            </a:r>
          </a:p>
        </p:txBody>
      </p:sp>
      <p:sp>
        <p:nvSpPr>
          <p:cNvPr id="121" name="Title 2"/>
          <p:cNvSpPr txBox="1">
            <a:spLocks noGrp="1"/>
          </p:cNvSpPr>
          <p:nvPr>
            <p:ph type="title"/>
          </p:nvPr>
        </p:nvSpPr>
        <p:spPr>
          <a:xfrm>
            <a:off x="192504" y="72191"/>
            <a:ext cx="11806992" cy="765845"/>
          </a:xfrm>
          <a:prstGeom prst="rect">
            <a:avLst/>
          </a:prstGeom>
        </p:spPr>
        <p:txBody>
          <a:bodyPr/>
          <a:lstStyle/>
          <a:p>
            <a:r>
              <a:rPr dirty="0"/>
              <a:t>Overview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6CC8E-74D2-89DA-EB49-7FE09EA3C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ooter Placeholder 3">
            <a:extLst>
              <a:ext uri="{FF2B5EF4-FFF2-40B4-BE49-F238E27FC236}">
                <a16:creationId xmlns:a16="http://schemas.microsoft.com/office/drawing/2014/main" id="{ACDCF21E-5815-BA6D-21F1-45FDAA1908FA}"/>
              </a:ext>
            </a:extLst>
          </p:cNvPr>
          <p:cNvSpPr txBox="1"/>
          <p:nvPr/>
        </p:nvSpPr>
        <p:spPr>
          <a:xfrm>
            <a:off x="238225" y="6536938"/>
            <a:ext cx="367622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005AAA"/>
                </a:solidFill>
              </a:defRPr>
            </a:lvl1pPr>
          </a:lstStyle>
          <a:p>
            <a:r>
              <a:rPr lang="en-US" dirty="0"/>
              <a:t>Fedor </a:t>
            </a:r>
            <a:r>
              <a:rPr lang="en-US" dirty="0" err="1"/>
              <a:t>Shlyakhov</a:t>
            </a:r>
            <a:r>
              <a:rPr dirty="0"/>
              <a:t>, NRU HSE</a:t>
            </a:r>
          </a:p>
        </p:txBody>
      </p:sp>
      <p:sp>
        <p:nvSpPr>
          <p:cNvPr id="121" name="Title 2">
            <a:extLst>
              <a:ext uri="{FF2B5EF4-FFF2-40B4-BE49-F238E27FC236}">
                <a16:creationId xmlns:a16="http://schemas.microsoft.com/office/drawing/2014/main" id="{2F02F023-4D29-8743-D9A5-A9A2CEE2C2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504" y="44063"/>
            <a:ext cx="11806992" cy="76584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Grade Formula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39CB48-98FB-8EEB-0AF2-292C82F7F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402998"/>
              </p:ext>
            </p:extLst>
          </p:nvPr>
        </p:nvGraphicFramePr>
        <p:xfrm>
          <a:off x="932872" y="1703291"/>
          <a:ext cx="10326255" cy="41796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42085">
                  <a:extLst>
                    <a:ext uri="{9D8B030D-6E8A-4147-A177-3AD203B41FA5}">
                      <a16:colId xmlns:a16="http://schemas.microsoft.com/office/drawing/2014/main" val="3049336961"/>
                    </a:ext>
                  </a:extLst>
                </a:gridCol>
                <a:gridCol w="3442085">
                  <a:extLst>
                    <a:ext uri="{9D8B030D-6E8A-4147-A177-3AD203B41FA5}">
                      <a16:colId xmlns:a16="http://schemas.microsoft.com/office/drawing/2014/main" val="684465443"/>
                    </a:ext>
                  </a:extLst>
                </a:gridCol>
                <a:gridCol w="3442085">
                  <a:extLst>
                    <a:ext uri="{9D8B030D-6E8A-4147-A177-3AD203B41FA5}">
                      <a16:colId xmlns:a16="http://schemas.microsoft.com/office/drawing/2014/main" val="3527677921"/>
                    </a:ext>
                  </a:extLst>
                </a:gridCol>
              </a:tblGrid>
              <a:tr h="544946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dirty="0"/>
                        <a:t>Grade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dirty="0"/>
                        <a:t>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dirty="0"/>
                        <a:t>Evaluation 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22147"/>
                  </a:ext>
                </a:extLst>
              </a:tr>
              <a:tr h="1104893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dirty="0"/>
                        <a:t>Quizzes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Myriad Pro"/>
                        </a:rPr>
                        <a:t>In-class mini tests once a week or once in two weeks, each test consists of several questions, and a single test is a 10-point scale.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</a:p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600" dirty="0">
                        <a:effectLst/>
                      </a:endParaRPr>
                    </a:p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IMPORTANT</a:t>
                      </a:r>
                      <a:r>
                        <a:rPr lang="en-US" sz="1600" dirty="0">
                          <a:effectLst/>
                        </a:rPr>
                        <a:t>: </a:t>
                      </a:r>
                      <a:r>
                        <a:rPr lang="en-US" sz="1600" dirty="0"/>
                        <a:t>Quizzes cannot be retaken. The only exception is if you are unable to attend due to illness and provide a medical certificate verified by the study office.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481458"/>
                  </a:ext>
                </a:extLst>
              </a:tr>
              <a:tr h="1104893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dirty="0"/>
                        <a:t>Final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6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Myriad Pro"/>
                        </a:rPr>
                        <a:t>The final project is a 10-point scale (in groups), choose a dataset, make relevant analysis, write a report, and present their works.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027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51733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ooter Placeholder 3"/>
          <p:cNvSpPr txBox="1"/>
          <p:nvPr/>
        </p:nvSpPr>
        <p:spPr>
          <a:xfrm>
            <a:off x="238225" y="6536938"/>
            <a:ext cx="367622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005AAA"/>
                </a:solidFill>
              </a:defRPr>
            </a:lvl1pPr>
          </a:lstStyle>
          <a:p>
            <a:r>
              <a:rPr lang="en-US" dirty="0"/>
              <a:t>Fedor </a:t>
            </a:r>
            <a:r>
              <a:rPr lang="en-US" dirty="0" err="1"/>
              <a:t>Shlyakhov</a:t>
            </a:r>
            <a:r>
              <a:rPr dirty="0"/>
              <a:t>, NRU HSE</a:t>
            </a:r>
          </a:p>
        </p:txBody>
      </p:sp>
      <p:sp>
        <p:nvSpPr>
          <p:cNvPr id="124" name="Title 2"/>
          <p:cNvSpPr txBox="1">
            <a:spLocks noGrp="1"/>
          </p:cNvSpPr>
          <p:nvPr>
            <p:ph type="ctrTitle"/>
          </p:nvPr>
        </p:nvSpPr>
        <p:spPr>
          <a:xfrm>
            <a:off x="1524000" y="1228436"/>
            <a:ext cx="9144000" cy="1126981"/>
          </a:xfrm>
          <a:prstGeom prst="rect">
            <a:avLst/>
          </a:prstGeom>
        </p:spPr>
        <p:txBody>
          <a:bodyPr/>
          <a:lstStyle/>
          <a:p>
            <a:r>
              <a:rPr dirty="0"/>
              <a:t>The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Content Placeholder 1"/>
              <p:cNvSpPr txBox="1">
                <a:spLocks noGrp="1"/>
              </p:cNvSpPr>
              <p:nvPr>
                <p:ph type="subTitle" sz="quarter" idx="1"/>
              </p:nvPr>
            </p:nvSpPr>
            <p:spPr>
              <a:xfrm>
                <a:off x="73891" y="2569945"/>
                <a:ext cx="11951854" cy="368307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defTabSz="905255">
                  <a:spcBef>
                    <a:spcPts val="900"/>
                  </a:spcBef>
                  <a:defRPr sz="2376"/>
                </a:pPr>
                <a:r>
                  <a:rPr lang="en-US" dirty="0"/>
                  <a:t>Final grade = </a:t>
                </a:r>
                <a14:m>
                  <m:oMath xmlns:m="http://schemas.openxmlformats.org/officeDocument/2006/math">
                    <m:r>
                      <a:rPr lang="en-US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235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Quizzes +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Final Project</a:t>
                </a:r>
              </a:p>
              <a:p>
                <a:pPr lvl="1" indent="452627" defTabSz="905255">
                  <a:spcBef>
                    <a:spcPts val="900"/>
                  </a:spcBef>
                  <a:buClr>
                    <a:srgbClr val="000000"/>
                  </a:buClr>
                  <a:buFont typeface="Helvetica"/>
                  <a:defRPr sz="1979"/>
                </a:pPr>
                <a:r>
                  <a:rPr lang="en-US" dirty="0"/>
                  <a:t>0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Quizzes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10</a:t>
                </a:r>
              </a:p>
              <a:p>
                <a:pPr lvl="1" indent="452627" defTabSz="905255">
                  <a:spcBef>
                    <a:spcPts val="900"/>
                  </a:spcBef>
                  <a:buClr>
                    <a:srgbClr val="000000"/>
                  </a:buClr>
                  <a:defRPr sz="1979"/>
                </a:pPr>
                <a:r>
                  <a:rPr lang="en-US" dirty="0"/>
                  <a:t>0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Final Project score </a:t>
                </a:r>
                <a14:m>
                  <m:oMath xmlns:m="http://schemas.openxmlformats.org/officeDocument/2006/math">
                    <m:r>
                      <a:rPr 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10</a:t>
                </a:r>
              </a:p>
              <a:p>
                <a:pPr lvl="1" indent="452627" defTabSz="905255">
                  <a:spcBef>
                    <a:spcPts val="900"/>
                  </a:spcBef>
                  <a:buClr>
                    <a:srgbClr val="000000"/>
                  </a:buClr>
                  <a:buFont typeface="Helvetica"/>
                  <a:defRPr sz="1979"/>
                </a:pPr>
                <a:r>
                  <a:rPr lang="en-US" dirty="0"/>
                  <a:t>Rounding to the closest integer</a:t>
                </a:r>
              </a:p>
              <a:p>
                <a:pPr lvl="1" indent="452627" defTabSz="905255">
                  <a:spcBef>
                    <a:spcPts val="900"/>
                  </a:spcBef>
                  <a:buClr>
                    <a:srgbClr val="000000"/>
                  </a:buClr>
                  <a:buFont typeface="Helvetica"/>
                  <a:defRPr sz="1979"/>
                </a:pPr>
                <a:r>
                  <a:rPr lang="en-US" dirty="0"/>
                  <a:t>Arithmetic rounding. E.g. 3.5 is rounded to 4, 3.49 is rounded to 3.</a:t>
                </a:r>
                <a:endParaRPr dirty="0"/>
              </a:p>
            </p:txBody>
          </p:sp>
        </mc:Choice>
        <mc:Fallback xmlns="">
          <p:sp>
            <p:nvSpPr>
              <p:cNvPr id="125" name="Content Placeholder 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sz="quarter" idx="1"/>
              </p:nvPr>
            </p:nvSpPr>
            <p:spPr>
              <a:xfrm>
                <a:off x="73891" y="2569945"/>
                <a:ext cx="11951854" cy="3683073"/>
              </a:xfrm>
              <a:prstGeom prst="rect">
                <a:avLst/>
              </a:prstGeom>
              <a:blipFill>
                <a:blip r:embed="rId2"/>
                <a:stretch>
                  <a:fillRect t="-2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A354-0537-3CD8-9880-DDE82BD6F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Footer Placeholder 3">
            <a:extLst>
              <a:ext uri="{FF2B5EF4-FFF2-40B4-BE49-F238E27FC236}">
                <a16:creationId xmlns:a16="http://schemas.microsoft.com/office/drawing/2014/main" id="{3BD07844-E9B2-A2D9-0BCC-2A1033F50648}"/>
              </a:ext>
            </a:extLst>
          </p:cNvPr>
          <p:cNvSpPr txBox="1"/>
          <p:nvPr/>
        </p:nvSpPr>
        <p:spPr>
          <a:xfrm>
            <a:off x="238225" y="6536938"/>
            <a:ext cx="367622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005AAA"/>
                </a:solidFill>
              </a:defRPr>
            </a:lvl1pPr>
          </a:lstStyle>
          <a:p>
            <a:r>
              <a:rPr lang="en-US" dirty="0"/>
              <a:t>Fedor </a:t>
            </a:r>
            <a:r>
              <a:rPr lang="en-US" dirty="0" err="1"/>
              <a:t>Shlyakhov</a:t>
            </a:r>
            <a:r>
              <a:rPr dirty="0"/>
              <a:t>, NRU HSE</a:t>
            </a:r>
          </a:p>
        </p:txBody>
      </p:sp>
      <p:sp>
        <p:nvSpPr>
          <p:cNvPr id="132" name="Content Placeholder 1">
            <a:extLst>
              <a:ext uri="{FF2B5EF4-FFF2-40B4-BE49-F238E27FC236}">
                <a16:creationId xmlns:a16="http://schemas.microsoft.com/office/drawing/2014/main" id="{930E4F1D-2CDE-5A86-E15D-206A19C2C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1855" y="1804349"/>
            <a:ext cx="11148290" cy="415319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698400" indent="-398088" defTabSz="886968">
              <a:spcBef>
                <a:spcPts val="600"/>
              </a:spcBef>
              <a:defRPr sz="2328"/>
            </a:pPr>
            <a:r>
              <a:rPr lang="en-US" dirty="0"/>
              <a:t>Quizzes are conducted during the seminars</a:t>
            </a:r>
            <a:endParaRPr dirty="0"/>
          </a:p>
          <a:p>
            <a:pPr marL="698400" indent="-398088" defTabSz="886968">
              <a:spcBef>
                <a:spcPts val="600"/>
              </a:spcBef>
              <a:defRPr sz="2328"/>
            </a:pPr>
            <a:r>
              <a:rPr lang="en-US" b="1" dirty="0"/>
              <a:t>Format</a:t>
            </a:r>
            <a:r>
              <a:rPr lang="en-US" dirty="0"/>
              <a:t>: Quizzes will be taken in the LMS using the Safe Exam Browser (SEB)</a:t>
            </a:r>
          </a:p>
          <a:p>
            <a:pPr marL="698400" indent="-398088" defTabSz="886968">
              <a:spcBef>
                <a:spcPts val="600"/>
              </a:spcBef>
              <a:defRPr sz="2328"/>
            </a:pPr>
            <a:r>
              <a:rPr lang="en-US" b="1" dirty="0"/>
              <a:t>Devices</a:t>
            </a:r>
            <a:r>
              <a:rPr lang="en-US" dirty="0"/>
              <a:t>: Please use only your main device for the quiz. Other devices like phone, tablet, including AI tools, are not allowed.</a:t>
            </a:r>
          </a:p>
          <a:p>
            <a:pPr marL="698400" indent="-398088" defTabSz="886968">
              <a:spcBef>
                <a:spcPts val="600"/>
              </a:spcBef>
              <a:defRPr sz="2328"/>
            </a:pPr>
            <a:endParaRPr lang="en-US" dirty="0"/>
          </a:p>
          <a:p>
            <a:pPr marL="1044001" lvl="1" indent="-398088" defTabSz="886968">
              <a:spcBef>
                <a:spcPts val="600"/>
              </a:spcBef>
              <a:defRPr sz="2328"/>
            </a:pPr>
            <a:r>
              <a:rPr lang="en-US" b="1" dirty="0"/>
              <a:t>Note</a:t>
            </a:r>
            <a:r>
              <a:rPr lang="en-US" dirty="0"/>
              <a:t>: To keep things fair for everyone, any violation of these rules will unfortunately result in a score of 0 for that quiz.</a:t>
            </a:r>
          </a:p>
        </p:txBody>
      </p:sp>
      <p:sp>
        <p:nvSpPr>
          <p:cNvPr id="133" name="Title 2">
            <a:extLst>
              <a:ext uri="{FF2B5EF4-FFF2-40B4-BE49-F238E27FC236}">
                <a16:creationId xmlns:a16="http://schemas.microsoft.com/office/drawing/2014/main" id="{9F4CBAF0-0431-613E-98D2-0679E5B09D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504" y="72191"/>
            <a:ext cx="11806992" cy="76584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Quiz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180796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Footer Placeholder 3"/>
          <p:cNvSpPr txBox="1"/>
          <p:nvPr/>
        </p:nvSpPr>
        <p:spPr>
          <a:xfrm>
            <a:off x="238225" y="6536938"/>
            <a:ext cx="367622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005AAA"/>
                </a:solidFill>
              </a:defRPr>
            </a:lvl1pPr>
          </a:lstStyle>
          <a:p>
            <a:r>
              <a:rPr lang="en-US" dirty="0"/>
              <a:t>Fedor </a:t>
            </a:r>
            <a:r>
              <a:rPr lang="en-US" dirty="0" err="1"/>
              <a:t>Shlyakhov</a:t>
            </a:r>
            <a:r>
              <a:rPr dirty="0"/>
              <a:t>, NRU HSE</a:t>
            </a:r>
          </a:p>
        </p:txBody>
      </p:sp>
      <p:sp>
        <p:nvSpPr>
          <p:cNvPr id="132" name="Content Placeholder 1"/>
          <p:cNvSpPr txBox="1">
            <a:spLocks noGrp="1"/>
          </p:cNvSpPr>
          <p:nvPr>
            <p:ph type="body" idx="1"/>
          </p:nvPr>
        </p:nvSpPr>
        <p:spPr>
          <a:xfrm>
            <a:off x="521855" y="1804349"/>
            <a:ext cx="11148290" cy="415319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698400" indent="-398088" defTabSz="886968">
              <a:spcBef>
                <a:spcPts val="600"/>
              </a:spcBef>
              <a:defRPr sz="2328"/>
            </a:pPr>
            <a:r>
              <a:rPr dirty="0"/>
              <a:t>Exam in the form of project defen</a:t>
            </a:r>
            <a:r>
              <a:rPr lang="en-US" dirty="0"/>
              <a:t>s</a:t>
            </a:r>
            <a:r>
              <a:rPr dirty="0"/>
              <a:t>e</a:t>
            </a:r>
          </a:p>
          <a:p>
            <a:pPr marL="698400" indent="-398088" defTabSz="886968">
              <a:spcBef>
                <a:spcPts val="600"/>
              </a:spcBef>
              <a:defRPr sz="2328"/>
            </a:pPr>
            <a:r>
              <a:rPr lang="en-US" dirty="0"/>
              <a:t>The p</a:t>
            </a:r>
            <a:r>
              <a:rPr dirty="0"/>
              <a:t>roject is:</a:t>
            </a:r>
          </a:p>
          <a:p>
            <a:pPr marL="977759" lvl="1" indent="-279360" defTabSz="886968">
              <a:spcBef>
                <a:spcPts val="600"/>
              </a:spcBef>
              <a:buClr>
                <a:srgbClr val="000000"/>
              </a:buClr>
              <a:buFont typeface="Helvetica"/>
              <a:defRPr sz="1940"/>
            </a:pPr>
            <a:r>
              <a:rPr dirty="0"/>
              <a:t>Participation in a competition (on </a:t>
            </a:r>
            <a:r>
              <a:rPr u="sng" dirty="0">
                <a:uFill>
                  <a:solidFill>
                    <a:srgbClr val="000000"/>
                  </a:solidFill>
                </a:uFill>
                <a:hlinkClick r:id="rId2"/>
              </a:rPr>
              <a:t>www.kaggle.com</a:t>
            </a:r>
            <a:r>
              <a:rPr dirty="0"/>
              <a:t> or similar)</a:t>
            </a:r>
          </a:p>
          <a:p>
            <a:pPr marL="1274580" lvl="2" indent="-279360" defTabSz="886968">
              <a:spcBef>
                <a:spcPts val="600"/>
              </a:spcBef>
              <a:buClr>
                <a:srgbClr val="000000"/>
              </a:buClr>
              <a:buFont typeface="Helvetica"/>
              <a:defRPr sz="1746"/>
            </a:pPr>
            <a:r>
              <a:rPr dirty="0"/>
              <a:t>Teams of up to 3 people are OK (roles of all members of a team should be clear and significant)</a:t>
            </a:r>
          </a:p>
          <a:p>
            <a:pPr marL="300312" indent="0" defTabSz="886968">
              <a:spcBef>
                <a:spcPts val="600"/>
              </a:spcBef>
              <a:buNone/>
              <a:defRPr sz="2328"/>
            </a:pPr>
            <a:endParaRPr dirty="0"/>
          </a:p>
          <a:p>
            <a:pPr marL="698400" indent="-398088" defTabSz="886968">
              <a:spcBef>
                <a:spcPts val="600"/>
              </a:spcBef>
              <a:defRPr sz="2328" b="1"/>
            </a:pPr>
            <a:r>
              <a:rPr dirty="0"/>
              <a:t>Please discuss your choice with me</a:t>
            </a:r>
          </a:p>
        </p:txBody>
      </p:sp>
      <p:sp>
        <p:nvSpPr>
          <p:cNvPr id="133" name="Title 2"/>
          <p:cNvSpPr txBox="1">
            <a:spLocks noGrp="1"/>
          </p:cNvSpPr>
          <p:nvPr>
            <p:ph type="title"/>
          </p:nvPr>
        </p:nvSpPr>
        <p:spPr>
          <a:xfrm>
            <a:off x="192504" y="72191"/>
            <a:ext cx="11806992" cy="765845"/>
          </a:xfrm>
          <a:prstGeom prst="rect">
            <a:avLst/>
          </a:prstGeom>
        </p:spPr>
        <p:txBody>
          <a:bodyPr/>
          <a:lstStyle/>
          <a:p>
            <a:r>
              <a:rPr dirty="0"/>
              <a:t>Exam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ooter Placeholder 3"/>
          <p:cNvSpPr txBox="1"/>
          <p:nvPr/>
        </p:nvSpPr>
        <p:spPr>
          <a:xfrm>
            <a:off x="238225" y="6536938"/>
            <a:ext cx="367622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005AAA"/>
                </a:solidFill>
              </a:defRPr>
            </a:lvl1pPr>
          </a:lstStyle>
          <a:p>
            <a:r>
              <a:rPr lang="en-US" dirty="0"/>
              <a:t>Fedor </a:t>
            </a:r>
            <a:r>
              <a:rPr lang="en-US" dirty="0" err="1"/>
              <a:t>Shlyakhov</a:t>
            </a:r>
            <a:r>
              <a:rPr dirty="0"/>
              <a:t>, NRU HSE</a:t>
            </a:r>
          </a:p>
        </p:txBody>
      </p:sp>
      <p:grpSp>
        <p:nvGrpSpPr>
          <p:cNvPr id="156" name="Content Placeholder 4"/>
          <p:cNvGrpSpPr/>
          <p:nvPr/>
        </p:nvGrpSpPr>
        <p:grpSpPr>
          <a:xfrm>
            <a:off x="463106" y="1220383"/>
            <a:ext cx="11700348" cy="2585000"/>
            <a:chOff x="0" y="0"/>
            <a:chExt cx="11700347" cy="2584999"/>
          </a:xfrm>
        </p:grpSpPr>
        <p:grpSp>
          <p:nvGrpSpPr>
            <p:cNvPr id="138" name="Group"/>
            <p:cNvGrpSpPr/>
            <p:nvPr/>
          </p:nvGrpSpPr>
          <p:grpSpPr>
            <a:xfrm>
              <a:off x="0" y="0"/>
              <a:ext cx="2656860" cy="1428171"/>
              <a:chOff x="0" y="0"/>
              <a:chExt cx="2656859" cy="1428170"/>
            </a:xfrm>
          </p:grpSpPr>
          <p:sp>
            <p:nvSpPr>
              <p:cNvPr id="136" name="Rounded Rectangle"/>
              <p:cNvSpPr/>
              <p:nvPr/>
            </p:nvSpPr>
            <p:spPr>
              <a:xfrm>
                <a:off x="0" y="0"/>
                <a:ext cx="2656860" cy="1428171"/>
              </a:xfrm>
              <a:prstGeom prst="roundRect">
                <a:avLst>
                  <a:gd name="adj" fmla="val 10000"/>
                </a:avLst>
              </a:prstGeom>
              <a:solidFill>
                <a:schemeClr val="accent4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1022350">
                  <a:lnSpc>
                    <a:spcPct val="90000"/>
                  </a:lnSpc>
                  <a:spcBef>
                    <a:spcPts val="1000"/>
                  </a:spcBef>
                  <a:defRPr sz="24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7" name="Topic choice"/>
              <p:cNvSpPr txBox="1"/>
              <p:nvPr/>
            </p:nvSpPr>
            <p:spPr>
              <a:xfrm>
                <a:off x="81257" y="81257"/>
                <a:ext cx="2494346" cy="5679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87630" tIns="87630" rIns="87630" bIns="87630" numCol="1" anchor="t">
                <a:noAutofit/>
              </a:bodyPr>
              <a:lstStyle>
                <a:lvl1pPr defTabSz="1022350">
                  <a:lnSpc>
                    <a:spcPct val="90000"/>
                  </a:lnSpc>
                  <a:spcBef>
                    <a:spcPts val="900"/>
                  </a:spcBef>
                  <a:defRPr sz="2300">
                    <a:solidFill>
                      <a:srgbClr val="FFFFFF"/>
                    </a:solidFill>
                  </a:defRPr>
                </a:lvl1pPr>
              </a:lstStyle>
              <a:p>
                <a:r>
                  <a:t>Topic choice</a:t>
                </a:r>
              </a:p>
            </p:txBody>
          </p:sp>
        </p:grpSp>
        <p:grpSp>
          <p:nvGrpSpPr>
            <p:cNvPr id="141" name="Group"/>
            <p:cNvGrpSpPr/>
            <p:nvPr/>
          </p:nvGrpSpPr>
          <p:grpSpPr>
            <a:xfrm>
              <a:off x="544176" y="952113"/>
              <a:ext cx="2656861" cy="1632886"/>
              <a:chOff x="0" y="0"/>
              <a:chExt cx="2656860" cy="1632884"/>
            </a:xfrm>
          </p:grpSpPr>
          <p:sp>
            <p:nvSpPr>
              <p:cNvPr id="139" name="Rounded Rectangle"/>
              <p:cNvSpPr/>
              <p:nvPr/>
            </p:nvSpPr>
            <p:spPr>
              <a:xfrm>
                <a:off x="0" y="0"/>
                <a:ext cx="2656860" cy="1385510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1022350">
                  <a:lnSpc>
                    <a:spcPct val="90000"/>
                  </a:lnSpc>
                  <a:spcBef>
                    <a:spcPts val="300"/>
                  </a:spcBef>
                  <a:defRPr sz="2000"/>
                </a:pPr>
                <a:endParaRPr/>
              </a:p>
            </p:txBody>
          </p:sp>
          <p:sp>
            <p:nvSpPr>
              <p:cNvPr id="140" name="Soft deadline: October 1…"/>
              <p:cNvSpPr txBox="1"/>
              <p:nvPr/>
            </p:nvSpPr>
            <p:spPr>
              <a:xfrm>
                <a:off x="55786" y="55786"/>
                <a:ext cx="2545288" cy="15770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63576" tIns="163576" rIns="163576" bIns="163576" numCol="1" anchor="t">
                <a:noAutofit/>
              </a:bodyPr>
              <a:lstStyle/>
              <a:p>
                <a:pPr marL="228600" lvl="1" indent="-228600" defTabSz="1022350">
                  <a:lnSpc>
                    <a:spcPct val="90000"/>
                  </a:lnSpc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Helvetica"/>
                  <a:buChar char="•"/>
                  <a:defRPr sz="2300"/>
                </a:pPr>
                <a:r>
                  <a:rPr lang="en-US" dirty="0"/>
                  <a:t>D</a:t>
                </a:r>
                <a:r>
                  <a:rPr dirty="0"/>
                  <a:t>eadline: </a:t>
                </a:r>
                <a:endParaRPr lang="en-US" dirty="0"/>
              </a:p>
              <a:p>
                <a:pPr lvl="1" indent="0" defTabSz="1022350">
                  <a:lnSpc>
                    <a:spcPct val="90000"/>
                  </a:lnSpc>
                  <a:spcBef>
                    <a:spcPts val="400"/>
                  </a:spcBef>
                  <a:buClr>
                    <a:srgbClr val="000000"/>
                  </a:buClr>
                  <a:buSzPct val="100000"/>
                  <a:defRPr sz="2300"/>
                </a:pPr>
                <a:r>
                  <a:rPr lang="en-US" dirty="0"/>
                  <a:t>   October 16</a:t>
                </a:r>
                <a:endParaRPr dirty="0"/>
              </a:p>
            </p:txBody>
          </p:sp>
        </p:grpSp>
        <p:sp>
          <p:nvSpPr>
            <p:cNvPr id="142" name="Arrow"/>
            <p:cNvSpPr/>
            <p:nvPr/>
          </p:nvSpPr>
          <p:spPr>
            <a:xfrm>
              <a:off x="3059630" y="145315"/>
              <a:ext cx="853874" cy="66148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45" name="Group"/>
            <p:cNvGrpSpPr/>
            <p:nvPr/>
          </p:nvGrpSpPr>
          <p:grpSpPr>
            <a:xfrm>
              <a:off x="4267941" y="0"/>
              <a:ext cx="2656861" cy="1428171"/>
              <a:chOff x="0" y="0"/>
              <a:chExt cx="2656859" cy="1428170"/>
            </a:xfrm>
          </p:grpSpPr>
          <p:sp>
            <p:nvSpPr>
              <p:cNvPr id="143" name="Rounded Rectangle"/>
              <p:cNvSpPr/>
              <p:nvPr/>
            </p:nvSpPr>
            <p:spPr>
              <a:xfrm>
                <a:off x="0" y="0"/>
                <a:ext cx="2656860" cy="1428171"/>
              </a:xfrm>
              <a:prstGeom prst="roundRect">
                <a:avLst>
                  <a:gd name="adj" fmla="val 10000"/>
                </a:avLst>
              </a:prstGeom>
              <a:solidFill>
                <a:srgbClr val="2C4581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1022350">
                  <a:lnSpc>
                    <a:spcPct val="90000"/>
                  </a:lnSpc>
                  <a:spcBef>
                    <a:spcPts val="1000"/>
                  </a:spcBef>
                  <a:defRPr sz="24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44" name="Intermediate status report"/>
              <p:cNvSpPr txBox="1"/>
              <p:nvPr/>
            </p:nvSpPr>
            <p:spPr>
              <a:xfrm>
                <a:off x="81257" y="81257"/>
                <a:ext cx="2494346" cy="91041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87630" tIns="87630" rIns="87630" bIns="87630" numCol="1" anchor="t">
                <a:noAutofit/>
              </a:bodyPr>
              <a:lstStyle>
                <a:lvl1pPr defTabSz="1022350">
                  <a:lnSpc>
                    <a:spcPct val="90000"/>
                  </a:lnSpc>
                  <a:spcBef>
                    <a:spcPts val="900"/>
                  </a:spcBef>
                  <a:defRPr sz="2300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Intermediate status report</a:t>
                </a:r>
              </a:p>
            </p:txBody>
          </p:sp>
        </p:grpSp>
        <p:grpSp>
          <p:nvGrpSpPr>
            <p:cNvPr id="148" name="Group"/>
            <p:cNvGrpSpPr/>
            <p:nvPr/>
          </p:nvGrpSpPr>
          <p:grpSpPr>
            <a:xfrm>
              <a:off x="4812117" y="952113"/>
              <a:ext cx="2656862" cy="1385511"/>
              <a:chOff x="0" y="0"/>
              <a:chExt cx="2656860" cy="1385510"/>
            </a:xfrm>
          </p:grpSpPr>
          <p:sp>
            <p:nvSpPr>
              <p:cNvPr id="146" name="Rounded Rectangle"/>
              <p:cNvSpPr/>
              <p:nvPr/>
            </p:nvSpPr>
            <p:spPr>
              <a:xfrm>
                <a:off x="0" y="0"/>
                <a:ext cx="2656860" cy="1385510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rgbClr val="2C4581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1022350">
                  <a:lnSpc>
                    <a:spcPct val="90000"/>
                  </a:lnSpc>
                  <a:spcBef>
                    <a:spcPts val="300"/>
                  </a:spcBef>
                  <a:defRPr sz="2000"/>
                </a:pPr>
                <a:endParaRPr/>
              </a:p>
            </p:txBody>
          </p:sp>
          <p:sp>
            <p:nvSpPr>
              <p:cNvPr id="147" name="Soft deadline: November 19…"/>
              <p:cNvSpPr txBox="1"/>
              <p:nvPr/>
            </p:nvSpPr>
            <p:spPr>
              <a:xfrm>
                <a:off x="55786" y="55786"/>
                <a:ext cx="2545288" cy="11333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63576" tIns="163576" rIns="163576" bIns="163576" numCol="1" anchor="t">
                <a:noAutofit/>
              </a:bodyPr>
              <a:lstStyle/>
              <a:p>
                <a:pPr marL="228600" lvl="1" indent="-228600" defTabSz="1022350">
                  <a:lnSpc>
                    <a:spcPct val="90000"/>
                  </a:lnSpc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Helvetica"/>
                  <a:buChar char="•"/>
                  <a:defRPr sz="2300"/>
                </a:pPr>
                <a:r>
                  <a:rPr lang="en-US" dirty="0"/>
                  <a:t>D</a:t>
                </a:r>
                <a:r>
                  <a:rPr dirty="0"/>
                  <a:t>eadline: </a:t>
                </a:r>
                <a:endParaRPr lang="en-US" dirty="0"/>
              </a:p>
              <a:p>
                <a:pPr lvl="1" indent="0" defTabSz="1022350">
                  <a:lnSpc>
                    <a:spcPct val="90000"/>
                  </a:lnSpc>
                  <a:spcBef>
                    <a:spcPts val="400"/>
                  </a:spcBef>
                  <a:buClr>
                    <a:srgbClr val="000000"/>
                  </a:buClr>
                  <a:buSzPct val="100000"/>
                  <a:defRPr sz="2300"/>
                </a:pPr>
                <a:r>
                  <a:rPr lang="en-US" dirty="0"/>
                  <a:t>   November 13</a:t>
                </a:r>
              </a:p>
            </p:txBody>
          </p:sp>
        </p:grpSp>
        <p:sp>
          <p:nvSpPr>
            <p:cNvPr id="149" name="Arrow"/>
            <p:cNvSpPr/>
            <p:nvPr/>
          </p:nvSpPr>
          <p:spPr>
            <a:xfrm>
              <a:off x="7327572" y="145315"/>
              <a:ext cx="853874" cy="661482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ts val="1000"/>
                </a:spcBef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52" name="Group"/>
            <p:cNvGrpSpPr/>
            <p:nvPr/>
          </p:nvGrpSpPr>
          <p:grpSpPr>
            <a:xfrm>
              <a:off x="8535883" y="0"/>
              <a:ext cx="2656861" cy="1428171"/>
              <a:chOff x="0" y="0"/>
              <a:chExt cx="2656859" cy="1428170"/>
            </a:xfrm>
          </p:grpSpPr>
          <p:sp>
            <p:nvSpPr>
              <p:cNvPr id="150" name="Rounded Rectangle"/>
              <p:cNvSpPr/>
              <p:nvPr/>
            </p:nvSpPr>
            <p:spPr>
              <a:xfrm>
                <a:off x="0" y="0"/>
                <a:ext cx="2656860" cy="1428171"/>
              </a:xfrm>
              <a:prstGeom prst="roundRect">
                <a:avLst>
                  <a:gd name="adj" fmla="val 10000"/>
                </a:avLst>
              </a:prstGeom>
              <a:solidFill>
                <a:schemeClr val="accent5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1022350">
                  <a:lnSpc>
                    <a:spcPct val="90000"/>
                  </a:lnSpc>
                  <a:spcBef>
                    <a:spcPts val="1000"/>
                  </a:spcBef>
                  <a:defRPr sz="24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1" name="Project defence"/>
              <p:cNvSpPr txBox="1"/>
              <p:nvPr/>
            </p:nvSpPr>
            <p:spPr>
              <a:xfrm>
                <a:off x="81257" y="81257"/>
                <a:ext cx="2494346" cy="5679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87630" tIns="87630" rIns="87630" bIns="87630" numCol="1" anchor="t">
                <a:noAutofit/>
              </a:bodyPr>
              <a:lstStyle>
                <a:lvl1pPr defTabSz="1022350">
                  <a:lnSpc>
                    <a:spcPct val="90000"/>
                  </a:lnSpc>
                  <a:spcBef>
                    <a:spcPts val="900"/>
                  </a:spcBef>
                  <a:defRPr sz="2300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Project defen</a:t>
                </a:r>
                <a:r>
                  <a:rPr lang="en-US" dirty="0"/>
                  <a:t>s</a:t>
                </a:r>
                <a:r>
                  <a:rPr dirty="0"/>
                  <a:t>e</a:t>
                </a:r>
              </a:p>
            </p:txBody>
          </p:sp>
        </p:grpSp>
        <p:grpSp>
          <p:nvGrpSpPr>
            <p:cNvPr id="155" name="Group"/>
            <p:cNvGrpSpPr/>
            <p:nvPr/>
          </p:nvGrpSpPr>
          <p:grpSpPr>
            <a:xfrm>
              <a:off x="8890320" y="984384"/>
              <a:ext cx="2810027" cy="1353239"/>
              <a:chOff x="-189740" y="32271"/>
              <a:chExt cx="2810025" cy="1353238"/>
            </a:xfrm>
          </p:grpSpPr>
          <p:sp>
            <p:nvSpPr>
              <p:cNvPr id="153" name="Rounded Rectangle"/>
              <p:cNvSpPr/>
              <p:nvPr/>
            </p:nvSpPr>
            <p:spPr>
              <a:xfrm>
                <a:off x="-189740" y="32271"/>
                <a:ext cx="2656860" cy="1353238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90000"/>
                </a:srgbClr>
              </a:solidFill>
              <a:ln w="12700" cap="flat">
                <a:solidFill>
                  <a:schemeClr val="accent5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1022350">
                  <a:lnSpc>
                    <a:spcPct val="90000"/>
                  </a:lnSpc>
                  <a:spcBef>
                    <a:spcPts val="300"/>
                  </a:spcBef>
                  <a:defRPr sz="2000"/>
                </a:pPr>
                <a:endParaRPr/>
              </a:p>
            </p:txBody>
          </p:sp>
          <p:sp>
            <p:nvSpPr>
              <p:cNvPr id="154" name="Soft deadline: December 15…"/>
              <p:cNvSpPr txBox="1"/>
              <p:nvPr/>
            </p:nvSpPr>
            <p:spPr>
              <a:xfrm>
                <a:off x="-36575" y="55786"/>
                <a:ext cx="2656860" cy="8936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63576" tIns="163576" rIns="163576" bIns="163576" numCol="1" anchor="t">
                <a:noAutofit/>
              </a:bodyPr>
              <a:lstStyle/>
              <a:p>
                <a:pPr marL="228600" lvl="1" indent="-228600" defTabSz="1022350">
                  <a:lnSpc>
                    <a:spcPct val="90000"/>
                  </a:lnSpc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Helvetica"/>
                  <a:buChar char="•"/>
                  <a:defRPr sz="2300"/>
                </a:pPr>
                <a:r>
                  <a:rPr lang="en-US" dirty="0"/>
                  <a:t>D</a:t>
                </a:r>
                <a:r>
                  <a:rPr dirty="0"/>
                  <a:t>eadline: </a:t>
                </a:r>
                <a:endParaRPr lang="en-US" dirty="0"/>
              </a:p>
              <a:p>
                <a:pPr lvl="1" indent="0" defTabSz="1022350">
                  <a:lnSpc>
                    <a:spcPct val="90000"/>
                  </a:lnSpc>
                  <a:spcBef>
                    <a:spcPts val="400"/>
                  </a:spcBef>
                  <a:buClr>
                    <a:srgbClr val="000000"/>
                  </a:buClr>
                  <a:buSzPct val="100000"/>
                  <a:defRPr sz="2300"/>
                </a:pPr>
                <a:r>
                  <a:rPr lang="en-US" sz="2000" dirty="0"/>
                  <a:t>   December 4 &amp; 11</a:t>
                </a:r>
                <a:endParaRPr dirty="0"/>
              </a:p>
            </p:txBody>
          </p:sp>
        </p:grpSp>
      </p:grpSp>
      <p:sp>
        <p:nvSpPr>
          <p:cNvPr id="157" name="Title 2"/>
          <p:cNvSpPr txBox="1">
            <a:spLocks noGrp="1"/>
          </p:cNvSpPr>
          <p:nvPr>
            <p:ph type="title"/>
          </p:nvPr>
        </p:nvSpPr>
        <p:spPr>
          <a:xfrm>
            <a:off x="192504" y="72191"/>
            <a:ext cx="11806992" cy="765845"/>
          </a:xfrm>
          <a:prstGeom prst="rect">
            <a:avLst/>
          </a:prstGeom>
        </p:spPr>
        <p:txBody>
          <a:bodyPr/>
          <a:lstStyle/>
          <a:p>
            <a:r>
              <a:rPr dirty="0"/>
              <a:t>Exam project timeline</a:t>
            </a:r>
          </a:p>
        </p:txBody>
      </p:sp>
      <p:sp>
        <p:nvSpPr>
          <p:cNvPr id="158" name="Content Placeholder 1"/>
          <p:cNvSpPr txBox="1"/>
          <p:nvPr/>
        </p:nvSpPr>
        <p:spPr>
          <a:xfrm>
            <a:off x="463163" y="4179383"/>
            <a:ext cx="11139777" cy="2114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marL="719999" indent="-410399">
              <a:lnSpc>
                <a:spcPct val="112500"/>
              </a:lnSpc>
              <a:spcBef>
                <a:spcPts val="700"/>
              </a:spcBef>
              <a:buClr>
                <a:srgbClr val="005AAA"/>
              </a:buClr>
              <a:buSzPct val="70000"/>
              <a:buFont typeface="Menlo Regular"/>
              <a:buChar char="▶"/>
              <a:defRPr sz="2400"/>
            </a:pPr>
            <a:r>
              <a:rPr dirty="0"/>
              <a:t>Missing </a:t>
            </a:r>
            <a:r>
              <a:rPr lang="en-US" dirty="0"/>
              <a:t>deadlines for stage 1, 2 will result in -1 point for the project (if both stage 1 and 2 were missed then -2 applies)</a:t>
            </a:r>
          </a:p>
          <a:p>
            <a:pPr marL="719999" indent="-410399">
              <a:lnSpc>
                <a:spcPct val="112500"/>
              </a:lnSpc>
              <a:spcBef>
                <a:spcPts val="700"/>
              </a:spcBef>
              <a:buClr>
                <a:srgbClr val="005AAA"/>
              </a:buClr>
              <a:buSzPct val="70000"/>
              <a:buFont typeface="Menlo Regular"/>
              <a:buChar char="▶"/>
              <a:defRPr sz="2400"/>
            </a:pPr>
            <a:r>
              <a:rPr lang="en-US" dirty="0"/>
              <a:t>Missing the project defense (stage 3) will result in 0 for the whole project.</a:t>
            </a:r>
          </a:p>
          <a:p>
            <a:pPr marL="719999" indent="-410399">
              <a:lnSpc>
                <a:spcPct val="112500"/>
              </a:lnSpc>
              <a:spcBef>
                <a:spcPts val="700"/>
              </a:spcBef>
              <a:buClr>
                <a:srgbClr val="005AAA"/>
              </a:buClr>
              <a:buSzPct val="70000"/>
              <a:buFont typeface="Menlo Regular"/>
              <a:buChar char="▶"/>
              <a:defRPr sz="2400"/>
            </a:pPr>
            <a:r>
              <a:rPr lang="en-US" dirty="0"/>
              <a:t>All members of a group need to attend the final defense.</a:t>
            </a:r>
          </a:p>
          <a:p>
            <a:pPr marL="719999" indent="-410399">
              <a:lnSpc>
                <a:spcPct val="112500"/>
              </a:lnSpc>
              <a:spcBef>
                <a:spcPts val="700"/>
              </a:spcBef>
              <a:buClr>
                <a:srgbClr val="005AAA"/>
              </a:buClr>
              <a:buSzPct val="70000"/>
              <a:buFont typeface="Menlo Regular"/>
              <a:buChar char="▶"/>
              <a:defRPr sz="2400"/>
            </a:pPr>
            <a:endParaRPr lang="en-US" dirty="0"/>
          </a:p>
          <a:p>
            <a:pPr marL="719999" indent="-410399">
              <a:lnSpc>
                <a:spcPct val="112500"/>
              </a:lnSpc>
              <a:spcBef>
                <a:spcPts val="700"/>
              </a:spcBef>
              <a:buClr>
                <a:srgbClr val="005AAA"/>
              </a:buClr>
              <a:buSzPct val="70000"/>
              <a:buFont typeface="Menlo Regular"/>
              <a:buChar char="▶"/>
              <a:defRPr sz="2400"/>
            </a:pPr>
            <a:endParaRPr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DEADE-BBB3-B112-E448-24300391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ooter Placeholder 3">
            <a:extLst>
              <a:ext uri="{FF2B5EF4-FFF2-40B4-BE49-F238E27FC236}">
                <a16:creationId xmlns:a16="http://schemas.microsoft.com/office/drawing/2014/main" id="{E7C0460C-71DB-093E-C552-6B33CFD7ADDC}"/>
              </a:ext>
            </a:extLst>
          </p:cNvPr>
          <p:cNvSpPr txBox="1"/>
          <p:nvPr/>
        </p:nvSpPr>
        <p:spPr>
          <a:xfrm>
            <a:off x="238225" y="6536938"/>
            <a:ext cx="3676227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005AAA"/>
                </a:solidFill>
              </a:defRPr>
            </a:lvl1pPr>
          </a:lstStyle>
          <a:p>
            <a:r>
              <a:rPr lang="en-US" dirty="0"/>
              <a:t>Fedor </a:t>
            </a:r>
            <a:r>
              <a:rPr lang="en-US" dirty="0" err="1"/>
              <a:t>Shlyakhov</a:t>
            </a:r>
            <a:r>
              <a:rPr dirty="0"/>
              <a:t>, NRU HSE</a:t>
            </a:r>
          </a:p>
        </p:txBody>
      </p:sp>
      <p:sp>
        <p:nvSpPr>
          <p:cNvPr id="157" name="Title 2">
            <a:extLst>
              <a:ext uri="{FF2B5EF4-FFF2-40B4-BE49-F238E27FC236}">
                <a16:creationId xmlns:a16="http://schemas.microsoft.com/office/drawing/2014/main" id="{63D13DDF-6B9D-04EB-36B4-31C3007DF4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504" y="72191"/>
            <a:ext cx="11806992" cy="76584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Motivation</a:t>
            </a:r>
            <a:endParaRPr dirty="0"/>
          </a:p>
        </p:txBody>
      </p:sp>
      <p:sp>
        <p:nvSpPr>
          <p:cNvPr id="158" name="Content Placeholder 1">
            <a:extLst>
              <a:ext uri="{FF2B5EF4-FFF2-40B4-BE49-F238E27FC236}">
                <a16:creationId xmlns:a16="http://schemas.microsoft.com/office/drawing/2014/main" id="{E1BF9D2F-C760-09C9-A796-DE2A090DFED8}"/>
              </a:ext>
            </a:extLst>
          </p:cNvPr>
          <p:cNvSpPr txBox="1"/>
          <p:nvPr/>
        </p:nvSpPr>
        <p:spPr>
          <a:xfrm>
            <a:off x="238225" y="1208645"/>
            <a:ext cx="11139777" cy="1849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marL="719999" indent="-410399">
              <a:lnSpc>
                <a:spcPct val="112500"/>
              </a:lnSpc>
              <a:spcBef>
                <a:spcPts val="700"/>
              </a:spcBef>
              <a:buClr>
                <a:srgbClr val="005AAA"/>
              </a:buClr>
              <a:buSzPct val="70000"/>
              <a:buFont typeface="Menlo Regular"/>
              <a:buChar char="▶"/>
              <a:defRPr sz="2400"/>
            </a:pPr>
            <a:r>
              <a:rPr lang="en-US" dirty="0"/>
              <a:t>Statistics and data analysis underlie machine learning and artificial intelligence (AI) technologies</a:t>
            </a:r>
          </a:p>
          <a:p>
            <a:pPr marL="719999" indent="-410399">
              <a:lnSpc>
                <a:spcPct val="112500"/>
              </a:lnSpc>
              <a:spcBef>
                <a:spcPts val="700"/>
              </a:spcBef>
              <a:buClr>
                <a:srgbClr val="005AAA"/>
              </a:buClr>
              <a:buSzPct val="70000"/>
              <a:buFont typeface="Menlo Regular"/>
              <a:buChar char="▶"/>
              <a:defRPr sz="2400"/>
            </a:pPr>
            <a:r>
              <a:rPr lang="en-US" dirty="0"/>
              <a:t>Comprehension of its basic principles helps to understand the world we live in</a:t>
            </a:r>
          </a:p>
          <a:p>
            <a:pPr marL="719999" indent="-410399">
              <a:lnSpc>
                <a:spcPct val="112500"/>
              </a:lnSpc>
              <a:spcBef>
                <a:spcPts val="700"/>
              </a:spcBef>
              <a:buClr>
                <a:srgbClr val="005AAA"/>
              </a:buClr>
              <a:buSzPct val="70000"/>
              <a:buFont typeface="Menlo Regular"/>
              <a:buChar char="▶"/>
              <a:defRPr sz="2400"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436F1-B1A2-2710-CC31-E68FC6E0F3B8}"/>
              </a:ext>
            </a:extLst>
          </p:cNvPr>
          <p:cNvSpPr txBox="1"/>
          <p:nvPr/>
        </p:nvSpPr>
        <p:spPr>
          <a:xfrm>
            <a:off x="1921164" y="3429000"/>
            <a:ext cx="834967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https://www.youtube.com/watch?v=RNnZwvklwa8&amp;ab_channel=AdamEubanks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928788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HSE">
  <a:themeElements>
    <a:clrScheme name="HS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2622"/>
      </a:accent1>
      <a:accent2>
        <a:srgbClr val="F36C2A"/>
      </a:accent2>
      <a:accent3>
        <a:srgbClr val="E58224"/>
      </a:accent3>
      <a:accent4>
        <a:srgbClr val="142B50"/>
      </a:accent4>
      <a:accent5>
        <a:srgbClr val="4C5FAB"/>
      </a:accent5>
      <a:accent6>
        <a:srgbClr val="28A348"/>
      </a:accent6>
      <a:hlink>
        <a:srgbClr val="0000FF"/>
      </a:hlink>
      <a:folHlink>
        <a:srgbClr val="FF00FF"/>
      </a:folHlink>
    </a:clrScheme>
    <a:fontScheme name="HS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H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Myriad Pro"/>
            <a:ea typeface="Myriad Pro"/>
            <a:cs typeface="Myriad Pro"/>
            <a:sym typeface="Myriad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Myriad Pro"/>
            <a:ea typeface="Myriad Pro"/>
            <a:cs typeface="Myriad Pro"/>
            <a:sym typeface="Myriad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HSE">
  <a:themeElements>
    <a:clrScheme name="HS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2622"/>
      </a:accent1>
      <a:accent2>
        <a:srgbClr val="F36C2A"/>
      </a:accent2>
      <a:accent3>
        <a:srgbClr val="E58224"/>
      </a:accent3>
      <a:accent4>
        <a:srgbClr val="142B50"/>
      </a:accent4>
      <a:accent5>
        <a:srgbClr val="4C5FAB"/>
      </a:accent5>
      <a:accent6>
        <a:srgbClr val="28A348"/>
      </a:accent6>
      <a:hlink>
        <a:srgbClr val="0000FF"/>
      </a:hlink>
      <a:folHlink>
        <a:srgbClr val="FF00FF"/>
      </a:folHlink>
    </a:clrScheme>
    <a:fontScheme name="HS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H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Myriad Pro"/>
            <a:ea typeface="Myriad Pro"/>
            <a:cs typeface="Myriad Pro"/>
            <a:sym typeface="Myriad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Myriad Pro"/>
            <a:ea typeface="Myriad Pro"/>
            <a:cs typeface="Myriad Pro"/>
            <a:sym typeface="Myriad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767</Words>
  <Application>Microsoft Macintosh PowerPoint</Application>
  <PresentationFormat>Широкоэкранный</PresentationFormat>
  <Paragraphs>114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 Math</vt:lpstr>
      <vt:lpstr>Helvetica</vt:lpstr>
      <vt:lpstr>Menlo Regular</vt:lpstr>
      <vt:lpstr>Myriad Pro</vt:lpstr>
      <vt:lpstr>HSE</vt:lpstr>
      <vt:lpstr>Data Analytics and Mining</vt:lpstr>
      <vt:lpstr>Teaching Team Contacts / Timetable</vt:lpstr>
      <vt:lpstr>Repository with course material</vt:lpstr>
      <vt:lpstr>Course content</vt:lpstr>
      <vt:lpstr>Course content</vt:lpstr>
      <vt:lpstr>Course content</vt:lpstr>
      <vt:lpstr>Overview</vt:lpstr>
      <vt:lpstr>Grade Formula</vt:lpstr>
      <vt:lpstr>The formula</vt:lpstr>
      <vt:lpstr>Quiz</vt:lpstr>
      <vt:lpstr>Exam</vt:lpstr>
      <vt:lpstr>Exam project timeline</vt:lpstr>
      <vt:lpstr>Motivation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a898</cp:lastModifiedBy>
  <cp:revision>22</cp:revision>
  <cp:lastPrinted>2025-09-19T10:39:26Z</cp:lastPrinted>
  <dcterms:modified xsi:type="dcterms:W3CDTF">2026-09-18T09:37:20Z</dcterms:modified>
</cp:coreProperties>
</file>
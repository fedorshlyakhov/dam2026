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4"/>
  </p:notesMasterIdLst>
  <p:sldIdLst>
    <p:sldId id="379" r:id="rId5"/>
    <p:sldId id="320" r:id="rId6"/>
    <p:sldId id="295" r:id="rId7"/>
    <p:sldId id="381" r:id="rId8"/>
    <p:sldId id="409" r:id="rId9"/>
    <p:sldId id="410" r:id="rId10"/>
    <p:sldId id="412" r:id="rId11"/>
    <p:sldId id="413" r:id="rId12"/>
    <p:sldId id="414" r:id="rId13"/>
    <p:sldId id="415" r:id="rId14"/>
    <p:sldId id="416" r:id="rId15"/>
    <p:sldId id="419" r:id="rId16"/>
    <p:sldId id="420" r:id="rId17"/>
    <p:sldId id="421" r:id="rId18"/>
    <p:sldId id="422" r:id="rId19"/>
    <p:sldId id="423" r:id="rId20"/>
    <p:sldId id="425" r:id="rId21"/>
    <p:sldId id="426" r:id="rId22"/>
    <p:sldId id="427" r:id="rId23"/>
    <p:sldId id="428" r:id="rId24"/>
    <p:sldId id="429" r:id="rId25"/>
    <p:sldId id="430" r:id="rId26"/>
    <p:sldId id="431" r:id="rId27"/>
    <p:sldId id="433" r:id="rId28"/>
    <p:sldId id="434" r:id="rId29"/>
    <p:sldId id="435" r:id="rId30"/>
    <p:sldId id="436" r:id="rId31"/>
    <p:sldId id="437" r:id="rId32"/>
    <p:sldId id="440" r:id="rId33"/>
    <p:sldId id="441" r:id="rId34"/>
    <p:sldId id="442" r:id="rId35"/>
    <p:sldId id="443" r:id="rId36"/>
    <p:sldId id="444" r:id="rId37"/>
    <p:sldId id="445" r:id="rId38"/>
    <p:sldId id="446" r:id="rId39"/>
    <p:sldId id="447" r:id="rId40"/>
    <p:sldId id="448" r:id="rId41"/>
    <p:sldId id="449" r:id="rId42"/>
    <p:sldId id="450" r:id="rId43"/>
    <p:sldId id="451" r:id="rId44"/>
    <p:sldId id="452" r:id="rId45"/>
    <p:sldId id="453" r:id="rId46"/>
    <p:sldId id="454" r:id="rId47"/>
    <p:sldId id="455" r:id="rId48"/>
    <p:sldId id="456" r:id="rId49"/>
    <p:sldId id="457" r:id="rId50"/>
    <p:sldId id="458" r:id="rId51"/>
    <p:sldId id="459" r:id="rId52"/>
    <p:sldId id="267" r:id="rId5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25" autoAdjust="0"/>
    <p:restoredTop sz="95588"/>
  </p:normalViewPr>
  <p:slideViewPr>
    <p:cSldViewPr snapToGrid="0">
      <p:cViewPr varScale="1">
        <p:scale>
          <a:sx n="127" d="100"/>
          <a:sy n="127" d="100"/>
        </p:scale>
        <p:origin x="192" y="18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EFDAB0-3815-DE40-98A0-D4748ED7AB6C}" type="datetimeFigureOut">
              <a:rPr lang="en-RU" smtClean="0"/>
              <a:t>9/12/26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BD9FF7-1C9D-BC40-B9CF-45E6FE0F629F}" type="slidenum">
              <a:rPr lang="en-RU" smtClean="0"/>
              <a:t>‹#›</a:t>
            </a:fld>
            <a:endParaRPr lang="en-RU"/>
          </a:p>
        </p:txBody>
      </p:sp>
    </p:spTree>
    <p:extLst>
      <p:ext uri="{BB962C8B-B14F-4D97-AF65-F5344CB8AC3E}">
        <p14:creationId xmlns:p14="http://schemas.microsoft.com/office/powerpoint/2010/main" val="4100758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D971D-E062-4E3A-9256-C9F1BE7FC79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0D312EAA-BEA0-49B5-9C5F-C9C5FA29D77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14BC5F56-64F5-443B-8C1B-FC11F3092735}"/>
              </a:ext>
            </a:extLst>
          </p:cNvPr>
          <p:cNvSpPr>
            <a:spLocks noGrp="1"/>
          </p:cNvSpPr>
          <p:nvPr>
            <p:ph type="dt" sz="half" idx="10"/>
          </p:nvPr>
        </p:nvSpPr>
        <p:spPr>
          <a:xfrm>
            <a:off x="838200" y="6356350"/>
            <a:ext cx="2743200" cy="365125"/>
          </a:xfrm>
          <a:prstGeom prst="rect">
            <a:avLst/>
          </a:prstGeom>
        </p:spPr>
        <p:txBody>
          <a:bodyPr/>
          <a:lstStyle/>
          <a:p>
            <a:r>
              <a:rPr lang="ru-RU"/>
              <a:t>13.04.2020</a:t>
            </a:r>
          </a:p>
        </p:txBody>
      </p:sp>
      <p:sp>
        <p:nvSpPr>
          <p:cNvPr id="5" name="Footer Placeholder 4">
            <a:extLst>
              <a:ext uri="{FF2B5EF4-FFF2-40B4-BE49-F238E27FC236}">
                <a16:creationId xmlns:a16="http://schemas.microsoft.com/office/drawing/2014/main" id="{E562FAF4-858F-422F-BE0F-094B8068E743}"/>
              </a:ext>
            </a:extLst>
          </p:cNvPr>
          <p:cNvSpPr>
            <a:spLocks noGrp="1"/>
          </p:cNvSpPr>
          <p:nvPr>
            <p:ph type="ftr" sz="quarter" idx="11"/>
          </p:nvPr>
        </p:nvSpPr>
        <p:spPr>
          <a:xfrm>
            <a:off x="4038600" y="6356350"/>
            <a:ext cx="4114800" cy="365125"/>
          </a:xfrm>
          <a:prstGeom prst="rect">
            <a:avLst/>
          </a:prstGeom>
        </p:spPr>
        <p:txBody>
          <a:bodyPr/>
          <a:lstStyle/>
          <a:p>
            <a:r>
              <a:rPr lang="en-GB"/>
              <a:t>Artem Maevskiy, NRU HSE</a:t>
            </a:r>
            <a:endParaRPr lang="ru-RU"/>
          </a:p>
        </p:txBody>
      </p:sp>
      <p:sp>
        <p:nvSpPr>
          <p:cNvPr id="6" name="Slide Number Placeholder 5">
            <a:extLst>
              <a:ext uri="{FF2B5EF4-FFF2-40B4-BE49-F238E27FC236}">
                <a16:creationId xmlns:a16="http://schemas.microsoft.com/office/drawing/2014/main" id="{8742F417-8248-45A5-AF46-77F4796BF8CF}"/>
              </a:ext>
            </a:extLst>
          </p:cNvPr>
          <p:cNvSpPr>
            <a:spLocks noGrp="1"/>
          </p:cNvSpPr>
          <p:nvPr>
            <p:ph type="sldNum" sz="quarter" idx="12"/>
          </p:nvPr>
        </p:nvSpPr>
        <p:spPr>
          <a:xfrm>
            <a:off x="8610600" y="6356350"/>
            <a:ext cx="2743200" cy="365125"/>
          </a:xfrm>
          <a:prstGeom prst="rect">
            <a:avLst/>
          </a:prstGeom>
        </p:spPr>
        <p:txBody>
          <a:bodyPr/>
          <a:lstStyle/>
          <a:p>
            <a:fld id="{21ABC42C-C6CC-47FC-904E-31573FDBB029}" type="slidenum">
              <a:rPr lang="ru-RU" smtClean="0"/>
              <a:t>‹#›</a:t>
            </a:fld>
            <a:endParaRPr lang="ru-RU"/>
          </a:p>
        </p:txBody>
      </p:sp>
    </p:spTree>
    <p:extLst>
      <p:ext uri="{BB962C8B-B14F-4D97-AF65-F5344CB8AC3E}">
        <p14:creationId xmlns:p14="http://schemas.microsoft.com/office/powerpoint/2010/main" val="1957235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91C920-BB07-4E64-AEAC-D14D1F5CBF1B}"/>
              </a:ext>
            </a:extLst>
          </p:cNvPr>
          <p:cNvSpPr>
            <a:spLocks noGrp="1"/>
          </p:cNvSpPr>
          <p:nvPr>
            <p:ph idx="1"/>
          </p:nvPr>
        </p:nvSpPr>
        <p:spPr>
          <a:xfrm>
            <a:off x="838200" y="1418253"/>
            <a:ext cx="10515600" cy="4758710"/>
          </a:xfrm>
          <a:prstGeom prst="rect">
            <a:avLst/>
          </a:prstGeom>
        </p:spPr>
        <p:txBody>
          <a:bodyPr>
            <a:normAutofit/>
          </a:bodyPr>
          <a:lstStyle>
            <a:lvl1pPr marL="720000" indent="-410400" fontAlgn="ctr">
              <a:lnSpc>
                <a:spcPct val="125000"/>
              </a:lnSpc>
              <a:spcBef>
                <a:spcPts val="700"/>
              </a:spcBef>
              <a:buClr>
                <a:schemeClr val="tx2"/>
              </a:buClr>
              <a:buSzPct val="70000"/>
              <a:buFont typeface="Menlo Bold" panose="020B0609030804020204" pitchFamily="49" charset="0"/>
              <a:buChar char="▶"/>
              <a:defRPr sz="2400"/>
            </a:lvl1pPr>
            <a:lvl2pPr marL="1008000" indent="-288000" fontAlgn="ctr">
              <a:lnSpc>
                <a:spcPct val="125000"/>
              </a:lnSpc>
              <a:spcBef>
                <a:spcPts val="700"/>
              </a:spcBef>
              <a:buClr>
                <a:schemeClr val="tx1"/>
              </a:buClr>
              <a:buFont typeface="System Font Regular"/>
              <a:buChar char="–"/>
              <a:defRPr sz="2000"/>
            </a:lvl2pPr>
            <a:lvl3pPr marL="1314000" indent="-288000" fontAlgn="ctr">
              <a:lnSpc>
                <a:spcPct val="125000"/>
              </a:lnSpc>
              <a:spcBef>
                <a:spcPts val="700"/>
              </a:spcBef>
              <a:buClr>
                <a:schemeClr val="tx1"/>
              </a:buClr>
              <a:buFont typeface="System Font Regular"/>
              <a:buChar char="–"/>
              <a:defRPr sz="1800"/>
            </a:lvl3pPr>
            <a:lvl4pPr marL="1600200" indent="-288000" fontAlgn="ctr">
              <a:lnSpc>
                <a:spcPct val="125000"/>
              </a:lnSpc>
              <a:spcBef>
                <a:spcPts val="700"/>
              </a:spcBef>
              <a:buClr>
                <a:schemeClr val="tx1"/>
              </a:buClr>
              <a:buFont typeface="System Font Regular"/>
              <a:buChar char="–"/>
              <a:defRPr sz="1600"/>
            </a:lvl4pPr>
            <a:lvl5pPr marL="1872000" indent="-288000" fontAlgn="ctr">
              <a:lnSpc>
                <a:spcPct val="125000"/>
              </a:lnSpc>
              <a:spcBef>
                <a:spcPts val="700"/>
              </a:spcBef>
              <a:buClr>
                <a:schemeClr val="tx1"/>
              </a:buClr>
              <a:buFont typeface="System Font Regular"/>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7" name="Title 1">
            <a:extLst>
              <a:ext uri="{FF2B5EF4-FFF2-40B4-BE49-F238E27FC236}">
                <a16:creationId xmlns:a16="http://schemas.microsoft.com/office/drawing/2014/main" id="{B5B6BAA2-D1AD-8C4E-91DE-7F67EDAD0E24}"/>
              </a:ext>
            </a:extLst>
          </p:cNvPr>
          <p:cNvSpPr>
            <a:spLocks noGrp="1"/>
          </p:cNvSpPr>
          <p:nvPr>
            <p:ph type="title"/>
          </p:nvPr>
        </p:nvSpPr>
        <p:spPr>
          <a:xfrm>
            <a:off x="192505" y="72192"/>
            <a:ext cx="11806990" cy="765843"/>
          </a:xfrm>
          <a:prstGeom prst="rect">
            <a:avLst/>
          </a:prstGeom>
        </p:spPr>
        <p:txBody>
          <a:bodyPr/>
          <a:lstStyle>
            <a:lvl1pPr>
              <a:defRPr>
                <a:solidFill>
                  <a:schemeClr val="tx2"/>
                </a:solidFill>
                <a:latin typeface="Myriad Pro" panose="020B0503030403020204" pitchFamily="34" charset="0"/>
              </a:defRPr>
            </a:lvl1pPr>
          </a:lstStyle>
          <a:p>
            <a:r>
              <a:rPr lang="en-US" dirty="0"/>
              <a:t>Click to edit Master title style</a:t>
            </a:r>
            <a:endParaRPr lang="ru-RU" dirty="0"/>
          </a:p>
        </p:txBody>
      </p:sp>
      <p:sp>
        <p:nvSpPr>
          <p:cNvPr id="11" name="Date Placeholder 2">
            <a:extLst>
              <a:ext uri="{FF2B5EF4-FFF2-40B4-BE49-F238E27FC236}">
                <a16:creationId xmlns:a16="http://schemas.microsoft.com/office/drawing/2014/main" id="{E2BC9F9F-4877-FA4F-9CB7-213050EE0B38}"/>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12" name="Footer Placeholder 3">
            <a:extLst>
              <a:ext uri="{FF2B5EF4-FFF2-40B4-BE49-F238E27FC236}">
                <a16:creationId xmlns:a16="http://schemas.microsoft.com/office/drawing/2014/main" id="{FC11485F-D050-6243-8582-A2EFAD5CF62B}"/>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13" name="Slide Number Placeholder 4">
            <a:extLst>
              <a:ext uri="{FF2B5EF4-FFF2-40B4-BE49-F238E27FC236}">
                <a16:creationId xmlns:a16="http://schemas.microsoft.com/office/drawing/2014/main" id="{257F2958-960D-074A-9A25-7F13F77FCF49}"/>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3223734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2421CFF-0CA8-2D43-9A85-70A177879AAB}"/>
              </a:ext>
            </a:extLst>
          </p:cNvPr>
          <p:cNvSpPr>
            <a:spLocks noGrp="1"/>
          </p:cNvSpPr>
          <p:nvPr>
            <p:ph type="title"/>
          </p:nvPr>
        </p:nvSpPr>
        <p:spPr>
          <a:xfrm>
            <a:off x="192505" y="72192"/>
            <a:ext cx="11806990" cy="765843"/>
          </a:xfrm>
          <a:prstGeom prst="rect">
            <a:avLst/>
          </a:prstGeom>
        </p:spPr>
        <p:txBody>
          <a:bodyPr/>
          <a:lstStyle>
            <a:lvl1pPr>
              <a:defRPr>
                <a:solidFill>
                  <a:schemeClr val="tx2"/>
                </a:solidFill>
                <a:latin typeface="Myriad Pro" panose="020B0503030403020204" pitchFamily="34" charset="0"/>
              </a:defRPr>
            </a:lvl1pPr>
          </a:lstStyle>
          <a:p>
            <a:r>
              <a:rPr lang="en-US" dirty="0"/>
              <a:t>Click to edit Master title style</a:t>
            </a:r>
            <a:endParaRPr lang="ru-RU" dirty="0"/>
          </a:p>
        </p:txBody>
      </p:sp>
      <p:sp>
        <p:nvSpPr>
          <p:cNvPr id="12" name="Content Placeholder 2">
            <a:extLst>
              <a:ext uri="{FF2B5EF4-FFF2-40B4-BE49-F238E27FC236}">
                <a16:creationId xmlns:a16="http://schemas.microsoft.com/office/drawing/2014/main" id="{4E43E9BD-88E6-9E40-A873-8D42F31C80D9}"/>
              </a:ext>
            </a:extLst>
          </p:cNvPr>
          <p:cNvSpPr>
            <a:spLocks noGrp="1"/>
          </p:cNvSpPr>
          <p:nvPr>
            <p:ph idx="1"/>
          </p:nvPr>
        </p:nvSpPr>
        <p:spPr>
          <a:xfrm>
            <a:off x="838200" y="1825625"/>
            <a:ext cx="5181600" cy="4351338"/>
          </a:xfrm>
          <a:prstGeom prst="rect">
            <a:avLst/>
          </a:prstGeom>
        </p:spPr>
        <p:txBody>
          <a:bodyPr/>
          <a:lstStyle>
            <a:lvl1pPr marL="228600" indent="-410400" fontAlgn="ctr">
              <a:lnSpc>
                <a:spcPct val="125000"/>
              </a:lnSpc>
              <a:spcBef>
                <a:spcPts val="700"/>
              </a:spcBef>
              <a:buClr>
                <a:schemeClr val="tx2"/>
              </a:buClr>
              <a:buSzPct val="70000"/>
              <a:buFont typeface="Menlo Bold" panose="020B0609030804020204" pitchFamily="49" charset="0"/>
              <a:buChar char="▶"/>
              <a:defRPr/>
            </a:lvl1pPr>
            <a:lvl2pPr marL="685800" indent="-288000" fontAlgn="ctr">
              <a:lnSpc>
                <a:spcPct val="125000"/>
              </a:lnSpc>
              <a:spcBef>
                <a:spcPts val="700"/>
              </a:spcBef>
              <a:buClr>
                <a:schemeClr val="tx1"/>
              </a:buClr>
              <a:buFont typeface="System Font Regular"/>
              <a:buChar char="–"/>
              <a:defRPr/>
            </a:lvl2pPr>
            <a:lvl3pPr marL="1143000" indent="-288000" fontAlgn="ctr">
              <a:lnSpc>
                <a:spcPct val="125000"/>
              </a:lnSpc>
              <a:spcBef>
                <a:spcPts val="700"/>
              </a:spcBef>
              <a:buClr>
                <a:schemeClr val="tx1"/>
              </a:buClr>
              <a:buFont typeface="System Font Regular"/>
              <a:buChar char="–"/>
              <a:defRPr/>
            </a:lvl3pPr>
            <a:lvl4pPr marL="1600200" indent="-288000" fontAlgn="ctr">
              <a:lnSpc>
                <a:spcPct val="125000"/>
              </a:lnSpc>
              <a:spcBef>
                <a:spcPts val="700"/>
              </a:spcBef>
              <a:buClr>
                <a:schemeClr val="tx1"/>
              </a:buClr>
              <a:buFont typeface="System Font Regular"/>
              <a:buChar char="–"/>
              <a:defRPr/>
            </a:lvl4pPr>
            <a:lvl5pPr marL="2057400" indent="-288000" fontAlgn="ctr">
              <a:lnSpc>
                <a:spcPct val="125000"/>
              </a:lnSpc>
              <a:spcBef>
                <a:spcPts val="700"/>
              </a:spcBef>
              <a:buClr>
                <a:schemeClr val="tx1"/>
              </a:buClr>
              <a:buFont typeface="System Font Regular"/>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13" name="Content Placeholder 2">
            <a:extLst>
              <a:ext uri="{FF2B5EF4-FFF2-40B4-BE49-F238E27FC236}">
                <a16:creationId xmlns:a16="http://schemas.microsoft.com/office/drawing/2014/main" id="{C5E55ABA-8C2A-FC4C-88D8-01897659CF30}"/>
              </a:ext>
            </a:extLst>
          </p:cNvPr>
          <p:cNvSpPr>
            <a:spLocks noGrp="1"/>
          </p:cNvSpPr>
          <p:nvPr>
            <p:ph idx="13"/>
          </p:nvPr>
        </p:nvSpPr>
        <p:spPr>
          <a:xfrm>
            <a:off x="6172202" y="1825625"/>
            <a:ext cx="5181600" cy="4351338"/>
          </a:xfrm>
          <a:prstGeom prst="rect">
            <a:avLst/>
          </a:prstGeom>
        </p:spPr>
        <p:txBody>
          <a:bodyPr/>
          <a:lstStyle>
            <a:lvl1pPr marL="228600" indent="-410400" fontAlgn="ctr">
              <a:lnSpc>
                <a:spcPct val="125000"/>
              </a:lnSpc>
              <a:spcBef>
                <a:spcPts val="700"/>
              </a:spcBef>
              <a:buClr>
                <a:schemeClr val="tx2"/>
              </a:buClr>
              <a:buSzPct val="70000"/>
              <a:buFont typeface="Menlo Bold" panose="020B0609030804020204" pitchFamily="49" charset="0"/>
              <a:buChar char="▶"/>
              <a:defRPr/>
            </a:lvl1pPr>
            <a:lvl2pPr marL="685800" indent="-288000" fontAlgn="ctr">
              <a:lnSpc>
                <a:spcPct val="125000"/>
              </a:lnSpc>
              <a:spcBef>
                <a:spcPts val="700"/>
              </a:spcBef>
              <a:buClr>
                <a:schemeClr val="tx1"/>
              </a:buClr>
              <a:buFont typeface="System Font Regular"/>
              <a:buChar char="–"/>
              <a:defRPr/>
            </a:lvl2pPr>
            <a:lvl3pPr marL="1143000" indent="-288000" fontAlgn="ctr">
              <a:lnSpc>
                <a:spcPct val="125000"/>
              </a:lnSpc>
              <a:spcBef>
                <a:spcPts val="700"/>
              </a:spcBef>
              <a:buClr>
                <a:schemeClr val="tx1"/>
              </a:buClr>
              <a:buFont typeface="System Font Regular"/>
              <a:buChar char="–"/>
              <a:defRPr/>
            </a:lvl3pPr>
            <a:lvl4pPr marL="1600200" indent="-288000" fontAlgn="ctr">
              <a:lnSpc>
                <a:spcPct val="125000"/>
              </a:lnSpc>
              <a:spcBef>
                <a:spcPts val="700"/>
              </a:spcBef>
              <a:buClr>
                <a:schemeClr val="tx1"/>
              </a:buClr>
              <a:buFont typeface="System Font Regular"/>
              <a:buChar char="–"/>
              <a:defRPr/>
            </a:lvl4pPr>
            <a:lvl5pPr marL="2057400" indent="-288000" fontAlgn="ctr">
              <a:lnSpc>
                <a:spcPct val="125000"/>
              </a:lnSpc>
              <a:spcBef>
                <a:spcPts val="700"/>
              </a:spcBef>
              <a:buClr>
                <a:schemeClr val="tx1"/>
              </a:buClr>
              <a:buFont typeface="System Font Regular"/>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14" name="Date Placeholder 2">
            <a:extLst>
              <a:ext uri="{FF2B5EF4-FFF2-40B4-BE49-F238E27FC236}">
                <a16:creationId xmlns:a16="http://schemas.microsoft.com/office/drawing/2014/main" id="{C69259D8-85C8-AD46-B6E4-4350B50F882D}"/>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15" name="Footer Placeholder 3">
            <a:extLst>
              <a:ext uri="{FF2B5EF4-FFF2-40B4-BE49-F238E27FC236}">
                <a16:creationId xmlns:a16="http://schemas.microsoft.com/office/drawing/2014/main" id="{FA87A59D-1541-EB41-9EF2-1C18CC03892E}"/>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16" name="Slide Number Placeholder 4">
            <a:extLst>
              <a:ext uri="{FF2B5EF4-FFF2-40B4-BE49-F238E27FC236}">
                <a16:creationId xmlns:a16="http://schemas.microsoft.com/office/drawing/2014/main" id="{2081CDC2-B8A8-5D4B-8EDE-A5B7366AABE0}"/>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707430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CC42286-19DA-4FA9-8EA1-884BEE2609B0}"/>
              </a:ext>
            </a:extLst>
          </p:cNvPr>
          <p:cNvSpPr>
            <a:spLocks noGrp="1"/>
          </p:cNvSpPr>
          <p:nvPr>
            <p:ph type="body" idx="1"/>
          </p:nvPr>
        </p:nvSpPr>
        <p:spPr>
          <a:xfrm>
            <a:off x="839788" y="1681163"/>
            <a:ext cx="5157787" cy="638704"/>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E87F72A3-437B-4178-8C02-76196725CEBD}"/>
              </a:ext>
            </a:extLst>
          </p:cNvPr>
          <p:cNvSpPr>
            <a:spLocks noGrp="1"/>
          </p:cNvSpPr>
          <p:nvPr>
            <p:ph type="body" sz="quarter" idx="3"/>
          </p:nvPr>
        </p:nvSpPr>
        <p:spPr>
          <a:xfrm>
            <a:off x="6172200" y="1681163"/>
            <a:ext cx="5183188" cy="638704"/>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itle 1">
            <a:extLst>
              <a:ext uri="{FF2B5EF4-FFF2-40B4-BE49-F238E27FC236}">
                <a16:creationId xmlns:a16="http://schemas.microsoft.com/office/drawing/2014/main" id="{2D541031-081E-D649-9D9D-B5A69B159B13}"/>
              </a:ext>
            </a:extLst>
          </p:cNvPr>
          <p:cNvSpPr>
            <a:spLocks noGrp="1"/>
          </p:cNvSpPr>
          <p:nvPr>
            <p:ph type="title"/>
          </p:nvPr>
        </p:nvSpPr>
        <p:spPr>
          <a:xfrm>
            <a:off x="192505" y="72192"/>
            <a:ext cx="11806990" cy="765843"/>
          </a:xfrm>
          <a:prstGeom prst="rect">
            <a:avLst/>
          </a:prstGeom>
        </p:spPr>
        <p:txBody>
          <a:bodyPr/>
          <a:lstStyle>
            <a:lvl1pPr>
              <a:defRPr>
                <a:solidFill>
                  <a:schemeClr val="tx2"/>
                </a:solidFill>
                <a:latin typeface="Myriad Pro" panose="020B0503030403020204" pitchFamily="34" charset="0"/>
              </a:defRPr>
            </a:lvl1pPr>
          </a:lstStyle>
          <a:p>
            <a:r>
              <a:rPr lang="en-US" dirty="0"/>
              <a:t>Click to edit Master title style</a:t>
            </a:r>
            <a:endParaRPr lang="ru-RU" dirty="0"/>
          </a:p>
        </p:txBody>
      </p:sp>
      <p:sp>
        <p:nvSpPr>
          <p:cNvPr id="14" name="Content Placeholder 2">
            <a:extLst>
              <a:ext uri="{FF2B5EF4-FFF2-40B4-BE49-F238E27FC236}">
                <a16:creationId xmlns:a16="http://schemas.microsoft.com/office/drawing/2014/main" id="{486A488A-F909-E947-83F1-C74499D0736E}"/>
              </a:ext>
            </a:extLst>
          </p:cNvPr>
          <p:cNvSpPr>
            <a:spLocks noGrp="1"/>
          </p:cNvSpPr>
          <p:nvPr>
            <p:ph idx="13"/>
          </p:nvPr>
        </p:nvSpPr>
        <p:spPr>
          <a:xfrm>
            <a:off x="838200" y="2505075"/>
            <a:ext cx="5181600" cy="3671888"/>
          </a:xfrm>
          <a:prstGeom prst="rect">
            <a:avLst/>
          </a:prstGeom>
        </p:spPr>
        <p:txBody>
          <a:bodyPr/>
          <a:lstStyle>
            <a:lvl1pPr marL="228600" indent="-410400" fontAlgn="ctr">
              <a:spcBef>
                <a:spcPts val="1000"/>
              </a:spcBef>
              <a:buClr>
                <a:schemeClr val="tx2"/>
              </a:buClr>
              <a:buSzPct val="70000"/>
              <a:buFont typeface="Menlo Bold" panose="020B0609030804020204" pitchFamily="49" charset="0"/>
              <a:buChar char="▶"/>
              <a:defRPr/>
            </a:lvl1pPr>
            <a:lvl2pPr marL="685800" indent="-288000" fontAlgn="ctr">
              <a:spcBef>
                <a:spcPts val="1000"/>
              </a:spcBef>
              <a:buClr>
                <a:schemeClr val="tx1"/>
              </a:buClr>
              <a:buFont typeface="System Font Regular"/>
              <a:buChar char="–"/>
              <a:defRPr/>
            </a:lvl2pPr>
            <a:lvl3pPr marL="1143000" indent="-288000" fontAlgn="ctr">
              <a:spcBef>
                <a:spcPts val="1000"/>
              </a:spcBef>
              <a:buClr>
                <a:schemeClr val="tx1"/>
              </a:buClr>
              <a:buFont typeface="System Font Regular"/>
              <a:buChar char="–"/>
              <a:defRPr/>
            </a:lvl3pPr>
            <a:lvl4pPr marL="1600200" indent="-288000" fontAlgn="ctr">
              <a:spcBef>
                <a:spcPts val="1000"/>
              </a:spcBef>
              <a:buClr>
                <a:schemeClr val="tx1"/>
              </a:buClr>
              <a:buFont typeface="System Font Regular"/>
              <a:buChar char="–"/>
              <a:defRPr/>
            </a:lvl4pPr>
            <a:lvl5pPr marL="2057400" indent="-288000" fontAlgn="ctr">
              <a:spcBef>
                <a:spcPts val="1000"/>
              </a:spcBef>
              <a:buClr>
                <a:schemeClr val="tx1"/>
              </a:buClr>
              <a:buFont typeface="System Font Regular"/>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15" name="Content Placeholder 2">
            <a:extLst>
              <a:ext uri="{FF2B5EF4-FFF2-40B4-BE49-F238E27FC236}">
                <a16:creationId xmlns:a16="http://schemas.microsoft.com/office/drawing/2014/main" id="{0F759048-16B0-D642-8642-7D4ABFDA658D}"/>
              </a:ext>
            </a:extLst>
          </p:cNvPr>
          <p:cNvSpPr>
            <a:spLocks noGrp="1"/>
          </p:cNvSpPr>
          <p:nvPr>
            <p:ph idx="14"/>
          </p:nvPr>
        </p:nvSpPr>
        <p:spPr>
          <a:xfrm>
            <a:off x="6172202" y="2505075"/>
            <a:ext cx="5181600" cy="3671888"/>
          </a:xfrm>
          <a:prstGeom prst="rect">
            <a:avLst/>
          </a:prstGeom>
        </p:spPr>
        <p:txBody>
          <a:bodyPr/>
          <a:lstStyle>
            <a:lvl1pPr marL="228600" indent="-410400" fontAlgn="ctr">
              <a:spcBef>
                <a:spcPts val="1000"/>
              </a:spcBef>
              <a:buClr>
                <a:schemeClr val="tx2"/>
              </a:buClr>
              <a:buSzPct val="70000"/>
              <a:buFont typeface="Menlo Bold" panose="020B0609030804020204" pitchFamily="49" charset="0"/>
              <a:buChar char="▶"/>
              <a:defRPr/>
            </a:lvl1pPr>
            <a:lvl2pPr marL="685800" indent="-288000" fontAlgn="ctr">
              <a:spcBef>
                <a:spcPts val="1000"/>
              </a:spcBef>
              <a:buClr>
                <a:schemeClr val="tx1"/>
              </a:buClr>
              <a:buFont typeface="System Font Regular"/>
              <a:buChar char="–"/>
              <a:defRPr/>
            </a:lvl2pPr>
            <a:lvl3pPr marL="1143000" indent="-288000" fontAlgn="ctr">
              <a:spcBef>
                <a:spcPts val="1000"/>
              </a:spcBef>
              <a:buClr>
                <a:schemeClr val="tx1"/>
              </a:buClr>
              <a:buFont typeface="System Font Regular"/>
              <a:buChar char="–"/>
              <a:defRPr/>
            </a:lvl3pPr>
            <a:lvl4pPr marL="1600200" indent="-288000" fontAlgn="ctr">
              <a:spcBef>
                <a:spcPts val="1000"/>
              </a:spcBef>
              <a:buClr>
                <a:schemeClr val="tx1"/>
              </a:buClr>
              <a:buFont typeface="System Font Regular"/>
              <a:buChar char="–"/>
              <a:defRPr/>
            </a:lvl4pPr>
            <a:lvl5pPr marL="2057400" indent="-288000" fontAlgn="ctr">
              <a:spcBef>
                <a:spcPts val="1000"/>
              </a:spcBef>
              <a:buClr>
                <a:schemeClr val="tx1"/>
              </a:buClr>
              <a:buFont typeface="System Font Regular"/>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16" name="Date Placeholder 2">
            <a:extLst>
              <a:ext uri="{FF2B5EF4-FFF2-40B4-BE49-F238E27FC236}">
                <a16:creationId xmlns:a16="http://schemas.microsoft.com/office/drawing/2014/main" id="{E22A78F8-7F3C-8E4F-BC9B-97654A58E5B3}"/>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17" name="Footer Placeholder 3">
            <a:extLst>
              <a:ext uri="{FF2B5EF4-FFF2-40B4-BE49-F238E27FC236}">
                <a16:creationId xmlns:a16="http://schemas.microsoft.com/office/drawing/2014/main" id="{3E43F7A9-3982-2043-B17B-FCCBA40BC835}"/>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18" name="Slide Number Placeholder 4">
            <a:extLst>
              <a:ext uri="{FF2B5EF4-FFF2-40B4-BE49-F238E27FC236}">
                <a16:creationId xmlns:a16="http://schemas.microsoft.com/office/drawing/2014/main" id="{A3852D33-C256-024C-AEEA-E4C92A0E9F8E}"/>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2286496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A1043-5271-44C1-ADF0-E00B147E53A8}"/>
              </a:ext>
            </a:extLst>
          </p:cNvPr>
          <p:cNvSpPr>
            <a:spLocks noGrp="1"/>
          </p:cNvSpPr>
          <p:nvPr>
            <p:ph type="title"/>
          </p:nvPr>
        </p:nvSpPr>
        <p:spPr>
          <a:xfrm>
            <a:off x="192505" y="72192"/>
            <a:ext cx="11806990" cy="765843"/>
          </a:xfrm>
          <a:prstGeom prst="rect">
            <a:avLst/>
          </a:prstGeom>
        </p:spPr>
        <p:txBody>
          <a:bodyPr/>
          <a:lstStyle>
            <a:lvl1pPr>
              <a:defRPr>
                <a:solidFill>
                  <a:schemeClr val="tx2"/>
                </a:solidFill>
                <a:latin typeface="Myriad Pro" panose="020B0503030403020204" pitchFamily="34" charset="0"/>
              </a:defRPr>
            </a:lvl1pPr>
          </a:lstStyle>
          <a:p>
            <a:r>
              <a:rPr lang="en-US" dirty="0"/>
              <a:t>Click to edit Master title style</a:t>
            </a:r>
            <a:endParaRPr lang="ru-RU" dirty="0"/>
          </a:p>
        </p:txBody>
      </p:sp>
      <p:sp>
        <p:nvSpPr>
          <p:cNvPr id="3" name="Date Placeholder 2">
            <a:extLst>
              <a:ext uri="{FF2B5EF4-FFF2-40B4-BE49-F238E27FC236}">
                <a16:creationId xmlns:a16="http://schemas.microsoft.com/office/drawing/2014/main" id="{53777E64-C5B1-4A45-AB4B-643B2527441F}"/>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4" name="Footer Placeholder 3">
            <a:extLst>
              <a:ext uri="{FF2B5EF4-FFF2-40B4-BE49-F238E27FC236}">
                <a16:creationId xmlns:a16="http://schemas.microsoft.com/office/drawing/2014/main" id="{C2511A6D-AEE4-4908-B506-9C7C56239F4E}"/>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5" name="Slide Number Placeholder 4">
            <a:extLst>
              <a:ext uri="{FF2B5EF4-FFF2-40B4-BE49-F238E27FC236}">
                <a16:creationId xmlns:a16="http://schemas.microsoft.com/office/drawing/2014/main" id="{75859DB5-F1E3-493B-B48D-AC38B5C22C74}"/>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287762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13739345-E1BD-E140-82C7-84ACB10AEEE9}"/>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6" name="Footer Placeholder 3">
            <a:extLst>
              <a:ext uri="{FF2B5EF4-FFF2-40B4-BE49-F238E27FC236}">
                <a16:creationId xmlns:a16="http://schemas.microsoft.com/office/drawing/2014/main" id="{668ED403-BD55-2D43-AC1A-AC8F5EEEB7C2}"/>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7" name="Slide Number Placeholder 4">
            <a:extLst>
              <a:ext uri="{FF2B5EF4-FFF2-40B4-BE49-F238E27FC236}">
                <a16:creationId xmlns:a16="http://schemas.microsoft.com/office/drawing/2014/main" id="{7287F617-A094-B649-BFCC-57208DBE33FD}"/>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447061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46A6-D67E-4169-B8D9-976701E8B23D}"/>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defRPr>
            </a:lvl1pPr>
          </a:lstStyle>
          <a:p>
            <a:r>
              <a:rPr lang="en-US" dirty="0"/>
              <a:t>Click to edit Master title style</a:t>
            </a:r>
            <a:endParaRPr lang="ru-RU" dirty="0"/>
          </a:p>
        </p:txBody>
      </p:sp>
      <p:sp>
        <p:nvSpPr>
          <p:cNvPr id="4" name="Text Placeholder 3">
            <a:extLst>
              <a:ext uri="{FF2B5EF4-FFF2-40B4-BE49-F238E27FC236}">
                <a16:creationId xmlns:a16="http://schemas.microsoft.com/office/drawing/2014/main" id="{F1CCB2E9-75B3-4AC8-AE0C-72B3523D8AF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Content Placeholder 2">
            <a:extLst>
              <a:ext uri="{FF2B5EF4-FFF2-40B4-BE49-F238E27FC236}">
                <a16:creationId xmlns:a16="http://schemas.microsoft.com/office/drawing/2014/main" id="{7AE26D22-B2E0-6E4C-9B37-6A8F27A36DBC}"/>
              </a:ext>
            </a:extLst>
          </p:cNvPr>
          <p:cNvSpPr>
            <a:spLocks noGrp="1"/>
          </p:cNvSpPr>
          <p:nvPr>
            <p:ph idx="13"/>
          </p:nvPr>
        </p:nvSpPr>
        <p:spPr>
          <a:xfrm>
            <a:off x="5180012" y="995363"/>
            <a:ext cx="6172200" cy="4873625"/>
          </a:xfrm>
          <a:prstGeom prst="rect">
            <a:avLst/>
          </a:prstGeom>
        </p:spPr>
        <p:txBody>
          <a:bodyPr/>
          <a:lstStyle>
            <a:lvl1pPr marL="228600" indent="-410400" fontAlgn="ctr">
              <a:spcBef>
                <a:spcPts val="1000"/>
              </a:spcBef>
              <a:buClr>
                <a:schemeClr val="tx2"/>
              </a:buClr>
              <a:buSzPct val="70000"/>
              <a:buFont typeface="Menlo Bold" panose="020B0609030804020204" pitchFamily="49" charset="0"/>
              <a:buChar char="▶"/>
              <a:defRPr/>
            </a:lvl1pPr>
            <a:lvl2pPr marL="685800" indent="-288000" fontAlgn="ctr">
              <a:spcBef>
                <a:spcPts val="1000"/>
              </a:spcBef>
              <a:buClr>
                <a:schemeClr val="tx1"/>
              </a:buClr>
              <a:buFont typeface="System Font Regular"/>
              <a:buChar char="–"/>
              <a:defRPr/>
            </a:lvl2pPr>
            <a:lvl3pPr marL="1143000" indent="-288000" fontAlgn="ctr">
              <a:spcBef>
                <a:spcPts val="1000"/>
              </a:spcBef>
              <a:buClr>
                <a:schemeClr val="tx1"/>
              </a:buClr>
              <a:buFont typeface="System Font Regular"/>
              <a:buChar char="–"/>
              <a:defRPr/>
            </a:lvl3pPr>
            <a:lvl4pPr marL="1600200" indent="-288000" fontAlgn="ctr">
              <a:spcBef>
                <a:spcPts val="1000"/>
              </a:spcBef>
              <a:buClr>
                <a:schemeClr val="tx1"/>
              </a:buClr>
              <a:buFont typeface="System Font Regular"/>
              <a:buChar char="–"/>
              <a:defRPr/>
            </a:lvl4pPr>
            <a:lvl5pPr marL="2057400" indent="-288000" fontAlgn="ctr">
              <a:spcBef>
                <a:spcPts val="1000"/>
              </a:spcBef>
              <a:buClr>
                <a:schemeClr val="tx1"/>
              </a:buClr>
              <a:buFont typeface="System Font Regular"/>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9" name="Date Placeholder 2">
            <a:extLst>
              <a:ext uri="{FF2B5EF4-FFF2-40B4-BE49-F238E27FC236}">
                <a16:creationId xmlns:a16="http://schemas.microsoft.com/office/drawing/2014/main" id="{37CEA2BD-7BE8-2043-9E66-8B1C0D9006C5}"/>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10" name="Footer Placeholder 3">
            <a:extLst>
              <a:ext uri="{FF2B5EF4-FFF2-40B4-BE49-F238E27FC236}">
                <a16:creationId xmlns:a16="http://schemas.microsoft.com/office/drawing/2014/main" id="{62BD1247-5574-7143-8D83-B990617E3A16}"/>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11" name="Slide Number Placeholder 4">
            <a:extLst>
              <a:ext uri="{FF2B5EF4-FFF2-40B4-BE49-F238E27FC236}">
                <a16:creationId xmlns:a16="http://schemas.microsoft.com/office/drawing/2014/main" id="{FB3E4B3B-1A43-3B47-9EB2-E062EC73E406}"/>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2454302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5016A-DF0B-46AD-8FF6-25C2FB76F2A7}"/>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defRPr>
            </a:lvl1pPr>
          </a:lstStyle>
          <a:p>
            <a:r>
              <a:rPr lang="en-US" dirty="0"/>
              <a:t>Click to edit Master title style</a:t>
            </a:r>
            <a:endParaRPr lang="ru-RU" dirty="0"/>
          </a:p>
        </p:txBody>
      </p:sp>
      <p:sp>
        <p:nvSpPr>
          <p:cNvPr id="3" name="Picture Placeholder 2">
            <a:extLst>
              <a:ext uri="{FF2B5EF4-FFF2-40B4-BE49-F238E27FC236}">
                <a16:creationId xmlns:a16="http://schemas.microsoft.com/office/drawing/2014/main" id="{AEED4A8F-1CD7-4325-8095-6F64380D90C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2D0D9CE2-D3BB-40B4-BBAF-21F8A4BAA95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2">
            <a:extLst>
              <a:ext uri="{FF2B5EF4-FFF2-40B4-BE49-F238E27FC236}">
                <a16:creationId xmlns:a16="http://schemas.microsoft.com/office/drawing/2014/main" id="{585147CD-29DD-924C-837A-07E8BC813188}"/>
              </a:ext>
            </a:extLst>
          </p:cNvPr>
          <p:cNvSpPr>
            <a:spLocks noGrp="1"/>
          </p:cNvSpPr>
          <p:nvPr>
            <p:ph type="dt" sz="half" idx="10"/>
          </p:nvPr>
        </p:nvSpPr>
        <p:spPr>
          <a:xfrm>
            <a:off x="5220393" y="6492875"/>
            <a:ext cx="1751214" cy="365125"/>
          </a:xfrm>
          <a:prstGeom prst="rect">
            <a:avLst/>
          </a:prstGeom>
        </p:spPr>
        <p:txBody>
          <a:bodyPr/>
          <a:lstStyle>
            <a:lvl1pPr algn="ctr">
              <a:defRPr>
                <a:solidFill>
                  <a:schemeClr val="tx2"/>
                </a:solidFill>
                <a:latin typeface="Myriad Pro" panose="020B0503030403020204" pitchFamily="34" charset="0"/>
              </a:defRPr>
            </a:lvl1pPr>
          </a:lstStyle>
          <a:p>
            <a:r>
              <a:rPr lang="ru-RU"/>
              <a:t>13.04.2020</a:t>
            </a:r>
            <a:endParaRPr lang="ru-RU" dirty="0"/>
          </a:p>
        </p:txBody>
      </p:sp>
      <p:sp>
        <p:nvSpPr>
          <p:cNvPr id="9" name="Footer Placeholder 3">
            <a:extLst>
              <a:ext uri="{FF2B5EF4-FFF2-40B4-BE49-F238E27FC236}">
                <a16:creationId xmlns:a16="http://schemas.microsoft.com/office/drawing/2014/main" id="{5FD5531D-6032-364A-96D3-883345633ECD}"/>
              </a:ext>
            </a:extLst>
          </p:cNvPr>
          <p:cNvSpPr>
            <a:spLocks noGrp="1"/>
          </p:cNvSpPr>
          <p:nvPr>
            <p:ph type="ftr" sz="quarter" idx="11"/>
          </p:nvPr>
        </p:nvSpPr>
        <p:spPr>
          <a:xfrm>
            <a:off x="192505" y="6492875"/>
            <a:ext cx="3767667" cy="365125"/>
          </a:xfrm>
          <a:prstGeom prst="rect">
            <a:avLst/>
          </a:prstGeom>
        </p:spPr>
        <p:txBody>
          <a:bodyPr/>
          <a:lstStyle>
            <a:lvl1pPr algn="l">
              <a:defRPr>
                <a:solidFill>
                  <a:schemeClr val="tx2"/>
                </a:solidFill>
                <a:latin typeface="Myriad Pro" panose="020B0503030403020204" pitchFamily="34" charset="0"/>
              </a:defRPr>
            </a:lvl1pPr>
          </a:lstStyle>
          <a:p>
            <a:r>
              <a:rPr lang="en-GB"/>
              <a:t>Artem Maevskiy, NRU HSE</a:t>
            </a:r>
            <a:endParaRPr lang="ru-RU" dirty="0"/>
          </a:p>
        </p:txBody>
      </p:sp>
      <p:sp>
        <p:nvSpPr>
          <p:cNvPr id="10" name="Slide Number Placeholder 4">
            <a:extLst>
              <a:ext uri="{FF2B5EF4-FFF2-40B4-BE49-F238E27FC236}">
                <a16:creationId xmlns:a16="http://schemas.microsoft.com/office/drawing/2014/main" id="{D36B28F7-104B-E24D-A7B4-CF4C894D89FD}"/>
              </a:ext>
            </a:extLst>
          </p:cNvPr>
          <p:cNvSpPr>
            <a:spLocks noGrp="1"/>
          </p:cNvSpPr>
          <p:nvPr>
            <p:ph type="sldNum" sz="quarter" idx="12"/>
          </p:nvPr>
        </p:nvSpPr>
        <p:spPr>
          <a:xfrm>
            <a:off x="9256295" y="6492875"/>
            <a:ext cx="2743200" cy="365125"/>
          </a:xfrm>
          <a:prstGeom prst="rect">
            <a:avLst/>
          </a:prstGeom>
        </p:spPr>
        <p:txBody>
          <a:bodyPr/>
          <a:lstStyle>
            <a:lvl1pPr>
              <a:defRPr>
                <a:solidFill>
                  <a:schemeClr val="tx2"/>
                </a:solidFill>
                <a:latin typeface="Myriad Pro" panose="020B0503030403020204" pitchFamily="34" charset="0"/>
              </a:defRPr>
            </a:lvl1pPr>
          </a:lstStyle>
          <a:p>
            <a:fld id="{21ABC42C-C6CC-47FC-904E-31573FDBB029}" type="slidenum">
              <a:rPr lang="ru-RU" smtClean="0"/>
              <a:pPr/>
              <a:t>‹#›</a:t>
            </a:fld>
            <a:endParaRPr lang="ru-RU"/>
          </a:p>
        </p:txBody>
      </p:sp>
    </p:spTree>
    <p:extLst>
      <p:ext uri="{BB962C8B-B14F-4D97-AF65-F5344CB8AC3E}">
        <p14:creationId xmlns:p14="http://schemas.microsoft.com/office/powerpoint/2010/main" val="2318024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CE14D91-C0DA-C147-ADBB-76BD6EF80A21}"/>
              </a:ext>
            </a:extLst>
          </p:cNvPr>
          <p:cNvSpPr txBox="1"/>
          <p:nvPr userDrawn="1"/>
        </p:nvSpPr>
        <p:spPr>
          <a:xfrm>
            <a:off x="5629413" y="6362151"/>
            <a:ext cx="1107996" cy="235642"/>
          </a:xfrm>
          <a:prstGeom prst="rect">
            <a:avLst/>
          </a:prstGeom>
          <a:noFill/>
        </p:spPr>
        <p:txBody>
          <a:bodyPr vert="vert" wrap="none" lIns="0" tIns="0" rIns="0" bIns="0" rtlCol="0" anchor="ctr" anchorCtr="1">
            <a:spAutoFit/>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RU" sz="7200" b="0" kern="1200" dirty="0">
                <a:solidFill>
                  <a:schemeClr val="bg1"/>
                </a:solidFill>
                <a:effectLst/>
                <a:latin typeface="+mn-lt"/>
                <a:ea typeface="+mn-ea"/>
                <a:cs typeface="+mn-cs"/>
              </a:rPr>
              <a:t>›</a:t>
            </a:r>
            <a:endParaRPr lang="en-RU" sz="7200" b="0" dirty="0">
              <a:solidFill>
                <a:schemeClr val="bg1"/>
              </a:solidFill>
            </a:endParaRPr>
          </a:p>
        </p:txBody>
      </p:sp>
      <p:sp>
        <p:nvSpPr>
          <p:cNvPr id="7" name="Title Placeholder 11">
            <a:extLst>
              <a:ext uri="{FF2B5EF4-FFF2-40B4-BE49-F238E27FC236}">
                <a16:creationId xmlns:a16="http://schemas.microsoft.com/office/drawing/2014/main" id="{A52A806E-2D27-144C-926E-C93B2813E600}"/>
              </a:ext>
            </a:extLst>
          </p:cNvPr>
          <p:cNvSpPr>
            <a:spLocks noGrp="1"/>
          </p:cNvSpPr>
          <p:nvPr>
            <p:ph type="title"/>
          </p:nvPr>
        </p:nvSpPr>
        <p:spPr>
          <a:xfrm>
            <a:off x="838200" y="2766218"/>
            <a:ext cx="10515600" cy="1325563"/>
          </a:xfrm>
          <a:prstGeom prst="rect">
            <a:avLst/>
          </a:prstGeom>
        </p:spPr>
        <p:txBody>
          <a:bodyPr vert="horz" lIns="91440" tIns="45720" rIns="91440" bIns="45720" rtlCol="0" anchor="ctr">
            <a:normAutofit/>
          </a:bodyPr>
          <a:lstStyle>
            <a:lvl1pPr algn="ctr">
              <a:defRPr sz="6000">
                <a:solidFill>
                  <a:schemeClr val="bg1"/>
                </a:solidFill>
              </a:defRPr>
            </a:lvl1pPr>
          </a:lstStyle>
          <a:p>
            <a:r>
              <a:rPr lang="en-GB" dirty="0"/>
              <a:t>Click to edit Master title style</a:t>
            </a:r>
            <a:endParaRPr lang="en-RU" dirty="0"/>
          </a:p>
        </p:txBody>
      </p:sp>
    </p:spTree>
    <p:extLst>
      <p:ext uri="{BB962C8B-B14F-4D97-AF65-F5344CB8AC3E}">
        <p14:creationId xmlns:p14="http://schemas.microsoft.com/office/powerpoint/2010/main" val="2566077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442D7C-F4CD-43B3-B107-D6071D5F07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F7CE25C0-DC9F-463E-AD4F-70E1B2A45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0B1B76B-B647-4085-9CED-4F7C9E5E00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u-RU"/>
              <a:t>13.04.2020</a:t>
            </a:r>
          </a:p>
        </p:txBody>
      </p:sp>
      <p:sp>
        <p:nvSpPr>
          <p:cNvPr id="5" name="Footer Placeholder 4">
            <a:extLst>
              <a:ext uri="{FF2B5EF4-FFF2-40B4-BE49-F238E27FC236}">
                <a16:creationId xmlns:a16="http://schemas.microsoft.com/office/drawing/2014/main" id="{348B54ED-F8A8-4546-92E6-B0C3483DDD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Artem Maevskiy, NRU HSE</a:t>
            </a:r>
            <a:endParaRPr lang="ru-RU"/>
          </a:p>
        </p:txBody>
      </p:sp>
      <p:sp>
        <p:nvSpPr>
          <p:cNvPr id="6" name="Slide Number Placeholder 5">
            <a:extLst>
              <a:ext uri="{FF2B5EF4-FFF2-40B4-BE49-F238E27FC236}">
                <a16:creationId xmlns:a16="http://schemas.microsoft.com/office/drawing/2014/main" id="{90C31F92-0CAF-447E-BDAB-0452548C87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ABC42C-C6CC-47FC-904E-31573FDBB029}" type="slidenum">
              <a:rPr lang="ru-RU" smtClean="0"/>
              <a:t>‹#›</a:t>
            </a:fld>
            <a:endParaRPr lang="ru-RU"/>
          </a:p>
        </p:txBody>
      </p:sp>
      <p:sp>
        <p:nvSpPr>
          <p:cNvPr id="8" name="Rectangle 7">
            <a:extLst>
              <a:ext uri="{FF2B5EF4-FFF2-40B4-BE49-F238E27FC236}">
                <a16:creationId xmlns:a16="http://schemas.microsoft.com/office/drawing/2014/main" id="{A4B2E241-46F9-5544-8F8D-13405BD3A216}"/>
              </a:ext>
            </a:extLst>
          </p:cNvPr>
          <p:cNvSpPr/>
          <p:nvPr userDrawn="1"/>
        </p:nvSpPr>
        <p:spPr>
          <a:xfrm>
            <a:off x="9359900" y="5207000"/>
            <a:ext cx="2832099" cy="1651000"/>
          </a:xfrm>
          <a:prstGeom prst="rect">
            <a:avLst/>
          </a:prstGeom>
          <a:solidFill>
            <a:schemeClr val="bg1">
              <a:lumMod val="95000"/>
              <a:alpha val="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4040647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9" r:id="rId9"/>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blog.br-analytics.ru/kak-rabotaet-analiz-tonalnosti-soobshhenij-v-brand-analytics/" TargetMode="External"/><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CE730-3866-4C84-A8C7-627697C64327}"/>
              </a:ext>
            </a:extLst>
          </p:cNvPr>
          <p:cNvSpPr>
            <a:spLocks noGrp="1"/>
          </p:cNvSpPr>
          <p:nvPr>
            <p:ph type="ctrTitle"/>
          </p:nvPr>
        </p:nvSpPr>
        <p:spPr>
          <a:xfrm>
            <a:off x="487587" y="1275654"/>
            <a:ext cx="11593043" cy="1113555"/>
          </a:xfrm>
        </p:spPr>
        <p:txBody>
          <a:bodyPr>
            <a:noAutofit/>
          </a:bodyPr>
          <a:lstStyle/>
          <a:p>
            <a:pPr algn="l"/>
            <a:r>
              <a:rPr lang="en-US" sz="5400" b="1" dirty="0">
                <a:solidFill>
                  <a:schemeClr val="tx2"/>
                </a:solidFill>
                <a:latin typeface="Myriad Pro" panose="020B0503030403020204" pitchFamily="34" charset="0"/>
              </a:rPr>
              <a:t>Data Analytics and Mining</a:t>
            </a:r>
            <a:endParaRPr lang="ru-RU" sz="5400" b="1" dirty="0">
              <a:solidFill>
                <a:schemeClr val="tx2"/>
              </a:solidFill>
              <a:latin typeface="Myriad Pro" panose="020B0503030403020204" pitchFamily="34" charset="0"/>
            </a:endParaRPr>
          </a:p>
        </p:txBody>
      </p:sp>
      <p:sp>
        <p:nvSpPr>
          <p:cNvPr id="3" name="Subtitle 2">
            <a:extLst>
              <a:ext uri="{FF2B5EF4-FFF2-40B4-BE49-F238E27FC236}">
                <a16:creationId xmlns:a16="http://schemas.microsoft.com/office/drawing/2014/main" id="{4DA9AA1C-0C90-46D1-AEB3-CA4FFB866C6A}"/>
              </a:ext>
            </a:extLst>
          </p:cNvPr>
          <p:cNvSpPr>
            <a:spLocks noGrp="1"/>
          </p:cNvSpPr>
          <p:nvPr>
            <p:ph type="subTitle" idx="1"/>
          </p:nvPr>
        </p:nvSpPr>
        <p:spPr>
          <a:xfrm>
            <a:off x="487587" y="2383140"/>
            <a:ext cx="9058748" cy="817742"/>
          </a:xfrm>
        </p:spPr>
        <p:txBody>
          <a:bodyPr>
            <a:normAutofit/>
          </a:bodyPr>
          <a:lstStyle/>
          <a:p>
            <a:pPr algn="l">
              <a:lnSpc>
                <a:spcPct val="120000"/>
              </a:lnSpc>
            </a:pPr>
            <a:r>
              <a:rPr lang="en-US" sz="2800" dirty="0">
                <a:latin typeface="Myriad Pro" panose="020B0503030403020204" pitchFamily="34" charset="0"/>
              </a:rPr>
              <a:t>Variables, Frequency Distribution, Central Tendency</a:t>
            </a:r>
            <a:endParaRPr lang="ru-RU" sz="2800" dirty="0">
              <a:latin typeface="Myriad Pro" panose="020B0503030403020204" pitchFamily="34" charset="0"/>
            </a:endParaRPr>
          </a:p>
        </p:txBody>
      </p:sp>
      <p:pic>
        <p:nvPicPr>
          <p:cNvPr id="5" name="Picture 4">
            <a:extLst>
              <a:ext uri="{FF2B5EF4-FFF2-40B4-BE49-F238E27FC236}">
                <a16:creationId xmlns:a16="http://schemas.microsoft.com/office/drawing/2014/main" id="{6DC30B9A-F4A3-4C5D-B6B4-792124224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974" y="5795054"/>
            <a:ext cx="771527" cy="703378"/>
          </a:xfrm>
          <a:prstGeom prst="rect">
            <a:avLst/>
          </a:prstGeom>
        </p:spPr>
      </p:pic>
      <p:sp>
        <p:nvSpPr>
          <p:cNvPr id="6" name="Subtitle 2">
            <a:extLst>
              <a:ext uri="{FF2B5EF4-FFF2-40B4-BE49-F238E27FC236}">
                <a16:creationId xmlns:a16="http://schemas.microsoft.com/office/drawing/2014/main" id="{0D11CC3E-12F5-40B6-A07A-A309493D8628}"/>
              </a:ext>
            </a:extLst>
          </p:cNvPr>
          <p:cNvSpPr txBox="1">
            <a:spLocks/>
          </p:cNvSpPr>
          <p:nvPr/>
        </p:nvSpPr>
        <p:spPr>
          <a:xfrm>
            <a:off x="487588" y="4626172"/>
            <a:ext cx="8170636" cy="30650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5000"/>
              </a:lnSpc>
            </a:pPr>
            <a:r>
              <a:rPr lang="en-US" sz="1800" dirty="0">
                <a:latin typeface="Myriad Pro" panose="020B0503030403020204" pitchFamily="34" charset="0"/>
              </a:rPr>
              <a:t>Fedor </a:t>
            </a:r>
            <a:r>
              <a:rPr lang="en-US" sz="1800" dirty="0" err="1">
                <a:latin typeface="Myriad Pro" panose="020B0503030403020204" pitchFamily="34" charset="0"/>
              </a:rPr>
              <a:t>Shlyakhov</a:t>
            </a:r>
            <a:endParaRPr lang="ru-RU" sz="1800" baseline="30000" dirty="0">
              <a:latin typeface="Myriad Pro" panose="020B0503030403020204" pitchFamily="34" charset="0"/>
            </a:endParaRPr>
          </a:p>
        </p:txBody>
      </p:sp>
      <p:sp>
        <p:nvSpPr>
          <p:cNvPr id="8" name="Subtitle 2">
            <a:extLst>
              <a:ext uri="{FF2B5EF4-FFF2-40B4-BE49-F238E27FC236}">
                <a16:creationId xmlns:a16="http://schemas.microsoft.com/office/drawing/2014/main" id="{A6F55D94-7416-4ACE-AB14-962F7C28DF78}"/>
              </a:ext>
            </a:extLst>
          </p:cNvPr>
          <p:cNvSpPr txBox="1">
            <a:spLocks/>
          </p:cNvSpPr>
          <p:nvPr/>
        </p:nvSpPr>
        <p:spPr>
          <a:xfrm>
            <a:off x="487588" y="5006667"/>
            <a:ext cx="8170636" cy="5756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400" dirty="0">
                <a:latin typeface="Myriad Pro" panose="020B0503030403020204" pitchFamily="34" charset="0"/>
              </a:rPr>
              <a:t>National Research University Higher School of Economics</a:t>
            </a:r>
            <a:endParaRPr lang="ru-RU" sz="1400" dirty="0">
              <a:latin typeface="Myriad Pro" panose="020B0503030403020204" pitchFamily="34" charset="0"/>
            </a:endParaRPr>
          </a:p>
        </p:txBody>
      </p:sp>
      <p:sp>
        <p:nvSpPr>
          <p:cNvPr id="9" name="Subtitle 2">
            <a:extLst>
              <a:ext uri="{FF2B5EF4-FFF2-40B4-BE49-F238E27FC236}">
                <a16:creationId xmlns:a16="http://schemas.microsoft.com/office/drawing/2014/main" id="{18B3FAFC-1BF2-4748-8051-3C9A1EE67F7B}"/>
              </a:ext>
            </a:extLst>
          </p:cNvPr>
          <p:cNvSpPr txBox="1">
            <a:spLocks/>
          </p:cNvSpPr>
          <p:nvPr/>
        </p:nvSpPr>
        <p:spPr>
          <a:xfrm>
            <a:off x="1524000" y="6475050"/>
            <a:ext cx="9144000" cy="4390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a:solidFill>
                  <a:schemeClr val="tx2"/>
                </a:solidFill>
                <a:latin typeface="Myriad Pro" panose="020B0503030403020204" pitchFamily="34" charset="0"/>
              </a:rPr>
              <a:t>September 18, 2026</a:t>
            </a:r>
            <a:endParaRPr lang="ru-RU" sz="1200" dirty="0">
              <a:solidFill>
                <a:schemeClr val="tx2"/>
              </a:solidFill>
              <a:latin typeface="Myriad Pro" panose="020B0503030403020204" pitchFamily="34" charset="0"/>
            </a:endParaRPr>
          </a:p>
        </p:txBody>
      </p:sp>
      <p:sp>
        <p:nvSpPr>
          <p:cNvPr id="10" name="Subtitle 2">
            <a:extLst>
              <a:ext uri="{FF2B5EF4-FFF2-40B4-BE49-F238E27FC236}">
                <a16:creationId xmlns:a16="http://schemas.microsoft.com/office/drawing/2014/main" id="{DFE2ABAA-57A9-2C42-A4A9-8C028F7A2267}"/>
              </a:ext>
            </a:extLst>
          </p:cNvPr>
          <p:cNvSpPr txBox="1">
            <a:spLocks/>
          </p:cNvSpPr>
          <p:nvPr/>
        </p:nvSpPr>
        <p:spPr>
          <a:xfrm>
            <a:off x="487588" y="3624152"/>
            <a:ext cx="10332811" cy="43904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200" dirty="0">
                <a:latin typeface="Myriad Pro" panose="020B0503030403020204" pitchFamily="34" charset="0"/>
              </a:rPr>
              <a:t>Data Analytics and Mining, 2026</a:t>
            </a:r>
            <a:endParaRPr lang="ru-RU" sz="2200" dirty="0">
              <a:latin typeface="Myriad Pro" panose="020B0503030403020204" pitchFamily="34" charset="0"/>
            </a:endParaRPr>
          </a:p>
        </p:txBody>
      </p:sp>
    </p:spTree>
    <p:extLst>
      <p:ext uri="{BB962C8B-B14F-4D97-AF65-F5344CB8AC3E}">
        <p14:creationId xmlns:p14="http://schemas.microsoft.com/office/powerpoint/2010/main" val="1014045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1533D-97DC-CA48-AB6D-EB676B66A733}"/>
              </a:ext>
            </a:extLst>
          </p:cNvPr>
          <p:cNvSpPr>
            <a:spLocks noGrp="1"/>
          </p:cNvSpPr>
          <p:nvPr>
            <p:ph type="title"/>
          </p:nvPr>
        </p:nvSpPr>
        <p:spPr/>
        <p:txBody>
          <a:bodyPr/>
          <a:lstStyle/>
          <a:p>
            <a:r>
              <a:rPr lang="en-US" dirty="0"/>
              <a:t>Variables</a:t>
            </a:r>
            <a:endParaRPr lang="en-RU"/>
          </a:p>
        </p:txBody>
      </p:sp>
    </p:spTree>
    <p:extLst>
      <p:ext uri="{BB962C8B-B14F-4D97-AF65-F5344CB8AC3E}">
        <p14:creationId xmlns:p14="http://schemas.microsoft.com/office/powerpoint/2010/main" val="3681150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0E23-A522-1847-9011-55D1A5EED1AE}"/>
              </a:ext>
            </a:extLst>
          </p:cNvPr>
          <p:cNvSpPr>
            <a:spLocks noGrp="1"/>
          </p:cNvSpPr>
          <p:nvPr>
            <p:ph type="title"/>
          </p:nvPr>
        </p:nvSpPr>
        <p:spPr/>
        <p:txBody>
          <a:bodyPr/>
          <a:lstStyle/>
          <a:p>
            <a:r>
              <a:rPr lang="en-US" dirty="0"/>
              <a:t>Constructs</a:t>
            </a:r>
            <a:endParaRPr lang="en-RU" dirty="0"/>
          </a:p>
        </p:txBody>
      </p:sp>
      <p:sp>
        <p:nvSpPr>
          <p:cNvPr id="3" name="Footer Placeholder 2">
            <a:extLst>
              <a:ext uri="{FF2B5EF4-FFF2-40B4-BE49-F238E27FC236}">
                <a16:creationId xmlns:a16="http://schemas.microsoft.com/office/drawing/2014/main" id="{F494FB56-BB3B-2A4E-9E79-F8EB1AD1BD4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292A430F-BB18-DE3A-FDC9-9D78BEA57EE6}"/>
              </a:ext>
            </a:extLst>
          </p:cNvPr>
          <p:cNvSpPr>
            <a:spLocks noGrp="1"/>
          </p:cNvSpPr>
          <p:nvPr/>
        </p:nvSpPr>
        <p:spPr>
          <a:xfrm>
            <a:off x="192505" y="1877913"/>
            <a:ext cx="11253824" cy="2498144"/>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2000"/>
              <a:t>Some variables, such as height, weight, and eye color are well-defined, concrete entities that </a:t>
            </a:r>
            <a:r>
              <a:rPr lang="en-RU" sz="2000" b="1"/>
              <a:t>can be observed and measured directly</a:t>
            </a:r>
            <a:r>
              <a:rPr lang="en-RU" sz="2000"/>
              <a:t>.</a:t>
            </a:r>
            <a:endParaRPr lang="en-US" sz="2000" dirty="0"/>
          </a:p>
          <a:p>
            <a:pPr marL="432000" algn="just"/>
            <a:endParaRPr lang="en-RU" sz="2000" dirty="0"/>
          </a:p>
          <a:p>
            <a:pPr marL="432000" algn="just"/>
            <a:r>
              <a:rPr lang="en-RU" sz="2000"/>
              <a:t>Variables like intelligence, anxiety, and hunger are called constructs, and because they are intangible and cannot be directly observed, they are often called </a:t>
            </a:r>
            <a:r>
              <a:rPr lang="en-RU" sz="2000" b="1"/>
              <a:t>hypothetical constructs</a:t>
            </a:r>
            <a:r>
              <a:rPr lang="en-RU" sz="2000"/>
              <a:t>.</a:t>
            </a:r>
            <a:endParaRPr lang="en-RU" sz="2000" dirty="0"/>
          </a:p>
          <a:p>
            <a:pPr marL="309600" lvl="1" indent="0">
              <a:buNone/>
            </a:pPr>
            <a:r>
              <a:rPr lang="en-US" sz="2800" b="0" dirty="0"/>
              <a:t>			</a:t>
            </a:r>
            <a:endParaRPr lang="en-RU" sz="2800" dirty="0"/>
          </a:p>
        </p:txBody>
      </p:sp>
    </p:spTree>
    <p:extLst>
      <p:ext uri="{BB962C8B-B14F-4D97-AF65-F5344CB8AC3E}">
        <p14:creationId xmlns:p14="http://schemas.microsoft.com/office/powerpoint/2010/main" val="2114337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6CE8C-AC37-A545-9C89-913EC519B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519B3-31E1-4616-96AE-A40FF8C8768B}"/>
              </a:ext>
            </a:extLst>
          </p:cNvPr>
          <p:cNvSpPr>
            <a:spLocks noGrp="1"/>
          </p:cNvSpPr>
          <p:nvPr>
            <p:ph type="title"/>
          </p:nvPr>
        </p:nvSpPr>
        <p:spPr/>
        <p:txBody>
          <a:bodyPr/>
          <a:lstStyle/>
          <a:p>
            <a:r>
              <a:rPr lang="en-US" dirty="0"/>
              <a:t>Numerical Variables</a:t>
            </a:r>
            <a:endParaRPr lang="en-RU" dirty="0"/>
          </a:p>
        </p:txBody>
      </p:sp>
      <p:sp>
        <p:nvSpPr>
          <p:cNvPr id="3" name="Footer Placeholder 2">
            <a:extLst>
              <a:ext uri="{FF2B5EF4-FFF2-40B4-BE49-F238E27FC236}">
                <a16:creationId xmlns:a16="http://schemas.microsoft.com/office/drawing/2014/main" id="{A9D6A009-6896-9280-0EA2-FC5F97E94F2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18A3DFB1-5582-B678-CB2F-1A82E266913F}"/>
              </a:ext>
            </a:extLst>
          </p:cNvPr>
          <p:cNvSpPr>
            <a:spLocks noGrp="1"/>
          </p:cNvSpPr>
          <p:nvPr/>
        </p:nvSpPr>
        <p:spPr>
          <a:xfrm>
            <a:off x="192505" y="1486027"/>
            <a:ext cx="4485631" cy="4041194"/>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Some variables, such as height, weight, and eye color are well-defined, concrete entities that </a:t>
            </a:r>
            <a:r>
              <a:rPr lang="en-RU" sz="1800" b="1"/>
              <a:t>can be observed and measured directly</a:t>
            </a:r>
            <a:r>
              <a:rPr lang="en-RU" sz="1800"/>
              <a:t>.</a:t>
            </a:r>
            <a:endParaRPr lang="en-US" sz="1800" dirty="0"/>
          </a:p>
          <a:p>
            <a:pPr marL="432000" algn="just"/>
            <a:endParaRPr lang="en-RU" sz="1800" dirty="0"/>
          </a:p>
          <a:p>
            <a:pPr marL="432000" algn="just"/>
            <a:r>
              <a:rPr lang="en-RU" sz="1800"/>
              <a:t>Variables like intelligence, anxiety, and hunger are called constructs, and because they are intangible and cannot be directly observed, they are often called </a:t>
            </a:r>
            <a:r>
              <a:rPr lang="en-RU" sz="1800" b="1"/>
              <a:t>hypothetical constructs</a:t>
            </a:r>
            <a:r>
              <a:rPr lang="en-RU" sz="1800"/>
              <a:t>.</a:t>
            </a:r>
            <a:endParaRPr lang="en-RU" sz="1800" dirty="0"/>
          </a:p>
        </p:txBody>
      </p:sp>
      <p:cxnSp>
        <p:nvCxnSpPr>
          <p:cNvPr id="5" name="Google Shape;97;p17">
            <a:extLst>
              <a:ext uri="{FF2B5EF4-FFF2-40B4-BE49-F238E27FC236}">
                <a16:creationId xmlns:a16="http://schemas.microsoft.com/office/drawing/2014/main" id="{27470B9F-0FC1-DA0D-AC96-14BE76271D9E}"/>
              </a:ext>
            </a:extLst>
          </p:cNvPr>
          <p:cNvCxnSpPr/>
          <p:nvPr/>
        </p:nvCxnSpPr>
        <p:spPr>
          <a:xfrm rot="10800000" flipH="1">
            <a:off x="4984596" y="3499693"/>
            <a:ext cx="918900" cy="411000"/>
          </a:xfrm>
          <a:prstGeom prst="straightConnector1">
            <a:avLst/>
          </a:prstGeom>
          <a:noFill/>
          <a:ln w="76200" cap="flat" cmpd="sng">
            <a:solidFill>
              <a:srgbClr val="00FFFF"/>
            </a:solidFill>
            <a:prstDash val="solid"/>
            <a:round/>
            <a:headEnd type="none" w="med" len="med"/>
            <a:tailEnd type="stealth" w="med" len="med"/>
          </a:ln>
        </p:spPr>
      </p:cxnSp>
      <p:sp>
        <p:nvSpPr>
          <p:cNvPr id="7" name="Content Placeholder 1">
            <a:extLst>
              <a:ext uri="{FF2B5EF4-FFF2-40B4-BE49-F238E27FC236}">
                <a16:creationId xmlns:a16="http://schemas.microsoft.com/office/drawing/2014/main" id="{0690A648-322C-1899-1660-736EE75949D8}"/>
              </a:ext>
            </a:extLst>
          </p:cNvPr>
          <p:cNvSpPr>
            <a:spLocks noGrp="1"/>
          </p:cNvSpPr>
          <p:nvPr/>
        </p:nvSpPr>
        <p:spPr>
          <a:xfrm>
            <a:off x="6288506" y="2216666"/>
            <a:ext cx="5231302" cy="2424667"/>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RU" sz="1800"/>
              <a:t>When measuring a continuous variable, it should be very rare to obtain identical measurements for two different individuals. Because a continuous variable has an infinite number of possible values, it should be almost impossible for two people to have exactly the same score. -&gt; We use </a:t>
            </a:r>
            <a:r>
              <a:rPr lang="en-RU" sz="1800" b="1"/>
              <a:t>intervals</a:t>
            </a:r>
            <a:r>
              <a:rPr lang="en-US" sz="1800" b="1" dirty="0"/>
              <a:t>.</a:t>
            </a:r>
            <a:endParaRPr lang="en-RU" sz="1800" b="1" dirty="0"/>
          </a:p>
        </p:txBody>
      </p:sp>
    </p:spTree>
    <p:extLst>
      <p:ext uri="{BB962C8B-B14F-4D97-AF65-F5344CB8AC3E}">
        <p14:creationId xmlns:p14="http://schemas.microsoft.com/office/powerpoint/2010/main" val="176491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D8967-AD75-05FF-A9B5-B31790FAC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D06ED-A36B-AFD6-D89C-E30297973A62}"/>
              </a:ext>
            </a:extLst>
          </p:cNvPr>
          <p:cNvSpPr>
            <a:spLocks noGrp="1"/>
          </p:cNvSpPr>
          <p:nvPr>
            <p:ph type="title"/>
          </p:nvPr>
        </p:nvSpPr>
        <p:spPr/>
        <p:txBody>
          <a:bodyPr/>
          <a:lstStyle/>
          <a:p>
            <a:r>
              <a:rPr lang="en-US" dirty="0"/>
              <a:t>Categorical Variables</a:t>
            </a:r>
            <a:endParaRPr lang="en-RU" dirty="0"/>
          </a:p>
        </p:txBody>
      </p:sp>
      <p:sp>
        <p:nvSpPr>
          <p:cNvPr id="3" name="Footer Placeholder 2">
            <a:extLst>
              <a:ext uri="{FF2B5EF4-FFF2-40B4-BE49-F238E27FC236}">
                <a16:creationId xmlns:a16="http://schemas.microsoft.com/office/drawing/2014/main" id="{39287144-A83F-FCB4-F302-E8C6BA130DA9}"/>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25F44D56-CF71-43AF-1F3D-DB9796C972D9}"/>
              </a:ext>
            </a:extLst>
          </p:cNvPr>
          <p:cNvSpPr>
            <a:spLocks noGrp="1"/>
          </p:cNvSpPr>
          <p:nvPr/>
        </p:nvSpPr>
        <p:spPr>
          <a:xfrm>
            <a:off x="192505" y="1486027"/>
            <a:ext cx="4485631" cy="4726994"/>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A </a:t>
            </a:r>
            <a:r>
              <a:rPr lang="en-RU" sz="1800" b="1"/>
              <a:t>nominal scale</a:t>
            </a:r>
            <a:r>
              <a:rPr lang="en-RU" sz="1800"/>
              <a:t> consists of a set of categories that have different names. Measurements on a nominal scale label and categorize observations, but do not make any quantitative distinctions between observations.</a:t>
            </a:r>
            <a:endParaRPr lang="en-US" sz="1800" dirty="0"/>
          </a:p>
          <a:p>
            <a:pPr marL="432000" algn="just"/>
            <a:endParaRPr lang="en-RU" sz="1800" dirty="0"/>
          </a:p>
          <a:p>
            <a:pPr marL="432000" algn="just"/>
            <a:r>
              <a:rPr lang="en-RU" sz="1800"/>
              <a:t>An </a:t>
            </a:r>
            <a:r>
              <a:rPr lang="en-RU" sz="1800" b="1"/>
              <a:t>ordinal scale</a:t>
            </a:r>
            <a:r>
              <a:rPr lang="en-RU" sz="1800"/>
              <a:t> consists of a set of categories that are organized in an ordered sequence. Measurements on an ordinal scale rank observations in terms of size or magnitude.</a:t>
            </a:r>
            <a:endParaRPr lang="en-RU" sz="1800" dirty="0"/>
          </a:p>
        </p:txBody>
      </p:sp>
      <p:cxnSp>
        <p:nvCxnSpPr>
          <p:cNvPr id="5" name="Google Shape;97;p17">
            <a:extLst>
              <a:ext uri="{FF2B5EF4-FFF2-40B4-BE49-F238E27FC236}">
                <a16:creationId xmlns:a16="http://schemas.microsoft.com/office/drawing/2014/main" id="{ADC01854-F1CC-CE08-5862-AE95B870695D}"/>
              </a:ext>
            </a:extLst>
          </p:cNvPr>
          <p:cNvCxnSpPr/>
          <p:nvPr/>
        </p:nvCxnSpPr>
        <p:spPr>
          <a:xfrm rot="10800000" flipH="1">
            <a:off x="4984596" y="3499693"/>
            <a:ext cx="918900" cy="411000"/>
          </a:xfrm>
          <a:prstGeom prst="straightConnector1">
            <a:avLst/>
          </a:prstGeom>
          <a:noFill/>
          <a:ln w="76200" cap="flat" cmpd="sng">
            <a:solidFill>
              <a:srgbClr val="00FFFF"/>
            </a:solidFill>
            <a:prstDash val="solid"/>
            <a:round/>
            <a:headEnd type="none" w="med" len="med"/>
            <a:tailEnd type="stealth" w="med" len="med"/>
          </a:ln>
        </p:spPr>
      </p:cxnSp>
      <p:sp>
        <p:nvSpPr>
          <p:cNvPr id="7" name="Content Placeholder 1">
            <a:extLst>
              <a:ext uri="{FF2B5EF4-FFF2-40B4-BE49-F238E27FC236}">
                <a16:creationId xmlns:a16="http://schemas.microsoft.com/office/drawing/2014/main" id="{992851C9-730C-BDC5-D72A-B11CB7391F09}"/>
              </a:ext>
            </a:extLst>
          </p:cNvPr>
          <p:cNvSpPr>
            <a:spLocks noGrp="1"/>
          </p:cNvSpPr>
          <p:nvPr/>
        </p:nvSpPr>
        <p:spPr>
          <a:xfrm>
            <a:off x="6288506" y="2216666"/>
            <a:ext cx="5231302" cy="2424667"/>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RU" sz="1800"/>
              <a:t>With measurements from an </a:t>
            </a:r>
            <a:r>
              <a:rPr lang="en-RU" sz="1800" b="1"/>
              <a:t>ordinal scale</a:t>
            </a:r>
            <a:r>
              <a:rPr lang="en-RU" sz="1800"/>
              <a:t>, you can determine whether two individuals are different and you can determine the direction of difference. However, ordinal measurements do not allow you to determine the size of the difference between two individuals.</a:t>
            </a:r>
            <a:endParaRPr lang="en-RU" sz="1800" b="1" dirty="0"/>
          </a:p>
        </p:txBody>
      </p:sp>
    </p:spTree>
    <p:extLst>
      <p:ext uri="{BB962C8B-B14F-4D97-AF65-F5344CB8AC3E}">
        <p14:creationId xmlns:p14="http://schemas.microsoft.com/office/powerpoint/2010/main" val="438079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F9F3-9F88-99C4-66C7-EE6C5EFCC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9CDD3-EF74-F449-56A4-BB4E89EF51B1}"/>
              </a:ext>
            </a:extLst>
          </p:cNvPr>
          <p:cNvSpPr>
            <a:spLocks noGrp="1"/>
          </p:cNvSpPr>
          <p:nvPr>
            <p:ph type="title"/>
          </p:nvPr>
        </p:nvSpPr>
        <p:spPr/>
        <p:txBody>
          <a:bodyPr/>
          <a:lstStyle/>
          <a:p>
            <a:r>
              <a:rPr lang="en-US" dirty="0"/>
              <a:t>Variables’ types</a:t>
            </a:r>
            <a:endParaRPr lang="en-RU" dirty="0"/>
          </a:p>
        </p:txBody>
      </p:sp>
      <p:sp>
        <p:nvSpPr>
          <p:cNvPr id="3" name="Footer Placeholder 2">
            <a:extLst>
              <a:ext uri="{FF2B5EF4-FFF2-40B4-BE49-F238E27FC236}">
                <a16:creationId xmlns:a16="http://schemas.microsoft.com/office/drawing/2014/main" id="{034CBD3F-0946-804F-AF74-09D0B93DEB0B}"/>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5" name="Content Placeholder 1">
            <a:extLst>
              <a:ext uri="{FF2B5EF4-FFF2-40B4-BE49-F238E27FC236}">
                <a16:creationId xmlns:a16="http://schemas.microsoft.com/office/drawing/2014/main" id="{90301D13-930E-A70C-DAB5-6F0B486025A6}"/>
              </a:ext>
            </a:extLst>
          </p:cNvPr>
          <p:cNvSpPr>
            <a:spLocks noGrp="1"/>
          </p:cNvSpPr>
          <p:nvPr/>
        </p:nvSpPr>
        <p:spPr>
          <a:xfrm>
            <a:off x="119149" y="1486315"/>
            <a:ext cx="3841023" cy="505750"/>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RU" sz="1800" b="1"/>
              <a:t>Likert scale (ordinal scale)</a:t>
            </a:r>
            <a:r>
              <a:rPr lang="en-US" sz="1600" b="0" dirty="0"/>
              <a:t>	</a:t>
            </a:r>
            <a:r>
              <a:rPr lang="en-US" sz="2800" b="0" dirty="0"/>
              <a:t>	</a:t>
            </a:r>
            <a:endParaRPr lang="en-RU" sz="2800" dirty="0"/>
          </a:p>
        </p:txBody>
      </p:sp>
      <p:pic>
        <p:nvPicPr>
          <p:cNvPr id="4" name="Google Shape;130;p21">
            <a:extLst>
              <a:ext uri="{FF2B5EF4-FFF2-40B4-BE49-F238E27FC236}">
                <a16:creationId xmlns:a16="http://schemas.microsoft.com/office/drawing/2014/main" id="{E0C52245-7FAD-0EF0-8731-43D40EAC145C}"/>
              </a:ext>
            </a:extLst>
          </p:cNvPr>
          <p:cNvPicPr preferRelativeResize="0"/>
          <p:nvPr/>
        </p:nvPicPr>
        <p:blipFill rotWithShape="1">
          <a:blip r:embed="rId2">
            <a:alphaModFix/>
          </a:blip>
          <a:srcRect b="36524"/>
          <a:stretch/>
        </p:blipFill>
        <p:spPr>
          <a:xfrm>
            <a:off x="219875" y="2313857"/>
            <a:ext cx="4099032" cy="3703222"/>
          </a:xfrm>
          <a:prstGeom prst="rect">
            <a:avLst/>
          </a:prstGeom>
          <a:noFill/>
          <a:ln>
            <a:noFill/>
          </a:ln>
        </p:spPr>
      </p:pic>
      <p:sp>
        <p:nvSpPr>
          <p:cNvPr id="7" name="Google Shape;137;p22">
            <a:extLst>
              <a:ext uri="{FF2B5EF4-FFF2-40B4-BE49-F238E27FC236}">
                <a16:creationId xmlns:a16="http://schemas.microsoft.com/office/drawing/2014/main" id="{0241941D-2768-EB71-51BF-D2F2BA29FDA2}"/>
              </a:ext>
            </a:extLst>
          </p:cNvPr>
          <p:cNvSpPr txBox="1"/>
          <p:nvPr/>
        </p:nvSpPr>
        <p:spPr>
          <a:xfrm>
            <a:off x="7988698" y="959336"/>
            <a:ext cx="1720077"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202729"/>
                </a:solidFill>
                <a:latin typeface="Proxima Nova"/>
                <a:ea typeface="Proxima Nova"/>
                <a:cs typeface="Proxima Nova"/>
                <a:sym typeface="Proxima Nova"/>
              </a:rPr>
              <a:t>Numerical</a:t>
            </a:r>
            <a:endParaRPr sz="2400" dirty="0">
              <a:solidFill>
                <a:srgbClr val="202729"/>
              </a:solidFill>
              <a:latin typeface="Proxima Nova"/>
              <a:ea typeface="Proxima Nova"/>
              <a:cs typeface="Proxima Nova"/>
              <a:sym typeface="Proxima Nova"/>
            </a:endParaRPr>
          </a:p>
        </p:txBody>
      </p:sp>
      <p:cxnSp>
        <p:nvCxnSpPr>
          <p:cNvPr id="8" name="Google Shape;139;p22">
            <a:extLst>
              <a:ext uri="{FF2B5EF4-FFF2-40B4-BE49-F238E27FC236}">
                <a16:creationId xmlns:a16="http://schemas.microsoft.com/office/drawing/2014/main" id="{FD7F588C-58FC-291C-A713-95E62E7342B1}"/>
              </a:ext>
            </a:extLst>
          </p:cNvPr>
          <p:cNvCxnSpPr/>
          <p:nvPr/>
        </p:nvCxnSpPr>
        <p:spPr>
          <a:xfrm>
            <a:off x="8896935" y="1615444"/>
            <a:ext cx="842100" cy="486300"/>
          </a:xfrm>
          <a:prstGeom prst="straightConnector1">
            <a:avLst/>
          </a:prstGeom>
          <a:noFill/>
          <a:ln w="28575" cap="flat" cmpd="sng">
            <a:solidFill>
              <a:schemeClr val="accent2"/>
            </a:solidFill>
            <a:prstDash val="solid"/>
            <a:round/>
            <a:headEnd type="none" w="med" len="med"/>
            <a:tailEnd type="triangle" w="med" len="med"/>
          </a:ln>
        </p:spPr>
      </p:cxnSp>
      <p:cxnSp>
        <p:nvCxnSpPr>
          <p:cNvPr id="9" name="Google Shape;140;p22">
            <a:extLst>
              <a:ext uri="{FF2B5EF4-FFF2-40B4-BE49-F238E27FC236}">
                <a16:creationId xmlns:a16="http://schemas.microsoft.com/office/drawing/2014/main" id="{00F48767-9905-5156-209D-EBF0116C5C57}"/>
              </a:ext>
            </a:extLst>
          </p:cNvPr>
          <p:cNvCxnSpPr/>
          <p:nvPr/>
        </p:nvCxnSpPr>
        <p:spPr>
          <a:xfrm flipH="1">
            <a:off x="7614860" y="1615444"/>
            <a:ext cx="842100" cy="486300"/>
          </a:xfrm>
          <a:prstGeom prst="straightConnector1">
            <a:avLst/>
          </a:prstGeom>
          <a:noFill/>
          <a:ln w="28575" cap="flat" cmpd="sng">
            <a:solidFill>
              <a:schemeClr val="accent2"/>
            </a:solidFill>
            <a:prstDash val="solid"/>
            <a:round/>
            <a:headEnd type="none" w="med" len="med"/>
            <a:tailEnd type="triangle" w="med" len="med"/>
          </a:ln>
        </p:spPr>
      </p:cxnSp>
      <p:sp>
        <p:nvSpPr>
          <p:cNvPr id="10" name="Google Shape;141;p22">
            <a:extLst>
              <a:ext uri="{FF2B5EF4-FFF2-40B4-BE49-F238E27FC236}">
                <a16:creationId xmlns:a16="http://schemas.microsoft.com/office/drawing/2014/main" id="{6BDE9069-451F-19D1-57C9-1115279454A9}"/>
              </a:ext>
            </a:extLst>
          </p:cNvPr>
          <p:cNvSpPr txBox="1"/>
          <p:nvPr/>
        </p:nvSpPr>
        <p:spPr>
          <a:xfrm>
            <a:off x="6808060" y="2140436"/>
            <a:ext cx="4775548"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202729"/>
                </a:solidFill>
                <a:latin typeface="Proxima Nova"/>
                <a:ea typeface="Proxima Nova"/>
                <a:cs typeface="Proxima Nova"/>
                <a:sym typeface="Proxima Nova"/>
              </a:rPr>
              <a:t>Discrete</a:t>
            </a:r>
            <a:endParaRPr sz="2400" dirty="0">
              <a:solidFill>
                <a:srgbClr val="202729"/>
              </a:solidFill>
              <a:latin typeface="Proxima Nova"/>
              <a:ea typeface="Proxima Nova"/>
              <a:cs typeface="Proxima Nova"/>
              <a:sym typeface="Proxima Nova"/>
            </a:endParaRPr>
          </a:p>
          <a:p>
            <a:pPr marL="0" lvl="0" indent="0" algn="l" rtl="0">
              <a:spcBef>
                <a:spcPts val="0"/>
              </a:spcBef>
              <a:spcAft>
                <a:spcPts val="0"/>
              </a:spcAft>
              <a:buNone/>
            </a:pPr>
            <a:r>
              <a:rPr lang="en" sz="1600" dirty="0">
                <a:solidFill>
                  <a:srgbClr val="202729"/>
                </a:solidFill>
                <a:highlight>
                  <a:schemeClr val="accent3"/>
                </a:highlight>
                <a:latin typeface="Proxima Nova"/>
                <a:ea typeface="Proxima Nova"/>
                <a:cs typeface="Proxima Nova"/>
                <a:sym typeface="Proxima Nova"/>
              </a:rPr>
              <a:t>number of students		</a:t>
            </a:r>
            <a:r>
              <a:rPr lang="en" sz="1600" dirty="0" err="1">
                <a:solidFill>
                  <a:srgbClr val="202729"/>
                </a:solidFill>
                <a:highlight>
                  <a:schemeClr val="accent3"/>
                </a:highlight>
                <a:latin typeface="Proxima Nova"/>
                <a:ea typeface="Proxima Nova"/>
                <a:cs typeface="Proxima Nova"/>
                <a:sym typeface="Proxima Nova"/>
              </a:rPr>
              <a:t>gpa</a:t>
            </a:r>
            <a:r>
              <a:rPr lang="en" sz="1600" dirty="0">
                <a:solidFill>
                  <a:srgbClr val="202729"/>
                </a:solidFill>
                <a:highlight>
                  <a:schemeClr val="accent3"/>
                </a:highlight>
                <a:latin typeface="Proxima Nova"/>
                <a:ea typeface="Proxima Nova"/>
                <a:cs typeface="Proxima Nova"/>
                <a:sym typeface="Proxima Nova"/>
              </a:rPr>
              <a:t>    </a:t>
            </a:r>
            <a:endParaRPr sz="2400" dirty="0">
              <a:solidFill>
                <a:srgbClr val="202729"/>
              </a:solidFill>
              <a:highlight>
                <a:schemeClr val="accent3"/>
              </a:highlight>
              <a:latin typeface="Proxima Nova"/>
              <a:ea typeface="Proxima Nova"/>
              <a:cs typeface="Proxima Nova"/>
              <a:sym typeface="Proxima Nova"/>
            </a:endParaRPr>
          </a:p>
        </p:txBody>
      </p:sp>
      <p:sp>
        <p:nvSpPr>
          <p:cNvPr id="11" name="Google Shape;142;p22">
            <a:extLst>
              <a:ext uri="{FF2B5EF4-FFF2-40B4-BE49-F238E27FC236}">
                <a16:creationId xmlns:a16="http://schemas.microsoft.com/office/drawing/2014/main" id="{77453018-DCBA-6772-7735-E6DACFDBB6FD}"/>
              </a:ext>
            </a:extLst>
          </p:cNvPr>
          <p:cNvSpPr txBox="1"/>
          <p:nvPr/>
        </p:nvSpPr>
        <p:spPr>
          <a:xfrm>
            <a:off x="8978517" y="2076755"/>
            <a:ext cx="2022043"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202729"/>
                </a:solidFill>
                <a:latin typeface="Proxima Nova"/>
                <a:ea typeface="Proxima Nova"/>
                <a:cs typeface="Proxima Nova"/>
                <a:sym typeface="Proxima Nova"/>
              </a:rPr>
              <a:t>Continuous</a:t>
            </a:r>
            <a:endParaRPr sz="2400">
              <a:solidFill>
                <a:srgbClr val="202729"/>
              </a:solidFill>
              <a:latin typeface="Proxima Nova"/>
              <a:ea typeface="Proxima Nova"/>
              <a:cs typeface="Proxima Nova"/>
              <a:sym typeface="Proxima Nova"/>
            </a:endParaRPr>
          </a:p>
        </p:txBody>
      </p:sp>
      <p:cxnSp>
        <p:nvCxnSpPr>
          <p:cNvPr id="12" name="Google Shape;143;p22">
            <a:extLst>
              <a:ext uri="{FF2B5EF4-FFF2-40B4-BE49-F238E27FC236}">
                <a16:creationId xmlns:a16="http://schemas.microsoft.com/office/drawing/2014/main" id="{3C3F5766-23E3-CAB1-8687-F9D1C1C6362A}"/>
              </a:ext>
            </a:extLst>
          </p:cNvPr>
          <p:cNvCxnSpPr/>
          <p:nvPr/>
        </p:nvCxnSpPr>
        <p:spPr>
          <a:xfrm>
            <a:off x="8937627" y="4212892"/>
            <a:ext cx="842100" cy="486300"/>
          </a:xfrm>
          <a:prstGeom prst="straightConnector1">
            <a:avLst/>
          </a:prstGeom>
          <a:noFill/>
          <a:ln w="28575" cap="flat" cmpd="sng">
            <a:solidFill>
              <a:schemeClr val="accent2"/>
            </a:solidFill>
            <a:prstDash val="solid"/>
            <a:round/>
            <a:headEnd type="none" w="med" len="med"/>
            <a:tailEnd type="triangle" w="med" len="med"/>
          </a:ln>
        </p:spPr>
      </p:cxnSp>
      <p:cxnSp>
        <p:nvCxnSpPr>
          <p:cNvPr id="13" name="Google Shape;144;p22">
            <a:extLst>
              <a:ext uri="{FF2B5EF4-FFF2-40B4-BE49-F238E27FC236}">
                <a16:creationId xmlns:a16="http://schemas.microsoft.com/office/drawing/2014/main" id="{AC9DDC0C-608F-A07F-C817-5F046B7CDECE}"/>
              </a:ext>
            </a:extLst>
          </p:cNvPr>
          <p:cNvCxnSpPr/>
          <p:nvPr/>
        </p:nvCxnSpPr>
        <p:spPr>
          <a:xfrm flipH="1">
            <a:off x="7655552" y="4212892"/>
            <a:ext cx="842100" cy="486300"/>
          </a:xfrm>
          <a:prstGeom prst="straightConnector1">
            <a:avLst/>
          </a:prstGeom>
          <a:noFill/>
          <a:ln w="28575" cap="flat" cmpd="sng">
            <a:solidFill>
              <a:schemeClr val="accent2"/>
            </a:solidFill>
            <a:prstDash val="solid"/>
            <a:round/>
            <a:headEnd type="none" w="med" len="med"/>
            <a:tailEnd type="triangle" w="med" len="med"/>
          </a:ln>
        </p:spPr>
      </p:cxnSp>
      <p:sp>
        <p:nvSpPr>
          <p:cNvPr id="14" name="Google Shape;145;p22">
            <a:extLst>
              <a:ext uri="{FF2B5EF4-FFF2-40B4-BE49-F238E27FC236}">
                <a16:creationId xmlns:a16="http://schemas.microsoft.com/office/drawing/2014/main" id="{960D3AA6-C493-27BF-58DA-6B621C119A10}"/>
              </a:ext>
            </a:extLst>
          </p:cNvPr>
          <p:cNvSpPr txBox="1"/>
          <p:nvPr/>
        </p:nvSpPr>
        <p:spPr>
          <a:xfrm>
            <a:off x="6358026" y="4737884"/>
            <a:ext cx="4775548" cy="7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202729"/>
                </a:solidFill>
                <a:latin typeface="Proxima Nova"/>
                <a:ea typeface="Proxima Nova"/>
                <a:cs typeface="Proxima Nova"/>
                <a:sym typeface="Proxima Nova"/>
              </a:rPr>
              <a:t>Nominal</a:t>
            </a:r>
            <a:endParaRPr sz="2400" dirty="0">
              <a:solidFill>
                <a:srgbClr val="202729"/>
              </a:solidFill>
              <a:latin typeface="Proxima Nova"/>
              <a:ea typeface="Proxima Nova"/>
              <a:cs typeface="Proxima Nova"/>
              <a:sym typeface="Proxima Nova"/>
            </a:endParaRPr>
          </a:p>
          <a:p>
            <a:pPr marL="0" lvl="0" indent="0" algn="l" rtl="0">
              <a:spcBef>
                <a:spcPts val="0"/>
              </a:spcBef>
              <a:spcAft>
                <a:spcPts val="0"/>
              </a:spcAft>
              <a:buNone/>
            </a:pPr>
            <a:r>
              <a:rPr lang="en-US" sz="1600" dirty="0">
                <a:solidFill>
                  <a:srgbClr val="202729"/>
                </a:solidFill>
                <a:highlight>
                  <a:schemeClr val="accent3"/>
                </a:highlight>
                <a:latin typeface="Proxima Nova"/>
                <a:ea typeface="Proxima Nova"/>
                <a:cs typeface="Proxima Nova"/>
                <a:sym typeface="Proxima Nova"/>
              </a:rPr>
              <a:t>D</a:t>
            </a:r>
            <a:r>
              <a:rPr lang="en" sz="1600" dirty="0" err="1">
                <a:solidFill>
                  <a:srgbClr val="202729"/>
                </a:solidFill>
                <a:highlight>
                  <a:schemeClr val="accent3"/>
                </a:highlight>
                <a:latin typeface="Proxima Nova"/>
                <a:ea typeface="Proxima Nova"/>
                <a:cs typeface="Proxima Nova"/>
                <a:sym typeface="Proxima Nova"/>
              </a:rPr>
              <a:t>epartment</a:t>
            </a:r>
            <a:r>
              <a:rPr lang="en" sz="1600" dirty="0">
                <a:solidFill>
                  <a:srgbClr val="202729"/>
                </a:solidFill>
                <a:highlight>
                  <a:schemeClr val="accent3"/>
                </a:highlight>
                <a:latin typeface="Proxima Nova"/>
                <a:ea typeface="Proxima Nova"/>
                <a:cs typeface="Proxima Nova"/>
                <a:sym typeface="Proxima Nova"/>
              </a:rPr>
              <a:t> name		       teacher grading </a:t>
            </a:r>
            <a:endParaRPr sz="2400" dirty="0">
              <a:solidFill>
                <a:srgbClr val="202729"/>
              </a:solidFill>
              <a:latin typeface="Proxima Nova"/>
              <a:ea typeface="Proxima Nova"/>
              <a:cs typeface="Proxima Nova"/>
              <a:sym typeface="Proxima Nova"/>
            </a:endParaRPr>
          </a:p>
        </p:txBody>
      </p:sp>
      <p:sp>
        <p:nvSpPr>
          <p:cNvPr id="15" name="Google Shape;147;p22">
            <a:extLst>
              <a:ext uri="{FF2B5EF4-FFF2-40B4-BE49-F238E27FC236}">
                <a16:creationId xmlns:a16="http://schemas.microsoft.com/office/drawing/2014/main" id="{995801F5-2897-C53E-1A1B-5FA535CFA146}"/>
              </a:ext>
            </a:extLst>
          </p:cNvPr>
          <p:cNvSpPr txBox="1"/>
          <p:nvPr/>
        </p:nvSpPr>
        <p:spPr>
          <a:xfrm>
            <a:off x="6323852" y="5632634"/>
            <a:ext cx="4192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202729"/>
                </a:solidFill>
                <a:latin typeface="Proxima Nova"/>
                <a:ea typeface="Proxima Nova"/>
                <a:cs typeface="Proxima Nova"/>
                <a:sym typeface="Proxima Nova"/>
              </a:rPr>
              <a:t>Binary (Dummies)</a:t>
            </a:r>
            <a:endParaRPr sz="2400" dirty="0">
              <a:solidFill>
                <a:srgbClr val="202729"/>
              </a:solidFill>
              <a:latin typeface="Proxima Nova"/>
              <a:ea typeface="Proxima Nova"/>
              <a:cs typeface="Proxima Nova"/>
              <a:sym typeface="Proxima Nova"/>
            </a:endParaRPr>
          </a:p>
          <a:p>
            <a:pPr marL="0" lvl="0" indent="0" algn="l" rtl="0">
              <a:spcBef>
                <a:spcPts val="0"/>
              </a:spcBef>
              <a:spcAft>
                <a:spcPts val="0"/>
              </a:spcAft>
              <a:buNone/>
            </a:pPr>
            <a:r>
              <a:rPr lang="en" sz="1600" dirty="0">
                <a:solidFill>
                  <a:srgbClr val="202729"/>
                </a:solidFill>
                <a:highlight>
                  <a:schemeClr val="accent3"/>
                </a:highlight>
                <a:latin typeface="Proxima Nova"/>
                <a:ea typeface="Proxima Nova"/>
                <a:cs typeface="Proxima Nova"/>
                <a:sym typeface="Proxima Nova"/>
              </a:rPr>
              <a:t>student of Social Science program</a:t>
            </a:r>
            <a:endParaRPr sz="1600" dirty="0">
              <a:solidFill>
                <a:srgbClr val="202729"/>
              </a:solidFill>
              <a:highlight>
                <a:schemeClr val="accent3"/>
              </a:highlight>
              <a:latin typeface="Proxima Nova"/>
              <a:ea typeface="Proxima Nova"/>
              <a:cs typeface="Proxima Nova"/>
              <a:sym typeface="Proxima Nova"/>
            </a:endParaRPr>
          </a:p>
          <a:p>
            <a:pPr marL="0" lvl="0" indent="0" algn="l" rtl="0">
              <a:spcBef>
                <a:spcPts val="0"/>
              </a:spcBef>
              <a:spcAft>
                <a:spcPts val="0"/>
              </a:spcAft>
              <a:buNone/>
            </a:pPr>
            <a:endParaRPr sz="1600" dirty="0">
              <a:solidFill>
                <a:srgbClr val="202729"/>
              </a:solidFill>
              <a:highlight>
                <a:schemeClr val="accent3"/>
              </a:highlight>
              <a:latin typeface="Proxima Nova"/>
              <a:ea typeface="Proxima Nova"/>
              <a:cs typeface="Proxima Nova"/>
              <a:sym typeface="Proxima Nova"/>
            </a:endParaRPr>
          </a:p>
        </p:txBody>
      </p:sp>
      <p:sp>
        <p:nvSpPr>
          <p:cNvPr id="17" name="Google Shape;138;p22">
            <a:extLst>
              <a:ext uri="{FF2B5EF4-FFF2-40B4-BE49-F238E27FC236}">
                <a16:creationId xmlns:a16="http://schemas.microsoft.com/office/drawing/2014/main" id="{470F3F66-6CB1-5EC1-9BCC-0E29411E9A38}"/>
              </a:ext>
            </a:extLst>
          </p:cNvPr>
          <p:cNvSpPr txBox="1"/>
          <p:nvPr/>
        </p:nvSpPr>
        <p:spPr>
          <a:xfrm>
            <a:off x="7806995" y="3594154"/>
            <a:ext cx="190178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202729"/>
                </a:solidFill>
                <a:latin typeface="Proxima Nova"/>
                <a:ea typeface="Proxima Nova"/>
                <a:cs typeface="Proxima Nova"/>
                <a:sym typeface="Proxima Nova"/>
              </a:rPr>
              <a:t>Categorical</a:t>
            </a:r>
            <a:endParaRPr sz="2400" dirty="0">
              <a:solidFill>
                <a:srgbClr val="202729"/>
              </a:solidFill>
              <a:latin typeface="Proxima Nova"/>
              <a:ea typeface="Proxima Nova"/>
              <a:cs typeface="Proxima Nova"/>
              <a:sym typeface="Proxima Nova"/>
            </a:endParaRPr>
          </a:p>
        </p:txBody>
      </p:sp>
      <p:sp>
        <p:nvSpPr>
          <p:cNvPr id="18" name="Google Shape;146;p22">
            <a:extLst>
              <a:ext uri="{FF2B5EF4-FFF2-40B4-BE49-F238E27FC236}">
                <a16:creationId xmlns:a16="http://schemas.microsoft.com/office/drawing/2014/main" id="{80B3088A-579A-8BF1-1007-A5F3C5B3E6DC}"/>
              </a:ext>
            </a:extLst>
          </p:cNvPr>
          <p:cNvSpPr txBox="1"/>
          <p:nvPr/>
        </p:nvSpPr>
        <p:spPr>
          <a:xfrm>
            <a:off x="9628770" y="4669856"/>
            <a:ext cx="1181864"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rgbClr val="202729"/>
                </a:solidFill>
                <a:latin typeface="Proxima Nova"/>
                <a:ea typeface="Proxima Nova"/>
                <a:cs typeface="Proxima Nova"/>
                <a:sym typeface="Proxima Nova"/>
              </a:rPr>
              <a:t>Ordinal</a:t>
            </a:r>
            <a:endParaRPr sz="2400" dirty="0">
              <a:solidFill>
                <a:srgbClr val="202729"/>
              </a:solidFill>
              <a:latin typeface="Proxima Nova"/>
              <a:ea typeface="Proxima Nova"/>
              <a:cs typeface="Proxima Nova"/>
              <a:sym typeface="Proxima Nova"/>
            </a:endParaRPr>
          </a:p>
        </p:txBody>
      </p:sp>
    </p:spTree>
    <p:extLst>
      <p:ext uri="{BB962C8B-B14F-4D97-AF65-F5344CB8AC3E}">
        <p14:creationId xmlns:p14="http://schemas.microsoft.com/office/powerpoint/2010/main" val="135909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8B4FF-FC5C-3880-90C8-81D872892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1168B-8D9D-CA9A-7036-AF18A1BDD73D}"/>
              </a:ext>
            </a:extLst>
          </p:cNvPr>
          <p:cNvSpPr>
            <a:spLocks noGrp="1"/>
          </p:cNvSpPr>
          <p:nvPr>
            <p:ph type="title"/>
          </p:nvPr>
        </p:nvSpPr>
        <p:spPr/>
        <p:txBody>
          <a:bodyPr/>
          <a:lstStyle/>
          <a:p>
            <a:r>
              <a:rPr lang="en-US" dirty="0"/>
              <a:t>Variables’ types</a:t>
            </a:r>
            <a:endParaRPr lang="en-RU" dirty="0"/>
          </a:p>
        </p:txBody>
      </p:sp>
      <p:sp>
        <p:nvSpPr>
          <p:cNvPr id="3" name="Footer Placeholder 2">
            <a:extLst>
              <a:ext uri="{FF2B5EF4-FFF2-40B4-BE49-F238E27FC236}">
                <a16:creationId xmlns:a16="http://schemas.microsoft.com/office/drawing/2014/main" id="{ED978C94-568A-C415-7F84-4E4D0C3EB19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graphicFrame>
        <p:nvGraphicFramePr>
          <p:cNvPr id="4" name="Google Shape;168;p25">
            <a:extLst>
              <a:ext uri="{FF2B5EF4-FFF2-40B4-BE49-F238E27FC236}">
                <a16:creationId xmlns:a16="http://schemas.microsoft.com/office/drawing/2014/main" id="{92F37A4B-6CC9-9449-9083-56E05637F72A}"/>
              </a:ext>
            </a:extLst>
          </p:cNvPr>
          <p:cNvGraphicFramePr/>
          <p:nvPr>
            <p:extLst>
              <p:ext uri="{D42A27DB-BD31-4B8C-83A1-F6EECF244321}">
                <p14:modId xmlns:p14="http://schemas.microsoft.com/office/powerpoint/2010/main" val="2844849438"/>
              </p:ext>
            </p:extLst>
          </p:nvPr>
        </p:nvGraphicFramePr>
        <p:xfrm>
          <a:off x="2862228" y="979824"/>
          <a:ext cx="7171680" cy="2449176"/>
        </p:xfrm>
        <a:graphic>
          <a:graphicData uri="http://schemas.openxmlformats.org/drawingml/2006/table">
            <a:tbl>
              <a:tblPr>
                <a:noFill/>
              </a:tblPr>
              <a:tblGrid>
                <a:gridCol w="1160188">
                  <a:extLst>
                    <a:ext uri="{9D8B030D-6E8A-4147-A177-3AD203B41FA5}">
                      <a16:colId xmlns:a16="http://schemas.microsoft.com/office/drawing/2014/main" val="20000"/>
                    </a:ext>
                  </a:extLst>
                </a:gridCol>
                <a:gridCol w="2925392">
                  <a:extLst>
                    <a:ext uri="{9D8B030D-6E8A-4147-A177-3AD203B41FA5}">
                      <a16:colId xmlns:a16="http://schemas.microsoft.com/office/drawing/2014/main" val="20001"/>
                    </a:ext>
                  </a:extLst>
                </a:gridCol>
                <a:gridCol w="1314450">
                  <a:extLst>
                    <a:ext uri="{9D8B030D-6E8A-4147-A177-3AD203B41FA5}">
                      <a16:colId xmlns:a16="http://schemas.microsoft.com/office/drawing/2014/main" val="909230593"/>
                    </a:ext>
                  </a:extLst>
                </a:gridCol>
                <a:gridCol w="1771650">
                  <a:extLst>
                    <a:ext uri="{9D8B030D-6E8A-4147-A177-3AD203B41FA5}">
                      <a16:colId xmlns:a16="http://schemas.microsoft.com/office/drawing/2014/main" val="2670365278"/>
                    </a:ext>
                  </a:extLst>
                </a:gridCol>
              </a:tblGrid>
              <a:tr h="324464">
                <a:tc>
                  <a:txBody>
                    <a:bodyPr/>
                    <a:lstStyle/>
                    <a:p>
                      <a:pPr marL="0" lvl="0" indent="0" algn="ctr" rtl="0">
                        <a:spcBef>
                          <a:spcPts val="0"/>
                        </a:spcBef>
                        <a:spcAft>
                          <a:spcPts val="0"/>
                        </a:spcAft>
                        <a:buNone/>
                      </a:pPr>
                      <a:r>
                        <a:rPr lang="en" sz="1100" b="1" dirty="0"/>
                        <a:t>Variable</a:t>
                      </a:r>
                      <a:endParaRPr sz="1100" b="1" dirty="0"/>
                    </a:p>
                  </a:txBody>
                  <a:tcPr marL="91425" marR="91425" marT="91425" marB="91425" anchor="ctr"/>
                </a:tc>
                <a:tc>
                  <a:txBody>
                    <a:bodyPr/>
                    <a:lstStyle/>
                    <a:p>
                      <a:pPr marL="0" lvl="0" indent="0" algn="ctr" rtl="0">
                        <a:spcBef>
                          <a:spcPts val="0"/>
                        </a:spcBef>
                        <a:spcAft>
                          <a:spcPts val="0"/>
                        </a:spcAft>
                        <a:buNone/>
                      </a:pPr>
                      <a:r>
                        <a:rPr lang="en" sz="1100" b="1" dirty="0"/>
                        <a:t>Key</a:t>
                      </a:r>
                      <a:endParaRPr sz="1100" b="1" dirty="0"/>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Variable</a:t>
                      </a:r>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Key</a:t>
                      </a:r>
                    </a:p>
                  </a:txBody>
                  <a:tcPr marL="91425" marR="91425" marT="91425" marB="91425" anchor="ctr"/>
                </a:tc>
                <a:extLst>
                  <a:ext uri="{0D108BD9-81ED-4DB2-BD59-A6C34878D82A}">
                    <a16:rowId xmlns:a16="http://schemas.microsoft.com/office/drawing/2014/main" val="10000"/>
                  </a:ext>
                </a:extLst>
              </a:tr>
              <a:tr h="324464">
                <a:tc>
                  <a:txBody>
                    <a:bodyPr/>
                    <a:lstStyle/>
                    <a:p>
                      <a:pPr marL="0" lvl="0" indent="0" algn="ctr" rtl="0">
                        <a:spcBef>
                          <a:spcPts val="0"/>
                        </a:spcBef>
                        <a:spcAft>
                          <a:spcPts val="0"/>
                        </a:spcAft>
                        <a:buNone/>
                      </a:pPr>
                      <a:r>
                        <a:rPr lang="en" sz="1100" dirty="0">
                          <a:highlight>
                            <a:srgbClr val="FFFFFF"/>
                          </a:highlight>
                        </a:rPr>
                        <a:t>survival</a:t>
                      </a:r>
                      <a:endParaRPr sz="1100" dirty="0"/>
                    </a:p>
                  </a:txBody>
                  <a:tcPr marL="91425" marR="91425" marT="91425" marB="91425" anchor="ctr"/>
                </a:tc>
                <a:tc>
                  <a:txBody>
                    <a:bodyPr/>
                    <a:lstStyle/>
                    <a:p>
                      <a:pPr marL="0" lvl="0" indent="0" algn="ctr" rtl="0">
                        <a:spcBef>
                          <a:spcPts val="0"/>
                        </a:spcBef>
                        <a:spcAft>
                          <a:spcPts val="0"/>
                        </a:spcAft>
                        <a:buNone/>
                      </a:pPr>
                      <a:r>
                        <a:rPr lang="en" sz="1100" dirty="0">
                          <a:highlight>
                            <a:srgbClr val="FFFFFF"/>
                          </a:highlight>
                        </a:rPr>
                        <a:t>0 = Yes, 1 = No</a:t>
                      </a:r>
                      <a:endParaRPr sz="1100" dirty="0"/>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age</a:t>
                      </a:r>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100" dirty="0"/>
                        <a:t>-</a:t>
                      </a:r>
                    </a:p>
                  </a:txBody>
                  <a:tcPr marL="91425" marR="91425" marT="91425" marB="91425" anchor="ctr"/>
                </a:tc>
                <a:extLst>
                  <a:ext uri="{0D108BD9-81ED-4DB2-BD59-A6C34878D82A}">
                    <a16:rowId xmlns:a16="http://schemas.microsoft.com/office/drawing/2014/main" val="10001"/>
                  </a:ext>
                </a:extLst>
              </a:tr>
              <a:tr h="479655">
                <a:tc>
                  <a:txBody>
                    <a:bodyPr/>
                    <a:lstStyle/>
                    <a:p>
                      <a:pPr marL="0" lvl="0" indent="0" algn="ctr" rtl="0">
                        <a:spcBef>
                          <a:spcPts val="0"/>
                        </a:spcBef>
                        <a:spcAft>
                          <a:spcPts val="0"/>
                        </a:spcAft>
                        <a:buNone/>
                      </a:pPr>
                      <a:r>
                        <a:rPr lang="en" sz="1100" dirty="0" err="1">
                          <a:highlight>
                            <a:srgbClr val="FFFFFF"/>
                          </a:highlight>
                        </a:rPr>
                        <a:t>pclass</a:t>
                      </a:r>
                      <a:endParaRPr sz="1100" dirty="0"/>
                    </a:p>
                  </a:txBody>
                  <a:tcPr marL="91425" marR="91425" marT="91425" marB="91425" anchor="ctr"/>
                </a:tc>
                <a:tc>
                  <a:txBody>
                    <a:bodyPr/>
                    <a:lstStyle/>
                    <a:p>
                      <a:pPr marL="0" lvl="0" indent="0" algn="ctr" rtl="0">
                        <a:spcBef>
                          <a:spcPts val="0"/>
                        </a:spcBef>
                        <a:spcAft>
                          <a:spcPts val="0"/>
                        </a:spcAft>
                        <a:buNone/>
                      </a:pPr>
                      <a:r>
                        <a:rPr lang="en" sz="1100" dirty="0">
                          <a:highlight>
                            <a:srgbClr val="FFFFFF"/>
                          </a:highlight>
                        </a:rPr>
                        <a:t>1 = 1st, 2 =2nd, 3 = 3rd</a:t>
                      </a:r>
                      <a:endParaRPr sz="1100" dirty="0"/>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highlight>
                            <a:srgbClr val="FFFFFF"/>
                          </a:highlight>
                        </a:rPr>
                        <a:t>fare</a:t>
                      </a:r>
                      <a:endParaRPr lang="en-US" sz="1100" dirty="0"/>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100" dirty="0"/>
                        <a:t>-</a:t>
                      </a:r>
                    </a:p>
                    <a:p>
                      <a:pPr marL="0" lvl="0" indent="0" algn="ctr" rtl="0">
                        <a:spcBef>
                          <a:spcPts val="0"/>
                        </a:spcBef>
                        <a:spcAft>
                          <a:spcPts val="0"/>
                        </a:spcAft>
                        <a:buNone/>
                      </a:pPr>
                      <a:endParaRPr sz="1100" dirty="0"/>
                    </a:p>
                  </a:txBody>
                  <a:tcPr marL="91425" marR="91425" marT="91425" marB="91425" anchor="ctr"/>
                </a:tc>
                <a:extLst>
                  <a:ext uri="{0D108BD9-81ED-4DB2-BD59-A6C34878D82A}">
                    <a16:rowId xmlns:a16="http://schemas.microsoft.com/office/drawing/2014/main" val="10002"/>
                  </a:ext>
                </a:extLst>
              </a:tr>
              <a:tr h="479655">
                <a:tc>
                  <a:txBody>
                    <a:bodyPr/>
                    <a:lstStyle/>
                    <a:p>
                      <a:pPr marL="0" lvl="0" indent="0" algn="ctr" rtl="0">
                        <a:spcBef>
                          <a:spcPts val="0"/>
                        </a:spcBef>
                        <a:spcAft>
                          <a:spcPts val="0"/>
                        </a:spcAft>
                        <a:buNone/>
                      </a:pPr>
                      <a:r>
                        <a:rPr lang="en" sz="1100" dirty="0"/>
                        <a:t>sex</a:t>
                      </a:r>
                      <a:endParaRPr sz="1100" dirty="0"/>
                    </a:p>
                  </a:txBody>
                  <a:tcPr marL="91425" marR="91425" marT="91425" marB="91425" anchor="ctr"/>
                </a:tc>
                <a:tc>
                  <a:txBody>
                    <a:bodyPr/>
                    <a:lstStyle/>
                    <a:p>
                      <a:pPr marL="0" lvl="0" indent="0" algn="ctr" rtl="0">
                        <a:spcBef>
                          <a:spcPts val="0"/>
                        </a:spcBef>
                        <a:spcAft>
                          <a:spcPts val="0"/>
                        </a:spcAft>
                        <a:buNone/>
                      </a:pPr>
                      <a:r>
                        <a:rPr lang="en" sz="1100" dirty="0" err="1"/>
                        <a:t>М</a:t>
                      </a:r>
                      <a:r>
                        <a:rPr lang="en" sz="1100" dirty="0"/>
                        <a:t> = male, F = female</a:t>
                      </a:r>
                      <a:endParaRPr sz="1100" dirty="0"/>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highlight>
                            <a:srgbClr val="FFFFFF"/>
                          </a:highlight>
                        </a:rPr>
                        <a:t>cabin</a:t>
                      </a:r>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100" dirty="0">
                          <a:highlight>
                            <a:srgbClr val="FFFFFF"/>
                          </a:highlight>
                        </a:rPr>
                        <a:t>-</a:t>
                      </a:r>
                    </a:p>
                    <a:p>
                      <a:pPr marL="0" lvl="0" indent="0" algn="ctr" rtl="0">
                        <a:spcBef>
                          <a:spcPts val="0"/>
                        </a:spcBef>
                        <a:spcAft>
                          <a:spcPts val="0"/>
                        </a:spcAft>
                        <a:buNone/>
                      </a:pPr>
                      <a:endParaRPr sz="1100" dirty="0"/>
                    </a:p>
                  </a:txBody>
                  <a:tcPr marL="91425" marR="91425" marT="91425" marB="91425" anchor="ctr"/>
                </a:tc>
                <a:extLst>
                  <a:ext uri="{0D108BD9-81ED-4DB2-BD59-A6C34878D82A}">
                    <a16:rowId xmlns:a16="http://schemas.microsoft.com/office/drawing/2014/main" val="10003"/>
                  </a:ext>
                </a:extLst>
              </a:tr>
              <a:tr h="7119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highlight>
                            <a:srgbClr val="FFFFFF"/>
                          </a:highlight>
                        </a:rPr>
                        <a:t>embarked</a:t>
                      </a:r>
                    </a:p>
                  </a:txBody>
                  <a:tcPr marL="91425" marR="91425" marT="91425" marB="914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highlight>
                            <a:srgbClr val="FFFFFF"/>
                          </a:highlight>
                        </a:rPr>
                        <a:t>C = Cherbourg, Q = Queenstown, S = Southampton</a:t>
                      </a:r>
                    </a:p>
                    <a:p>
                      <a:pPr marL="0" lvl="0" indent="0" algn="ctr" rtl="0">
                        <a:spcBef>
                          <a:spcPts val="0"/>
                        </a:spcBef>
                        <a:spcAft>
                          <a:spcPts val="0"/>
                        </a:spcAft>
                        <a:buNone/>
                      </a:pPr>
                      <a:r>
                        <a:rPr lang="en-US" sz="1100" dirty="0"/>
                        <a:t>c</a:t>
                      </a:r>
                      <a:endParaRPr sz="1100" dirty="0"/>
                    </a:p>
                  </a:txBody>
                  <a:tcPr marL="91425" marR="91425" marT="91425" marB="91425" anchor="ctr"/>
                </a:tc>
                <a:tc>
                  <a:txBody>
                    <a:bodyPr/>
                    <a:lstStyle/>
                    <a:p>
                      <a:pPr marL="0" lvl="0" indent="0" algn="ctr" rtl="0">
                        <a:spcBef>
                          <a:spcPts val="0"/>
                        </a:spcBef>
                        <a:spcAft>
                          <a:spcPts val="0"/>
                        </a:spcAft>
                        <a:buNone/>
                      </a:pPr>
                      <a:endParaRPr sz="1100" dirty="0"/>
                    </a:p>
                  </a:txBody>
                  <a:tcPr marL="91425" marR="91425" marT="91425" marB="91425" anchor="ctr"/>
                </a:tc>
                <a:tc>
                  <a:txBody>
                    <a:bodyPr/>
                    <a:lstStyle/>
                    <a:p>
                      <a:pPr marL="0" lvl="0" indent="0" algn="ctr" rtl="0">
                        <a:spcBef>
                          <a:spcPts val="0"/>
                        </a:spcBef>
                        <a:spcAft>
                          <a:spcPts val="0"/>
                        </a:spcAft>
                        <a:buNone/>
                      </a:pPr>
                      <a:endParaRPr sz="1100" dirty="0"/>
                    </a:p>
                  </a:txBody>
                  <a:tcPr marL="91425" marR="91425" marT="91425" marB="91425" anchor="ctr"/>
                </a:tc>
                <a:extLst>
                  <a:ext uri="{0D108BD9-81ED-4DB2-BD59-A6C34878D82A}">
                    <a16:rowId xmlns:a16="http://schemas.microsoft.com/office/drawing/2014/main" val="10004"/>
                  </a:ext>
                </a:extLst>
              </a:tr>
            </a:tbl>
          </a:graphicData>
        </a:graphic>
      </p:graphicFrame>
      <p:pic>
        <p:nvPicPr>
          <p:cNvPr id="7" name="Google Shape;175;p26">
            <a:extLst>
              <a:ext uri="{FF2B5EF4-FFF2-40B4-BE49-F238E27FC236}">
                <a16:creationId xmlns:a16="http://schemas.microsoft.com/office/drawing/2014/main" id="{0B4EE241-DD39-9A0A-3D00-C13B1366D7F4}"/>
              </a:ext>
            </a:extLst>
          </p:cNvPr>
          <p:cNvPicPr preferRelativeResize="0"/>
          <p:nvPr/>
        </p:nvPicPr>
        <p:blipFill rotWithShape="1">
          <a:blip r:embed="rId2">
            <a:alphaModFix/>
          </a:blip>
          <a:srcRect b="8164"/>
          <a:stretch/>
        </p:blipFill>
        <p:spPr>
          <a:xfrm>
            <a:off x="2076338" y="3501500"/>
            <a:ext cx="8375648" cy="2991375"/>
          </a:xfrm>
          <a:prstGeom prst="rect">
            <a:avLst/>
          </a:prstGeom>
          <a:noFill/>
          <a:ln>
            <a:noFill/>
          </a:ln>
        </p:spPr>
      </p:pic>
    </p:spTree>
    <p:extLst>
      <p:ext uri="{BB962C8B-B14F-4D97-AF65-F5344CB8AC3E}">
        <p14:creationId xmlns:p14="http://schemas.microsoft.com/office/powerpoint/2010/main" val="1112086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2544D-5DA6-5947-4941-0080D5400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1DFE6-3242-DA8A-7E36-6DDA792598AE}"/>
              </a:ext>
            </a:extLst>
          </p:cNvPr>
          <p:cNvSpPr>
            <a:spLocks noGrp="1"/>
          </p:cNvSpPr>
          <p:nvPr>
            <p:ph type="title"/>
          </p:nvPr>
        </p:nvSpPr>
        <p:spPr/>
        <p:txBody>
          <a:bodyPr/>
          <a:lstStyle/>
          <a:p>
            <a:r>
              <a:rPr lang="en-US" dirty="0"/>
              <a:t>World of Data</a:t>
            </a:r>
            <a:endParaRPr lang="en-RU" dirty="0"/>
          </a:p>
        </p:txBody>
      </p:sp>
      <p:sp>
        <p:nvSpPr>
          <p:cNvPr id="3" name="Footer Placeholder 2">
            <a:extLst>
              <a:ext uri="{FF2B5EF4-FFF2-40B4-BE49-F238E27FC236}">
                <a16:creationId xmlns:a16="http://schemas.microsoft.com/office/drawing/2014/main" id="{5C5B4D88-E7B3-C5FB-DBF6-4548F5194ED8}"/>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182;p27">
            <a:extLst>
              <a:ext uri="{FF2B5EF4-FFF2-40B4-BE49-F238E27FC236}">
                <a16:creationId xmlns:a16="http://schemas.microsoft.com/office/drawing/2014/main" id="{68D286DB-E219-D907-DF6D-B5A72CD419F1}"/>
              </a:ext>
            </a:extLst>
          </p:cNvPr>
          <p:cNvPicPr preferRelativeResize="0"/>
          <p:nvPr/>
        </p:nvPicPr>
        <p:blipFill>
          <a:blip r:embed="rId2">
            <a:alphaModFix/>
          </a:blip>
          <a:stretch>
            <a:fillRect/>
          </a:stretch>
        </p:blipFill>
        <p:spPr>
          <a:xfrm>
            <a:off x="311725" y="1945192"/>
            <a:ext cx="4739048" cy="3444349"/>
          </a:xfrm>
          <a:prstGeom prst="rect">
            <a:avLst/>
          </a:prstGeom>
          <a:noFill/>
          <a:ln>
            <a:noFill/>
          </a:ln>
        </p:spPr>
      </p:pic>
      <p:pic>
        <p:nvPicPr>
          <p:cNvPr id="6" name="Google Shape;189;p28">
            <a:extLst>
              <a:ext uri="{FF2B5EF4-FFF2-40B4-BE49-F238E27FC236}">
                <a16:creationId xmlns:a16="http://schemas.microsoft.com/office/drawing/2014/main" id="{054341DD-7ED4-2BCC-6EDE-3FAE5541E297}"/>
              </a:ext>
            </a:extLst>
          </p:cNvPr>
          <p:cNvPicPr preferRelativeResize="0"/>
          <p:nvPr/>
        </p:nvPicPr>
        <p:blipFill>
          <a:blip r:embed="rId3">
            <a:alphaModFix/>
          </a:blip>
          <a:stretch>
            <a:fillRect/>
          </a:stretch>
        </p:blipFill>
        <p:spPr>
          <a:xfrm>
            <a:off x="5525174" y="1945192"/>
            <a:ext cx="6355101" cy="3485050"/>
          </a:xfrm>
          <a:prstGeom prst="rect">
            <a:avLst/>
          </a:prstGeom>
          <a:noFill/>
          <a:ln>
            <a:noFill/>
          </a:ln>
        </p:spPr>
      </p:pic>
    </p:spTree>
    <p:extLst>
      <p:ext uri="{BB962C8B-B14F-4D97-AF65-F5344CB8AC3E}">
        <p14:creationId xmlns:p14="http://schemas.microsoft.com/office/powerpoint/2010/main" val="111151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D0B7E-BFCB-91E2-8DD6-F0652947B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19219-01AE-909E-EBF3-54F89688BEE1}"/>
              </a:ext>
            </a:extLst>
          </p:cNvPr>
          <p:cNvSpPr>
            <a:spLocks noGrp="1"/>
          </p:cNvSpPr>
          <p:nvPr>
            <p:ph type="title"/>
          </p:nvPr>
        </p:nvSpPr>
        <p:spPr/>
        <p:txBody>
          <a:bodyPr/>
          <a:lstStyle/>
          <a:p>
            <a:r>
              <a:rPr lang="en-US" dirty="0"/>
              <a:t>World of Data</a:t>
            </a:r>
            <a:endParaRPr lang="en-RU" dirty="0"/>
          </a:p>
        </p:txBody>
      </p:sp>
      <p:sp>
        <p:nvSpPr>
          <p:cNvPr id="3" name="Footer Placeholder 2">
            <a:extLst>
              <a:ext uri="{FF2B5EF4-FFF2-40B4-BE49-F238E27FC236}">
                <a16:creationId xmlns:a16="http://schemas.microsoft.com/office/drawing/2014/main" id="{32072987-D950-E7A8-8FDE-7C5FA0B1CDC6}"/>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197;p29">
            <a:extLst>
              <a:ext uri="{FF2B5EF4-FFF2-40B4-BE49-F238E27FC236}">
                <a16:creationId xmlns:a16="http://schemas.microsoft.com/office/drawing/2014/main" id="{C2EA279B-853F-1DCD-3269-B9AEE4CEAF08}"/>
              </a:ext>
            </a:extLst>
          </p:cNvPr>
          <p:cNvPicPr preferRelativeResize="0"/>
          <p:nvPr/>
        </p:nvPicPr>
        <p:blipFill rotWithShape="1">
          <a:blip r:embed="rId2">
            <a:alphaModFix/>
          </a:blip>
          <a:srcRect l="9761" t="36316" r="33648" b="24688"/>
          <a:stretch/>
        </p:blipFill>
        <p:spPr>
          <a:xfrm>
            <a:off x="2831568" y="1060241"/>
            <a:ext cx="6465648" cy="2506226"/>
          </a:xfrm>
          <a:prstGeom prst="rect">
            <a:avLst/>
          </a:prstGeom>
          <a:noFill/>
          <a:ln>
            <a:noFill/>
          </a:ln>
        </p:spPr>
      </p:pic>
      <p:sp>
        <p:nvSpPr>
          <p:cNvPr id="7" name="Google Shape;196;p29">
            <a:extLst>
              <a:ext uri="{FF2B5EF4-FFF2-40B4-BE49-F238E27FC236}">
                <a16:creationId xmlns:a16="http://schemas.microsoft.com/office/drawing/2014/main" id="{FDEA68D1-B11C-CFEA-C5B1-64613CA429D9}"/>
              </a:ext>
            </a:extLst>
          </p:cNvPr>
          <p:cNvSpPr txBox="1"/>
          <p:nvPr/>
        </p:nvSpPr>
        <p:spPr>
          <a:xfrm>
            <a:off x="3096369" y="3471907"/>
            <a:ext cx="5119604" cy="45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u="sng" dirty="0">
                <a:solidFill>
                  <a:srgbClr val="AF4345"/>
                </a:solidFill>
                <a:latin typeface="Roboto Condensed"/>
                <a:ea typeface="Roboto Condensed"/>
                <a:cs typeface="Roboto Condensed"/>
                <a:sym typeface="Roboto Condensed"/>
                <a:hlinkClick r:id="rId3">
                  <a:extLst>
                    <a:ext uri="{A12FA001-AC4F-418D-AE19-62706E023703}">
                      <ahyp:hlinkClr xmlns:ahyp="http://schemas.microsoft.com/office/drawing/2018/hyperlinkcolor" val="tx"/>
                    </a:ext>
                  </a:extLst>
                </a:hlinkClick>
              </a:rPr>
              <a:t>https://blog.br-analytics.ru/kak-rabotaet-analiz-tonalnosti-soobshhenij-v-brand-analytics/</a:t>
            </a:r>
            <a:endParaRPr sz="400" dirty="0">
              <a:latin typeface="Source Code Pro"/>
              <a:ea typeface="Source Code Pro"/>
              <a:cs typeface="Source Code Pro"/>
              <a:sym typeface="Source Code Pro"/>
            </a:endParaRPr>
          </a:p>
        </p:txBody>
      </p:sp>
      <p:pic>
        <p:nvPicPr>
          <p:cNvPr id="8" name="Google Shape;204;p30">
            <a:extLst>
              <a:ext uri="{FF2B5EF4-FFF2-40B4-BE49-F238E27FC236}">
                <a16:creationId xmlns:a16="http://schemas.microsoft.com/office/drawing/2014/main" id="{D9295D8F-BCE9-3B2E-3EF3-A95E6F1EFE4F}"/>
              </a:ext>
            </a:extLst>
          </p:cNvPr>
          <p:cNvPicPr preferRelativeResize="0"/>
          <p:nvPr/>
        </p:nvPicPr>
        <p:blipFill>
          <a:blip r:embed="rId4">
            <a:alphaModFix/>
          </a:blip>
          <a:stretch>
            <a:fillRect/>
          </a:stretch>
        </p:blipFill>
        <p:spPr>
          <a:xfrm>
            <a:off x="2894784" y="4108253"/>
            <a:ext cx="6402432" cy="2206976"/>
          </a:xfrm>
          <a:prstGeom prst="rect">
            <a:avLst/>
          </a:prstGeom>
          <a:noFill/>
          <a:ln>
            <a:noFill/>
          </a:ln>
        </p:spPr>
      </p:pic>
    </p:spTree>
    <p:extLst>
      <p:ext uri="{BB962C8B-B14F-4D97-AF65-F5344CB8AC3E}">
        <p14:creationId xmlns:p14="http://schemas.microsoft.com/office/powerpoint/2010/main" val="612239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EB577-5676-D621-5DFD-E34178515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166D4-9858-7003-9F8E-1E6212A0148D}"/>
              </a:ext>
            </a:extLst>
          </p:cNvPr>
          <p:cNvSpPr>
            <a:spLocks noGrp="1"/>
          </p:cNvSpPr>
          <p:nvPr>
            <p:ph type="title"/>
          </p:nvPr>
        </p:nvSpPr>
        <p:spPr/>
        <p:txBody>
          <a:bodyPr/>
          <a:lstStyle/>
          <a:p>
            <a:r>
              <a:rPr lang="en-US" dirty="0"/>
              <a:t>Distributions</a:t>
            </a:r>
            <a:endParaRPr lang="en-RU"/>
          </a:p>
        </p:txBody>
      </p:sp>
    </p:spTree>
    <p:extLst>
      <p:ext uri="{BB962C8B-B14F-4D97-AF65-F5344CB8AC3E}">
        <p14:creationId xmlns:p14="http://schemas.microsoft.com/office/powerpoint/2010/main" val="71587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231B-EEEA-907D-C910-7BF30D0CE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D9415-EE31-7368-6768-AF60C07A7A9B}"/>
              </a:ext>
            </a:extLst>
          </p:cNvPr>
          <p:cNvSpPr>
            <a:spLocks noGrp="1"/>
          </p:cNvSpPr>
          <p:nvPr>
            <p:ph type="title"/>
          </p:nvPr>
        </p:nvSpPr>
        <p:spPr/>
        <p:txBody>
          <a:bodyPr/>
          <a:lstStyle/>
          <a:p>
            <a:r>
              <a:rPr lang="en-US" dirty="0"/>
              <a:t>Statistical notation</a:t>
            </a:r>
            <a:endParaRPr lang="en-RU" dirty="0"/>
          </a:p>
        </p:txBody>
      </p:sp>
      <p:sp>
        <p:nvSpPr>
          <p:cNvPr id="3" name="Footer Placeholder 2">
            <a:extLst>
              <a:ext uri="{FF2B5EF4-FFF2-40B4-BE49-F238E27FC236}">
                <a16:creationId xmlns:a16="http://schemas.microsoft.com/office/drawing/2014/main" id="{6034EAF1-6B1C-4731-1866-F2832A544ACA}"/>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217;p32">
            <a:extLst>
              <a:ext uri="{FF2B5EF4-FFF2-40B4-BE49-F238E27FC236}">
                <a16:creationId xmlns:a16="http://schemas.microsoft.com/office/drawing/2014/main" id="{70B02647-710F-9C94-C41D-ADFBFF2BAC4F}"/>
              </a:ext>
            </a:extLst>
          </p:cNvPr>
          <p:cNvPicPr preferRelativeResize="0"/>
          <p:nvPr/>
        </p:nvPicPr>
        <p:blipFill>
          <a:blip r:embed="rId2">
            <a:alphaModFix/>
          </a:blip>
          <a:stretch>
            <a:fillRect/>
          </a:stretch>
        </p:blipFill>
        <p:spPr>
          <a:xfrm>
            <a:off x="1438397" y="2690825"/>
            <a:ext cx="3051335" cy="2166875"/>
          </a:xfrm>
          <a:prstGeom prst="rect">
            <a:avLst/>
          </a:prstGeom>
          <a:noFill/>
          <a:ln>
            <a:noFill/>
          </a:ln>
        </p:spPr>
      </p:pic>
      <p:pic>
        <p:nvPicPr>
          <p:cNvPr id="6" name="Google Shape;218;p32">
            <a:extLst>
              <a:ext uri="{FF2B5EF4-FFF2-40B4-BE49-F238E27FC236}">
                <a16:creationId xmlns:a16="http://schemas.microsoft.com/office/drawing/2014/main" id="{F61B1316-F8DC-0F09-7706-82F46E5FFDCE}"/>
              </a:ext>
            </a:extLst>
          </p:cNvPr>
          <p:cNvPicPr preferRelativeResize="0"/>
          <p:nvPr/>
        </p:nvPicPr>
        <p:blipFill>
          <a:blip r:embed="rId3">
            <a:alphaModFix/>
          </a:blip>
          <a:stretch>
            <a:fillRect/>
          </a:stretch>
        </p:blipFill>
        <p:spPr>
          <a:xfrm>
            <a:off x="6761382" y="2078314"/>
            <a:ext cx="3788151" cy="520646"/>
          </a:xfrm>
          <a:prstGeom prst="rect">
            <a:avLst/>
          </a:prstGeom>
          <a:noFill/>
          <a:ln>
            <a:noFill/>
          </a:ln>
        </p:spPr>
      </p:pic>
      <p:sp>
        <p:nvSpPr>
          <p:cNvPr id="9" name="Google Shape;219;p32">
            <a:extLst>
              <a:ext uri="{FF2B5EF4-FFF2-40B4-BE49-F238E27FC236}">
                <a16:creationId xmlns:a16="http://schemas.microsoft.com/office/drawing/2014/main" id="{C71B54BC-5939-6A2E-DA37-C77EB4F9B3F5}"/>
              </a:ext>
            </a:extLst>
          </p:cNvPr>
          <p:cNvSpPr txBox="1"/>
          <p:nvPr/>
        </p:nvSpPr>
        <p:spPr>
          <a:xfrm>
            <a:off x="6761382" y="1582625"/>
            <a:ext cx="4402200" cy="341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dirty="0">
                <a:solidFill>
                  <a:schemeClr val="accent2"/>
                </a:solidFill>
                <a:latin typeface="Roboto Condensed"/>
                <a:ea typeface="Roboto Condensed"/>
                <a:cs typeface="Roboto Condensed"/>
                <a:sym typeface="Roboto Condensed"/>
              </a:rPr>
              <a:t>Summation notation:</a:t>
            </a:r>
            <a:endParaRPr sz="2400" b="1" dirty="0">
              <a:solidFill>
                <a:schemeClr val="accent2"/>
              </a:solidFill>
              <a:latin typeface="Roboto Condensed"/>
              <a:ea typeface="Roboto Condensed"/>
              <a:cs typeface="Roboto Condensed"/>
              <a:sym typeface="Roboto Condensed"/>
            </a:endParaRPr>
          </a:p>
          <a:p>
            <a:pPr marL="0" lvl="0" indent="0" algn="l" rtl="0">
              <a:spcBef>
                <a:spcPts val="0"/>
              </a:spcBef>
              <a:spcAft>
                <a:spcPts val="0"/>
              </a:spcAft>
              <a:buNone/>
            </a:pPr>
            <a:endParaRPr sz="2400" b="1" dirty="0">
              <a:solidFill>
                <a:schemeClr val="accent2"/>
              </a:solidFill>
              <a:latin typeface="Roboto Condensed"/>
              <a:ea typeface="Roboto Condensed"/>
              <a:cs typeface="Roboto Condensed"/>
              <a:sym typeface="Roboto Condensed"/>
            </a:endParaRPr>
          </a:p>
          <a:p>
            <a:pPr marL="0" lvl="0" indent="0" algn="l" rtl="0">
              <a:spcBef>
                <a:spcPts val="0"/>
              </a:spcBef>
              <a:spcAft>
                <a:spcPts val="0"/>
              </a:spcAft>
              <a:buNone/>
            </a:pPr>
            <a:endParaRPr sz="1800" dirty="0">
              <a:solidFill>
                <a:schemeClr val="dk2"/>
              </a:solidFill>
              <a:latin typeface="Roboto Condensed"/>
              <a:ea typeface="Roboto Condensed"/>
              <a:cs typeface="Roboto Condensed"/>
              <a:sym typeface="Roboto Condensed"/>
            </a:endParaRPr>
          </a:p>
          <a:p>
            <a:pPr marL="0" lvl="0" indent="0" algn="l" rtl="0">
              <a:spcBef>
                <a:spcPts val="0"/>
              </a:spcBef>
              <a:spcAft>
                <a:spcPts val="0"/>
              </a:spcAft>
              <a:buNone/>
            </a:pPr>
            <a:r>
              <a:rPr lang="en" sz="1800" dirty="0">
                <a:solidFill>
                  <a:schemeClr val="dk2"/>
                </a:solidFill>
                <a:latin typeface="Roboto Condensed"/>
                <a:ea typeface="Roboto Condensed"/>
                <a:cs typeface="Roboto Condensed"/>
                <a:sym typeface="Roboto Condensed"/>
              </a:rPr>
              <a:t>X — variable value</a:t>
            </a:r>
            <a:endParaRPr sz="1800" dirty="0">
              <a:solidFill>
                <a:schemeClr val="dk2"/>
              </a:solidFill>
              <a:latin typeface="Roboto Condensed"/>
              <a:ea typeface="Roboto Condensed"/>
              <a:cs typeface="Roboto Condensed"/>
              <a:sym typeface="Roboto Condensed"/>
            </a:endParaRPr>
          </a:p>
          <a:p>
            <a:pPr marL="0" lvl="0" indent="0" algn="l" rtl="0">
              <a:spcBef>
                <a:spcPts val="0"/>
              </a:spcBef>
              <a:spcAft>
                <a:spcPts val="0"/>
              </a:spcAft>
              <a:buNone/>
            </a:pPr>
            <a:r>
              <a:rPr lang="en" sz="1800" dirty="0">
                <a:solidFill>
                  <a:schemeClr val="dk2"/>
                </a:solidFill>
                <a:latin typeface="Roboto Condensed"/>
                <a:ea typeface="Roboto Condensed"/>
                <a:cs typeface="Roboto Condensed"/>
                <a:sym typeface="Roboto Condensed"/>
              </a:rPr>
              <a:t>N — number of observations in population</a:t>
            </a:r>
            <a:endParaRPr sz="1800" dirty="0">
              <a:solidFill>
                <a:schemeClr val="dk2"/>
              </a:solidFill>
              <a:latin typeface="Roboto Condensed"/>
              <a:ea typeface="Roboto Condensed"/>
              <a:cs typeface="Roboto Condensed"/>
              <a:sym typeface="Roboto Condensed"/>
            </a:endParaRPr>
          </a:p>
          <a:p>
            <a:pPr marL="0" lvl="0" indent="0" algn="l" rtl="0">
              <a:spcBef>
                <a:spcPts val="0"/>
              </a:spcBef>
              <a:spcAft>
                <a:spcPts val="0"/>
              </a:spcAft>
              <a:buNone/>
            </a:pPr>
            <a:r>
              <a:rPr lang="en" sz="1800" dirty="0">
                <a:solidFill>
                  <a:schemeClr val="dk2"/>
                </a:solidFill>
                <a:latin typeface="Roboto Condensed"/>
                <a:ea typeface="Roboto Condensed"/>
                <a:cs typeface="Roboto Condensed"/>
                <a:sym typeface="Roboto Condensed"/>
              </a:rPr>
              <a:t>*n — number of observations in sample</a:t>
            </a:r>
            <a:endParaRPr sz="1800" dirty="0">
              <a:solidFill>
                <a:schemeClr val="dk2"/>
              </a:solidFill>
              <a:latin typeface="Roboto Condensed"/>
              <a:ea typeface="Roboto Condensed"/>
              <a:cs typeface="Roboto Condensed"/>
              <a:sym typeface="Roboto Condensed"/>
            </a:endParaRPr>
          </a:p>
          <a:p>
            <a:pPr marL="0" lvl="0" indent="0" algn="l" rtl="0">
              <a:spcBef>
                <a:spcPts val="0"/>
              </a:spcBef>
              <a:spcAft>
                <a:spcPts val="0"/>
              </a:spcAft>
              <a:buNone/>
            </a:pPr>
            <a:endParaRPr sz="1800" dirty="0">
              <a:solidFill>
                <a:schemeClr val="dk2"/>
              </a:solidFill>
              <a:latin typeface="Roboto Condensed"/>
              <a:ea typeface="Roboto Condensed"/>
              <a:cs typeface="Roboto Condensed"/>
              <a:sym typeface="Roboto Condensed"/>
            </a:endParaRPr>
          </a:p>
          <a:p>
            <a:pPr marL="0" marR="0" lvl="0" indent="0" algn="l" rtl="0">
              <a:lnSpc>
                <a:spcPct val="100000"/>
              </a:lnSpc>
              <a:spcBef>
                <a:spcPts val="0"/>
              </a:spcBef>
              <a:spcAft>
                <a:spcPts val="0"/>
              </a:spcAft>
              <a:buNone/>
            </a:pPr>
            <a:endParaRPr sz="1800" dirty="0">
              <a:solidFill>
                <a:schemeClr val="dk2"/>
              </a:solidFill>
              <a:latin typeface="Roboto Condensed"/>
              <a:ea typeface="Roboto Condensed"/>
              <a:cs typeface="Roboto Condensed"/>
              <a:sym typeface="Roboto Condensed"/>
            </a:endParaRPr>
          </a:p>
          <a:p>
            <a:pPr marL="0" marR="0" lvl="0" indent="0" algn="l" rtl="0">
              <a:lnSpc>
                <a:spcPct val="100000"/>
              </a:lnSpc>
              <a:spcBef>
                <a:spcPts val="0"/>
              </a:spcBef>
              <a:spcAft>
                <a:spcPts val="0"/>
              </a:spcAft>
              <a:buNone/>
            </a:pPr>
            <a:r>
              <a:rPr lang="en" sz="1800" b="1" i="1" dirty="0">
                <a:solidFill>
                  <a:schemeClr val="dk2"/>
                </a:solidFill>
                <a:latin typeface="Roboto Condensed"/>
                <a:ea typeface="Roboto Condensed"/>
                <a:cs typeface="Roboto Condensed"/>
                <a:sym typeface="Roboto Condensed"/>
              </a:rPr>
              <a:t>What is the value of </a:t>
            </a:r>
            <a:r>
              <a:rPr lang="en" sz="1800" b="1" i="1" dirty="0" err="1">
                <a:solidFill>
                  <a:schemeClr val="dk2"/>
                </a:solidFill>
                <a:latin typeface="Roboto Condensed"/>
                <a:ea typeface="Roboto Condensed"/>
                <a:cs typeface="Roboto Condensed"/>
                <a:sym typeface="Roboto Condensed"/>
              </a:rPr>
              <a:t>Σ</a:t>
            </a:r>
            <a:r>
              <a:rPr lang="en" sz="1800" b="1" i="1" dirty="0">
                <a:solidFill>
                  <a:schemeClr val="dk2"/>
                </a:solidFill>
                <a:latin typeface="Roboto Condensed"/>
                <a:ea typeface="Roboto Condensed"/>
                <a:cs typeface="Roboto Condensed"/>
                <a:sym typeface="Roboto Condensed"/>
              </a:rPr>
              <a:t>(X – 2) for the following scores: 6, 2, 4, 2?</a:t>
            </a:r>
            <a:endParaRPr sz="1800" b="1" i="1" dirty="0">
              <a:solidFill>
                <a:schemeClr val="dk2"/>
              </a:solidFill>
              <a:latin typeface="Roboto Condensed"/>
              <a:ea typeface="Roboto Condensed"/>
              <a:cs typeface="Roboto Condensed"/>
              <a:sym typeface="Roboto Condensed"/>
            </a:endParaRPr>
          </a:p>
          <a:p>
            <a:pPr marL="0" lvl="0" indent="0" algn="l" rtl="0">
              <a:spcBef>
                <a:spcPts val="0"/>
              </a:spcBef>
              <a:spcAft>
                <a:spcPts val="0"/>
              </a:spcAft>
              <a:buNone/>
            </a:pPr>
            <a:endParaRPr sz="1800" dirty="0">
              <a:solidFill>
                <a:schemeClr val="dk2"/>
              </a:solidFill>
              <a:latin typeface="Roboto Condensed"/>
              <a:ea typeface="Roboto Condensed"/>
              <a:cs typeface="Roboto Condensed"/>
              <a:sym typeface="Roboto Condensed"/>
            </a:endParaRPr>
          </a:p>
        </p:txBody>
      </p:sp>
      <p:sp>
        <p:nvSpPr>
          <p:cNvPr id="10" name="Google Shape;220;p32">
            <a:extLst>
              <a:ext uri="{FF2B5EF4-FFF2-40B4-BE49-F238E27FC236}">
                <a16:creationId xmlns:a16="http://schemas.microsoft.com/office/drawing/2014/main" id="{E976341A-3241-8D68-BCBE-DFCBD738FF17}"/>
              </a:ext>
            </a:extLst>
          </p:cNvPr>
          <p:cNvSpPr txBox="1"/>
          <p:nvPr/>
        </p:nvSpPr>
        <p:spPr>
          <a:xfrm>
            <a:off x="1364147" y="1582625"/>
            <a:ext cx="36909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accent2"/>
                </a:solidFill>
                <a:latin typeface="Roboto Condensed"/>
                <a:ea typeface="Roboto Condensed"/>
                <a:cs typeface="Roboto Condensed"/>
                <a:sym typeface="Roboto Condensed"/>
              </a:rPr>
              <a:t>Table:</a:t>
            </a:r>
            <a:endParaRPr sz="2400" b="1">
              <a:solidFill>
                <a:schemeClr val="accent2"/>
              </a:solidFill>
              <a:latin typeface="Roboto Condensed"/>
              <a:ea typeface="Roboto Condensed"/>
              <a:cs typeface="Roboto Condensed"/>
              <a:sym typeface="Roboto Condensed"/>
            </a:endParaRPr>
          </a:p>
          <a:p>
            <a:pPr marL="0" lvl="0" indent="0" algn="l" rtl="0">
              <a:spcBef>
                <a:spcPts val="0"/>
              </a:spcBef>
              <a:spcAft>
                <a:spcPts val="0"/>
              </a:spcAft>
              <a:buNone/>
            </a:pPr>
            <a:r>
              <a:rPr lang="en" sz="1800">
                <a:solidFill>
                  <a:schemeClr val="dk2"/>
                </a:solidFill>
                <a:latin typeface="Roboto Condensed"/>
                <a:ea typeface="Roboto Condensed"/>
                <a:cs typeface="Roboto Condensed"/>
                <a:sym typeface="Roboto Condensed"/>
              </a:rPr>
              <a:t>row — observation</a:t>
            </a:r>
            <a:endParaRPr sz="1800">
              <a:solidFill>
                <a:schemeClr val="dk2"/>
              </a:solidFill>
              <a:latin typeface="Roboto Condensed"/>
              <a:ea typeface="Roboto Condensed"/>
              <a:cs typeface="Roboto Condensed"/>
              <a:sym typeface="Roboto Condensed"/>
            </a:endParaRPr>
          </a:p>
          <a:p>
            <a:pPr marL="0" lvl="0" indent="0" algn="l" rtl="0">
              <a:spcBef>
                <a:spcPts val="0"/>
              </a:spcBef>
              <a:spcAft>
                <a:spcPts val="0"/>
              </a:spcAft>
              <a:buNone/>
            </a:pPr>
            <a:r>
              <a:rPr lang="en" sz="1800">
                <a:solidFill>
                  <a:schemeClr val="dk2"/>
                </a:solidFill>
                <a:latin typeface="Roboto Condensed"/>
                <a:ea typeface="Roboto Condensed"/>
                <a:cs typeface="Roboto Condensed"/>
                <a:sym typeface="Roboto Condensed"/>
              </a:rPr>
              <a:t>column — variable</a:t>
            </a:r>
            <a:endParaRPr sz="1800">
              <a:solidFill>
                <a:schemeClr val="dk2"/>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3102213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71007-10C4-D3D6-760E-FC124887F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E507A-FFCC-4164-A684-A06DF5AF8CB1}"/>
              </a:ext>
            </a:extLst>
          </p:cNvPr>
          <p:cNvSpPr>
            <a:spLocks noGrp="1"/>
          </p:cNvSpPr>
          <p:nvPr>
            <p:ph type="title"/>
          </p:nvPr>
        </p:nvSpPr>
        <p:spPr/>
        <p:txBody>
          <a:bodyPr/>
          <a:lstStyle/>
          <a:p>
            <a:r>
              <a:rPr lang="en-US" dirty="0"/>
              <a:t>Frequency distribution</a:t>
            </a:r>
            <a:endParaRPr lang="en-RU" dirty="0"/>
          </a:p>
        </p:txBody>
      </p:sp>
      <p:sp>
        <p:nvSpPr>
          <p:cNvPr id="3" name="Footer Placeholder 2">
            <a:extLst>
              <a:ext uri="{FF2B5EF4-FFF2-40B4-BE49-F238E27FC236}">
                <a16:creationId xmlns:a16="http://schemas.microsoft.com/office/drawing/2014/main" id="{041CEFBB-2FE3-814C-6D59-FB0EA6C21D73}"/>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6" name="Content Placeholder 1">
            <a:extLst>
              <a:ext uri="{FF2B5EF4-FFF2-40B4-BE49-F238E27FC236}">
                <a16:creationId xmlns:a16="http://schemas.microsoft.com/office/drawing/2014/main" id="{452EBCD4-8334-81D9-9665-C01440C1FF24}"/>
              </a:ext>
            </a:extLst>
          </p:cNvPr>
          <p:cNvSpPr>
            <a:spLocks noGrp="1"/>
          </p:cNvSpPr>
          <p:nvPr/>
        </p:nvSpPr>
        <p:spPr>
          <a:xfrm>
            <a:off x="192505" y="1877913"/>
            <a:ext cx="11253824" cy="1951137"/>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2000"/>
              <a:t>A </a:t>
            </a:r>
            <a:r>
              <a:rPr lang="en-RU" sz="2000" b="1"/>
              <a:t>frequency distribution</a:t>
            </a:r>
            <a:r>
              <a:rPr lang="en-RU" sz="2000"/>
              <a:t> is an organized tabulation of the number of individuals located in each category on the scale of measurement.</a:t>
            </a:r>
            <a:endParaRPr lang="en-US" sz="2000" dirty="0"/>
          </a:p>
          <a:p>
            <a:pPr marL="432000" algn="just"/>
            <a:endParaRPr lang="en-US" sz="2000" b="0" dirty="0"/>
          </a:p>
          <a:p>
            <a:pPr marL="21600" indent="0">
              <a:buNone/>
            </a:pPr>
            <a:r>
              <a:rPr lang="en-US" sz="2000" b="0" dirty="0"/>
              <a:t>What is the frequency distribution for the following data?</a:t>
            </a:r>
          </a:p>
        </p:txBody>
      </p:sp>
      <p:pic>
        <p:nvPicPr>
          <p:cNvPr id="8" name="Google Shape;245;p35">
            <a:extLst>
              <a:ext uri="{FF2B5EF4-FFF2-40B4-BE49-F238E27FC236}">
                <a16:creationId xmlns:a16="http://schemas.microsoft.com/office/drawing/2014/main" id="{ADF01B36-1C08-4AF5-DFDA-8804046B5881}"/>
              </a:ext>
            </a:extLst>
          </p:cNvPr>
          <p:cNvPicPr preferRelativeResize="0"/>
          <p:nvPr/>
        </p:nvPicPr>
        <p:blipFill rotWithShape="1">
          <a:blip r:embed="rId2">
            <a:alphaModFix/>
          </a:blip>
          <a:srcRect l="-2460" r="2460"/>
          <a:stretch/>
        </p:blipFill>
        <p:spPr>
          <a:xfrm>
            <a:off x="940522" y="3829050"/>
            <a:ext cx="3697650" cy="623700"/>
          </a:xfrm>
          <a:prstGeom prst="rect">
            <a:avLst/>
          </a:prstGeom>
          <a:noFill/>
          <a:ln>
            <a:noFill/>
          </a:ln>
        </p:spPr>
      </p:pic>
    </p:spTree>
    <p:extLst>
      <p:ext uri="{BB962C8B-B14F-4D97-AF65-F5344CB8AC3E}">
        <p14:creationId xmlns:p14="http://schemas.microsoft.com/office/powerpoint/2010/main" val="866032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0782-47CC-FB9F-50D5-A2ECF942C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DB0EB-0F41-5DD7-866A-4B3FB9C1A931}"/>
              </a:ext>
            </a:extLst>
          </p:cNvPr>
          <p:cNvSpPr>
            <a:spLocks noGrp="1"/>
          </p:cNvSpPr>
          <p:nvPr>
            <p:ph type="title"/>
          </p:nvPr>
        </p:nvSpPr>
        <p:spPr/>
        <p:txBody>
          <a:bodyPr/>
          <a:lstStyle/>
          <a:p>
            <a:r>
              <a:rPr lang="en-US" dirty="0"/>
              <a:t>Frequency distribution</a:t>
            </a:r>
            <a:endParaRPr lang="en-RU" dirty="0"/>
          </a:p>
        </p:txBody>
      </p:sp>
      <p:sp>
        <p:nvSpPr>
          <p:cNvPr id="3" name="Footer Placeholder 2">
            <a:extLst>
              <a:ext uri="{FF2B5EF4-FFF2-40B4-BE49-F238E27FC236}">
                <a16:creationId xmlns:a16="http://schemas.microsoft.com/office/drawing/2014/main" id="{C5A4656A-BBB8-8B4F-ABEE-B67B4523D329}"/>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6" name="Content Placeholder 1">
            <a:extLst>
              <a:ext uri="{FF2B5EF4-FFF2-40B4-BE49-F238E27FC236}">
                <a16:creationId xmlns:a16="http://schemas.microsoft.com/office/drawing/2014/main" id="{AEE53C66-43F2-0CA3-1948-A0E6421F28B7}"/>
              </a:ext>
            </a:extLst>
          </p:cNvPr>
          <p:cNvSpPr>
            <a:spLocks noGrp="1"/>
          </p:cNvSpPr>
          <p:nvPr/>
        </p:nvSpPr>
        <p:spPr>
          <a:xfrm>
            <a:off x="192505" y="1877913"/>
            <a:ext cx="11253824" cy="1951137"/>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2000"/>
              <a:t>A </a:t>
            </a:r>
            <a:r>
              <a:rPr lang="en-RU" sz="2000" b="1"/>
              <a:t>frequency distribution</a:t>
            </a:r>
            <a:r>
              <a:rPr lang="en-RU" sz="2000"/>
              <a:t> is an organized tabulation of the number of individuals located in each category on the scale of measurement.</a:t>
            </a:r>
            <a:endParaRPr lang="en-US" sz="2000" dirty="0"/>
          </a:p>
          <a:p>
            <a:pPr marL="432000" algn="just"/>
            <a:endParaRPr lang="en-US" sz="2000" b="0" dirty="0"/>
          </a:p>
          <a:p>
            <a:pPr marL="21600" indent="0">
              <a:buNone/>
            </a:pPr>
            <a:r>
              <a:rPr lang="en-US" sz="2000" b="0" dirty="0"/>
              <a:t>What is the frequency distribution for the following data?</a:t>
            </a:r>
          </a:p>
        </p:txBody>
      </p:sp>
      <p:pic>
        <p:nvPicPr>
          <p:cNvPr id="8" name="Google Shape;245;p35">
            <a:extLst>
              <a:ext uri="{FF2B5EF4-FFF2-40B4-BE49-F238E27FC236}">
                <a16:creationId xmlns:a16="http://schemas.microsoft.com/office/drawing/2014/main" id="{FE89F442-9F29-F8D2-A5AE-D79A638BE466}"/>
              </a:ext>
            </a:extLst>
          </p:cNvPr>
          <p:cNvPicPr preferRelativeResize="0"/>
          <p:nvPr/>
        </p:nvPicPr>
        <p:blipFill rotWithShape="1">
          <a:blip r:embed="rId2">
            <a:alphaModFix/>
          </a:blip>
          <a:srcRect l="-2460" r="2460"/>
          <a:stretch/>
        </p:blipFill>
        <p:spPr>
          <a:xfrm>
            <a:off x="940522" y="3829050"/>
            <a:ext cx="3697650" cy="623700"/>
          </a:xfrm>
          <a:prstGeom prst="rect">
            <a:avLst/>
          </a:prstGeom>
          <a:noFill/>
          <a:ln>
            <a:noFill/>
          </a:ln>
        </p:spPr>
      </p:pic>
      <p:pic>
        <p:nvPicPr>
          <p:cNvPr id="4" name="Google Shape;254;p36">
            <a:extLst>
              <a:ext uri="{FF2B5EF4-FFF2-40B4-BE49-F238E27FC236}">
                <a16:creationId xmlns:a16="http://schemas.microsoft.com/office/drawing/2014/main" id="{C69277A3-FC81-A9EF-EE06-0ED9AF626BAB}"/>
              </a:ext>
            </a:extLst>
          </p:cNvPr>
          <p:cNvPicPr preferRelativeResize="0"/>
          <p:nvPr/>
        </p:nvPicPr>
        <p:blipFill>
          <a:blip r:embed="rId3">
            <a:alphaModFix/>
          </a:blip>
          <a:stretch>
            <a:fillRect/>
          </a:stretch>
        </p:blipFill>
        <p:spPr>
          <a:xfrm>
            <a:off x="5030989" y="3749675"/>
            <a:ext cx="2038350" cy="2743200"/>
          </a:xfrm>
          <a:prstGeom prst="rect">
            <a:avLst/>
          </a:prstGeom>
          <a:noFill/>
          <a:ln>
            <a:noFill/>
          </a:ln>
        </p:spPr>
      </p:pic>
      <p:pic>
        <p:nvPicPr>
          <p:cNvPr id="5" name="Google Shape;255;p36">
            <a:extLst>
              <a:ext uri="{FF2B5EF4-FFF2-40B4-BE49-F238E27FC236}">
                <a16:creationId xmlns:a16="http://schemas.microsoft.com/office/drawing/2014/main" id="{820FE9FF-1912-696D-EFBD-61DADE729EA1}"/>
              </a:ext>
            </a:extLst>
          </p:cNvPr>
          <p:cNvPicPr preferRelativeResize="0"/>
          <p:nvPr/>
        </p:nvPicPr>
        <p:blipFill>
          <a:blip r:embed="rId4">
            <a:alphaModFix/>
          </a:blip>
          <a:stretch>
            <a:fillRect/>
          </a:stretch>
        </p:blipFill>
        <p:spPr>
          <a:xfrm>
            <a:off x="7069339" y="5121275"/>
            <a:ext cx="1522633" cy="772593"/>
          </a:xfrm>
          <a:prstGeom prst="rect">
            <a:avLst/>
          </a:prstGeom>
          <a:noFill/>
          <a:ln>
            <a:noFill/>
          </a:ln>
        </p:spPr>
      </p:pic>
    </p:spTree>
    <p:extLst>
      <p:ext uri="{BB962C8B-B14F-4D97-AF65-F5344CB8AC3E}">
        <p14:creationId xmlns:p14="http://schemas.microsoft.com/office/powerpoint/2010/main" val="2671790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9E655-6906-E46D-E71C-F49F26300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94809-BB7E-5290-F8B2-DDBE34226BC6}"/>
              </a:ext>
            </a:extLst>
          </p:cNvPr>
          <p:cNvSpPr>
            <a:spLocks noGrp="1"/>
          </p:cNvSpPr>
          <p:nvPr>
            <p:ph type="title"/>
          </p:nvPr>
        </p:nvSpPr>
        <p:spPr/>
        <p:txBody>
          <a:bodyPr/>
          <a:lstStyle/>
          <a:p>
            <a:r>
              <a:rPr lang="en-US" dirty="0"/>
              <a:t>Proportions and Percentage</a:t>
            </a:r>
            <a:endParaRPr lang="en-RU" dirty="0"/>
          </a:p>
        </p:txBody>
      </p:sp>
      <p:sp>
        <p:nvSpPr>
          <p:cNvPr id="3" name="Footer Placeholder 2">
            <a:extLst>
              <a:ext uri="{FF2B5EF4-FFF2-40B4-BE49-F238E27FC236}">
                <a16:creationId xmlns:a16="http://schemas.microsoft.com/office/drawing/2014/main" id="{1A291C72-027E-8326-2363-0F81320FDA20}"/>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7" name="Google Shape;262;p37">
            <a:extLst>
              <a:ext uri="{FF2B5EF4-FFF2-40B4-BE49-F238E27FC236}">
                <a16:creationId xmlns:a16="http://schemas.microsoft.com/office/drawing/2014/main" id="{F6662E99-A2C9-9617-1FC8-818226A4E46C}"/>
              </a:ext>
            </a:extLst>
          </p:cNvPr>
          <p:cNvPicPr preferRelativeResize="0"/>
          <p:nvPr/>
        </p:nvPicPr>
        <p:blipFill rotWithShape="1">
          <a:blip r:embed="rId2">
            <a:alphaModFix/>
          </a:blip>
          <a:srcRect r="74458"/>
          <a:stretch/>
        </p:blipFill>
        <p:spPr>
          <a:xfrm>
            <a:off x="377039" y="1921639"/>
            <a:ext cx="1900796" cy="3014721"/>
          </a:xfrm>
          <a:prstGeom prst="rect">
            <a:avLst/>
          </a:prstGeom>
          <a:noFill/>
          <a:ln>
            <a:noFill/>
          </a:ln>
        </p:spPr>
      </p:pic>
    </p:spTree>
    <p:extLst>
      <p:ext uri="{BB962C8B-B14F-4D97-AF65-F5344CB8AC3E}">
        <p14:creationId xmlns:p14="http://schemas.microsoft.com/office/powerpoint/2010/main" val="3306507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C05CF-3866-C1BE-5799-038CDB009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4EA54-2C56-07F0-FF32-5CD277A005D7}"/>
              </a:ext>
            </a:extLst>
          </p:cNvPr>
          <p:cNvSpPr>
            <a:spLocks noGrp="1"/>
          </p:cNvSpPr>
          <p:nvPr>
            <p:ph type="title"/>
          </p:nvPr>
        </p:nvSpPr>
        <p:spPr/>
        <p:txBody>
          <a:bodyPr/>
          <a:lstStyle/>
          <a:p>
            <a:r>
              <a:rPr lang="en-US" dirty="0"/>
              <a:t>Proportions and Percentage</a:t>
            </a:r>
            <a:endParaRPr lang="en-RU" dirty="0"/>
          </a:p>
        </p:txBody>
      </p:sp>
      <p:sp>
        <p:nvSpPr>
          <p:cNvPr id="3" name="Footer Placeholder 2">
            <a:extLst>
              <a:ext uri="{FF2B5EF4-FFF2-40B4-BE49-F238E27FC236}">
                <a16:creationId xmlns:a16="http://schemas.microsoft.com/office/drawing/2014/main" id="{C4430797-9327-A58C-38E6-2043460F6EC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269;p38">
            <a:extLst>
              <a:ext uri="{FF2B5EF4-FFF2-40B4-BE49-F238E27FC236}">
                <a16:creationId xmlns:a16="http://schemas.microsoft.com/office/drawing/2014/main" id="{C2306EF8-CD04-7766-61FC-FD5F8C32D67B}"/>
              </a:ext>
            </a:extLst>
          </p:cNvPr>
          <p:cNvPicPr preferRelativeResize="0"/>
          <p:nvPr/>
        </p:nvPicPr>
        <p:blipFill rotWithShape="1">
          <a:blip r:embed="rId2">
            <a:alphaModFix/>
          </a:blip>
          <a:srcRect r="33866"/>
          <a:stretch/>
        </p:blipFill>
        <p:spPr>
          <a:xfrm>
            <a:off x="363461" y="1921639"/>
            <a:ext cx="4943326" cy="3014721"/>
          </a:xfrm>
          <a:prstGeom prst="rect">
            <a:avLst/>
          </a:prstGeom>
          <a:noFill/>
          <a:ln>
            <a:noFill/>
          </a:ln>
        </p:spPr>
      </p:pic>
    </p:spTree>
    <p:extLst>
      <p:ext uri="{BB962C8B-B14F-4D97-AF65-F5344CB8AC3E}">
        <p14:creationId xmlns:p14="http://schemas.microsoft.com/office/powerpoint/2010/main" val="3961046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06FB-3E8E-9B7D-50A7-56FB06516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F424A-99DF-B54D-41A6-DB37FBA86163}"/>
              </a:ext>
            </a:extLst>
          </p:cNvPr>
          <p:cNvSpPr>
            <a:spLocks noGrp="1"/>
          </p:cNvSpPr>
          <p:nvPr>
            <p:ph type="title"/>
          </p:nvPr>
        </p:nvSpPr>
        <p:spPr/>
        <p:txBody>
          <a:bodyPr/>
          <a:lstStyle/>
          <a:p>
            <a:r>
              <a:rPr lang="en-US" dirty="0"/>
              <a:t>Proportions and Percentage</a:t>
            </a:r>
            <a:endParaRPr lang="en-RU" dirty="0"/>
          </a:p>
        </p:txBody>
      </p:sp>
      <p:sp>
        <p:nvSpPr>
          <p:cNvPr id="3" name="Footer Placeholder 2">
            <a:extLst>
              <a:ext uri="{FF2B5EF4-FFF2-40B4-BE49-F238E27FC236}">
                <a16:creationId xmlns:a16="http://schemas.microsoft.com/office/drawing/2014/main" id="{2F0F9327-B7B2-5354-B1D4-F025089CCA76}"/>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276;p39">
            <a:extLst>
              <a:ext uri="{FF2B5EF4-FFF2-40B4-BE49-F238E27FC236}">
                <a16:creationId xmlns:a16="http://schemas.microsoft.com/office/drawing/2014/main" id="{7CF48C4A-4E64-54DA-631C-F7E3E40E6A71}"/>
              </a:ext>
            </a:extLst>
          </p:cNvPr>
          <p:cNvPicPr preferRelativeResize="0"/>
          <p:nvPr/>
        </p:nvPicPr>
        <p:blipFill>
          <a:blip r:embed="rId2">
            <a:alphaModFix/>
          </a:blip>
          <a:stretch>
            <a:fillRect/>
          </a:stretch>
        </p:blipFill>
        <p:spPr>
          <a:xfrm>
            <a:off x="371596" y="1921639"/>
            <a:ext cx="7392639" cy="3014721"/>
          </a:xfrm>
          <a:prstGeom prst="rect">
            <a:avLst/>
          </a:prstGeom>
          <a:noFill/>
          <a:ln>
            <a:noFill/>
          </a:ln>
        </p:spPr>
      </p:pic>
    </p:spTree>
    <p:extLst>
      <p:ext uri="{BB962C8B-B14F-4D97-AF65-F5344CB8AC3E}">
        <p14:creationId xmlns:p14="http://schemas.microsoft.com/office/powerpoint/2010/main" val="142192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7B73A-E4CD-66E9-7356-2E54BF7E0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6ADD2-17CC-E6A9-74F8-FA9125AB6388}"/>
              </a:ext>
            </a:extLst>
          </p:cNvPr>
          <p:cNvSpPr>
            <a:spLocks noGrp="1"/>
          </p:cNvSpPr>
          <p:nvPr>
            <p:ph type="title"/>
          </p:nvPr>
        </p:nvSpPr>
        <p:spPr/>
        <p:txBody>
          <a:bodyPr/>
          <a:lstStyle/>
          <a:p>
            <a:r>
              <a:rPr lang="en-US" dirty="0"/>
              <a:t>Frequency distribution graphs: histogram</a:t>
            </a:r>
            <a:endParaRPr lang="en-RU" dirty="0"/>
          </a:p>
        </p:txBody>
      </p:sp>
      <p:sp>
        <p:nvSpPr>
          <p:cNvPr id="3" name="Footer Placeholder 2">
            <a:extLst>
              <a:ext uri="{FF2B5EF4-FFF2-40B4-BE49-F238E27FC236}">
                <a16:creationId xmlns:a16="http://schemas.microsoft.com/office/drawing/2014/main" id="{59C9966D-E0ED-6E94-9D42-8539BCFEA83E}"/>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304;p43">
            <a:extLst>
              <a:ext uri="{FF2B5EF4-FFF2-40B4-BE49-F238E27FC236}">
                <a16:creationId xmlns:a16="http://schemas.microsoft.com/office/drawing/2014/main" id="{894948FE-E31E-BA0D-D4D9-65FA2466C51E}"/>
              </a:ext>
            </a:extLst>
          </p:cNvPr>
          <p:cNvPicPr preferRelativeResize="0"/>
          <p:nvPr/>
        </p:nvPicPr>
        <p:blipFill>
          <a:blip r:embed="rId2">
            <a:alphaModFix/>
          </a:blip>
          <a:stretch>
            <a:fillRect/>
          </a:stretch>
        </p:blipFill>
        <p:spPr>
          <a:xfrm>
            <a:off x="192505" y="2505994"/>
            <a:ext cx="5191004" cy="2714625"/>
          </a:xfrm>
          <a:prstGeom prst="rect">
            <a:avLst/>
          </a:prstGeom>
          <a:noFill/>
          <a:ln>
            <a:noFill/>
          </a:ln>
        </p:spPr>
      </p:pic>
      <p:pic>
        <p:nvPicPr>
          <p:cNvPr id="6" name="Google Shape;318;p45">
            <a:extLst>
              <a:ext uri="{FF2B5EF4-FFF2-40B4-BE49-F238E27FC236}">
                <a16:creationId xmlns:a16="http://schemas.microsoft.com/office/drawing/2014/main" id="{51C395B3-3F02-D5AC-46F4-B9399256DCDF}"/>
              </a:ext>
            </a:extLst>
          </p:cNvPr>
          <p:cNvPicPr preferRelativeResize="0"/>
          <p:nvPr/>
        </p:nvPicPr>
        <p:blipFill>
          <a:blip r:embed="rId3">
            <a:alphaModFix/>
          </a:blip>
          <a:stretch>
            <a:fillRect/>
          </a:stretch>
        </p:blipFill>
        <p:spPr>
          <a:xfrm>
            <a:off x="5383509" y="2505993"/>
            <a:ext cx="6391154" cy="2714625"/>
          </a:xfrm>
          <a:prstGeom prst="rect">
            <a:avLst/>
          </a:prstGeom>
          <a:noFill/>
          <a:ln>
            <a:noFill/>
          </a:ln>
        </p:spPr>
      </p:pic>
    </p:spTree>
    <p:extLst>
      <p:ext uri="{BB962C8B-B14F-4D97-AF65-F5344CB8AC3E}">
        <p14:creationId xmlns:p14="http://schemas.microsoft.com/office/powerpoint/2010/main" val="2910790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3C45-F01F-6459-5FBA-A7ADF5D47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C650B-5DAD-E149-9433-00941A620A6F}"/>
              </a:ext>
            </a:extLst>
          </p:cNvPr>
          <p:cNvSpPr>
            <a:spLocks noGrp="1"/>
          </p:cNvSpPr>
          <p:nvPr>
            <p:ph type="title"/>
          </p:nvPr>
        </p:nvSpPr>
        <p:spPr/>
        <p:txBody>
          <a:bodyPr/>
          <a:lstStyle/>
          <a:p>
            <a:r>
              <a:rPr lang="en-US" dirty="0"/>
              <a:t>Histogram</a:t>
            </a:r>
            <a:endParaRPr lang="en-RU" dirty="0"/>
          </a:p>
        </p:txBody>
      </p:sp>
      <p:sp>
        <p:nvSpPr>
          <p:cNvPr id="3" name="Footer Placeholder 2">
            <a:extLst>
              <a:ext uri="{FF2B5EF4-FFF2-40B4-BE49-F238E27FC236}">
                <a16:creationId xmlns:a16="http://schemas.microsoft.com/office/drawing/2014/main" id="{F6E259FA-BF84-6023-33F2-2ECB9428EE42}"/>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8" name="Content Placeholder 1">
            <a:extLst>
              <a:ext uri="{FF2B5EF4-FFF2-40B4-BE49-F238E27FC236}">
                <a16:creationId xmlns:a16="http://schemas.microsoft.com/office/drawing/2014/main" id="{E7B4C5EE-D186-F5D5-CD46-B95C6A6971C8}"/>
              </a:ext>
            </a:extLst>
          </p:cNvPr>
          <p:cNvSpPr>
            <a:spLocks noGrp="1"/>
          </p:cNvSpPr>
          <p:nvPr/>
        </p:nvSpPr>
        <p:spPr>
          <a:xfrm>
            <a:off x="376621" y="2072366"/>
            <a:ext cx="11438758" cy="2885624"/>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To construct a histogram, you first list the numerical scores (the categories of measurement) along the X-axis. Then you draw a bar above each X value so</a:t>
            </a:r>
            <a:r>
              <a:rPr lang="en-US" sz="1800" dirty="0"/>
              <a:t> that</a:t>
            </a:r>
          </a:p>
          <a:p>
            <a:pPr marL="307350" indent="-285750" algn="just">
              <a:buFont typeface="Courier New" panose="02070309020205020404" pitchFamily="49" charset="0"/>
              <a:buChar char="o"/>
            </a:pPr>
            <a:r>
              <a:rPr lang="en-US" sz="1600" b="0" dirty="0"/>
              <a:t>The height of the bar corresponds to the frequency for that category.</a:t>
            </a:r>
          </a:p>
          <a:p>
            <a:pPr marL="307350" indent="-285750" algn="just">
              <a:buFont typeface="Courier New" panose="02070309020205020404" pitchFamily="49" charset="0"/>
              <a:buChar char="o"/>
            </a:pPr>
            <a:r>
              <a:rPr lang="en-US" sz="1600" b="0" dirty="0"/>
              <a:t>For continuous variables, the width of the bar extends to the real limits of the category. For discrete variables, each bar extends exactly half the distance to the adjacent category on each side.	</a:t>
            </a:r>
            <a:r>
              <a:rPr lang="en-US" sz="2800" b="0" dirty="0"/>
              <a:t>	</a:t>
            </a:r>
            <a:endParaRPr lang="en-RU" sz="2800" dirty="0"/>
          </a:p>
        </p:txBody>
      </p:sp>
    </p:spTree>
    <p:extLst>
      <p:ext uri="{BB962C8B-B14F-4D97-AF65-F5344CB8AC3E}">
        <p14:creationId xmlns:p14="http://schemas.microsoft.com/office/powerpoint/2010/main" val="135759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D5472-FB77-2487-445C-0A2DDA52E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AAC54-76DD-3E70-AA32-2A991B5F2E96}"/>
              </a:ext>
            </a:extLst>
          </p:cNvPr>
          <p:cNvSpPr>
            <a:spLocks noGrp="1"/>
          </p:cNvSpPr>
          <p:nvPr>
            <p:ph type="title"/>
          </p:nvPr>
        </p:nvSpPr>
        <p:spPr/>
        <p:txBody>
          <a:bodyPr/>
          <a:lstStyle/>
          <a:p>
            <a:r>
              <a:rPr lang="en-US" dirty="0"/>
              <a:t>Frequency distribution graphs: polygons</a:t>
            </a:r>
            <a:endParaRPr lang="en-RU" dirty="0"/>
          </a:p>
        </p:txBody>
      </p:sp>
      <p:sp>
        <p:nvSpPr>
          <p:cNvPr id="3" name="Footer Placeholder 2">
            <a:extLst>
              <a:ext uri="{FF2B5EF4-FFF2-40B4-BE49-F238E27FC236}">
                <a16:creationId xmlns:a16="http://schemas.microsoft.com/office/drawing/2014/main" id="{27AFAC2E-E4A7-3FB2-000A-EE6414C758F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339;p48">
            <a:extLst>
              <a:ext uri="{FF2B5EF4-FFF2-40B4-BE49-F238E27FC236}">
                <a16:creationId xmlns:a16="http://schemas.microsoft.com/office/drawing/2014/main" id="{D197B182-9798-D31E-9488-74D4BC761B62}"/>
              </a:ext>
            </a:extLst>
          </p:cNvPr>
          <p:cNvPicPr preferRelativeResize="0"/>
          <p:nvPr/>
        </p:nvPicPr>
        <p:blipFill>
          <a:blip r:embed="rId2">
            <a:alphaModFix/>
          </a:blip>
          <a:stretch>
            <a:fillRect/>
          </a:stretch>
        </p:blipFill>
        <p:spPr>
          <a:xfrm>
            <a:off x="372120" y="1786062"/>
            <a:ext cx="5187759" cy="3285874"/>
          </a:xfrm>
          <a:prstGeom prst="rect">
            <a:avLst/>
          </a:prstGeom>
          <a:noFill/>
          <a:ln>
            <a:noFill/>
          </a:ln>
        </p:spPr>
      </p:pic>
      <p:pic>
        <p:nvPicPr>
          <p:cNvPr id="5" name="Google Shape;353;p50">
            <a:extLst>
              <a:ext uri="{FF2B5EF4-FFF2-40B4-BE49-F238E27FC236}">
                <a16:creationId xmlns:a16="http://schemas.microsoft.com/office/drawing/2014/main" id="{AE17C09E-764D-690D-1B94-85CE02A0B527}"/>
              </a:ext>
            </a:extLst>
          </p:cNvPr>
          <p:cNvPicPr preferRelativeResize="0"/>
          <p:nvPr/>
        </p:nvPicPr>
        <p:blipFill>
          <a:blip r:embed="rId3">
            <a:alphaModFix/>
          </a:blip>
          <a:stretch>
            <a:fillRect/>
          </a:stretch>
        </p:blipFill>
        <p:spPr>
          <a:xfrm>
            <a:off x="5798526" y="1827416"/>
            <a:ext cx="5576750" cy="3191736"/>
          </a:xfrm>
          <a:prstGeom prst="rect">
            <a:avLst/>
          </a:prstGeom>
          <a:noFill/>
          <a:ln>
            <a:noFill/>
          </a:ln>
        </p:spPr>
      </p:pic>
      <p:sp>
        <p:nvSpPr>
          <p:cNvPr id="6" name="Google Shape;354;p50">
            <a:extLst>
              <a:ext uri="{FF2B5EF4-FFF2-40B4-BE49-F238E27FC236}">
                <a16:creationId xmlns:a16="http://schemas.microsoft.com/office/drawing/2014/main" id="{F32838AD-5F31-411B-66EF-05CBE9E42D24}"/>
              </a:ext>
            </a:extLst>
          </p:cNvPr>
          <p:cNvSpPr txBox="1"/>
          <p:nvPr/>
        </p:nvSpPr>
        <p:spPr>
          <a:xfrm>
            <a:off x="6516432" y="4997263"/>
            <a:ext cx="4963096" cy="47663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50" dirty="0">
                <a:latin typeface="Roboto Condensed"/>
                <a:ea typeface="Roboto Condensed"/>
                <a:cs typeface="Roboto Condensed"/>
                <a:sym typeface="Roboto Condensed"/>
              </a:rPr>
              <a:t>Here dots are placed </a:t>
            </a:r>
            <a:r>
              <a:rPr lang="en-US" sz="1650" dirty="0">
                <a:latin typeface="Roboto Condensed"/>
                <a:ea typeface="Roboto Condensed"/>
                <a:cs typeface="Roboto Condensed"/>
                <a:sym typeface="Roboto Condensed"/>
              </a:rPr>
              <a:t>in</a:t>
            </a:r>
            <a:r>
              <a:rPr lang="en" sz="1650" dirty="0">
                <a:latin typeface="Roboto Condensed"/>
                <a:ea typeface="Roboto Condensed"/>
                <a:cs typeface="Roboto Condensed"/>
                <a:sym typeface="Roboto Condensed"/>
              </a:rPr>
              <a:t> the middle of the interval</a:t>
            </a:r>
            <a:endParaRPr dirty="0">
              <a:latin typeface="Roboto"/>
              <a:ea typeface="Roboto"/>
              <a:cs typeface="Roboto"/>
              <a:sym typeface="Roboto"/>
            </a:endParaRPr>
          </a:p>
        </p:txBody>
      </p:sp>
    </p:spTree>
    <p:extLst>
      <p:ext uri="{BB962C8B-B14F-4D97-AF65-F5344CB8AC3E}">
        <p14:creationId xmlns:p14="http://schemas.microsoft.com/office/powerpoint/2010/main" val="3003125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D8267-2575-E0AA-4878-DB53C7580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DFCB3-EA97-E8E8-D3AB-F6A6A91A2751}"/>
              </a:ext>
            </a:extLst>
          </p:cNvPr>
          <p:cNvSpPr>
            <a:spLocks noGrp="1"/>
          </p:cNvSpPr>
          <p:nvPr>
            <p:ph type="title"/>
          </p:nvPr>
        </p:nvSpPr>
        <p:spPr/>
        <p:txBody>
          <a:bodyPr/>
          <a:lstStyle/>
          <a:p>
            <a:r>
              <a:rPr lang="en-US" dirty="0"/>
              <a:t>Polygons</a:t>
            </a:r>
            <a:endParaRPr lang="en-RU" dirty="0"/>
          </a:p>
        </p:txBody>
      </p:sp>
      <p:sp>
        <p:nvSpPr>
          <p:cNvPr id="3" name="Footer Placeholder 2">
            <a:extLst>
              <a:ext uri="{FF2B5EF4-FFF2-40B4-BE49-F238E27FC236}">
                <a16:creationId xmlns:a16="http://schemas.microsoft.com/office/drawing/2014/main" id="{4E8FF653-5C1F-DCC7-86E1-D6C7418C0F94}"/>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8" name="Content Placeholder 1">
            <a:extLst>
              <a:ext uri="{FF2B5EF4-FFF2-40B4-BE49-F238E27FC236}">
                <a16:creationId xmlns:a16="http://schemas.microsoft.com/office/drawing/2014/main" id="{574C1D5C-4B4F-8971-F7A0-8F01FF3F921F}"/>
              </a:ext>
            </a:extLst>
          </p:cNvPr>
          <p:cNvSpPr>
            <a:spLocks noGrp="1"/>
          </p:cNvSpPr>
          <p:nvPr/>
        </p:nvSpPr>
        <p:spPr>
          <a:xfrm>
            <a:off x="376621" y="2072366"/>
            <a:ext cx="11438758" cy="2885624"/>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To</a:t>
            </a:r>
            <a:r>
              <a:rPr lang="en-US" sz="1800" dirty="0"/>
              <a:t> </a:t>
            </a:r>
            <a:r>
              <a:rPr lang="en-RU" sz="1800"/>
              <a:t>construct a polygon, you begin by listing the numerical scores (the categories of measurement) along the X-axis. Then,</a:t>
            </a:r>
            <a:endParaRPr lang="en-US" sz="1800" dirty="0"/>
          </a:p>
          <a:p>
            <a:pPr marL="307350" indent="-285750" algn="just">
              <a:buFont typeface="Wingdings" pitchFamily="2" charset="2"/>
              <a:buChar char="ü"/>
            </a:pPr>
            <a:r>
              <a:rPr lang="en-US" sz="1600" b="0" dirty="0"/>
              <a:t>A dot is centered above each score so that the vertical position of the dot corresponds to the frequency for the category.</a:t>
            </a:r>
          </a:p>
          <a:p>
            <a:pPr marL="307350" indent="-285750" algn="just">
              <a:buFont typeface="Wingdings" pitchFamily="2" charset="2"/>
              <a:buChar char="ü"/>
            </a:pPr>
            <a:r>
              <a:rPr lang="en-US" sz="1600" b="0" dirty="0"/>
              <a:t>A continuous line is drawn from dot to dot to connect the series of dots.</a:t>
            </a:r>
            <a:endParaRPr lang="en-US" sz="1600" dirty="0"/>
          </a:p>
          <a:p>
            <a:pPr marL="307350" indent="-285750" algn="just">
              <a:buFont typeface="Wingdings" pitchFamily="2" charset="2"/>
              <a:buChar char="ü"/>
            </a:pPr>
            <a:r>
              <a:rPr lang="en-US" sz="1600" b="0" dirty="0"/>
              <a:t>The graph is completed by drawing a line down to the X-axis (zero frequency) at each end of the range of scores. 	</a:t>
            </a:r>
            <a:r>
              <a:rPr lang="en-US" sz="2800" b="0" dirty="0"/>
              <a:t>	</a:t>
            </a:r>
            <a:endParaRPr lang="en-RU" sz="2800" dirty="0"/>
          </a:p>
        </p:txBody>
      </p:sp>
    </p:spTree>
    <p:extLst>
      <p:ext uri="{BB962C8B-B14F-4D97-AF65-F5344CB8AC3E}">
        <p14:creationId xmlns:p14="http://schemas.microsoft.com/office/powerpoint/2010/main" val="2164547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6F610-FC61-9D86-0C9E-1DAE575C8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256B5-8DD9-C4FF-AAE5-012EBA719F03}"/>
              </a:ext>
            </a:extLst>
          </p:cNvPr>
          <p:cNvSpPr>
            <a:spLocks noGrp="1"/>
          </p:cNvSpPr>
          <p:nvPr>
            <p:ph type="title"/>
          </p:nvPr>
        </p:nvSpPr>
        <p:spPr/>
        <p:txBody>
          <a:bodyPr/>
          <a:lstStyle/>
          <a:p>
            <a:r>
              <a:rPr lang="en-US" dirty="0"/>
              <a:t>Bar Graph (Chart)</a:t>
            </a:r>
            <a:endParaRPr lang="en-RU" dirty="0"/>
          </a:p>
        </p:txBody>
      </p:sp>
      <p:sp>
        <p:nvSpPr>
          <p:cNvPr id="3" name="Footer Placeholder 2">
            <a:extLst>
              <a:ext uri="{FF2B5EF4-FFF2-40B4-BE49-F238E27FC236}">
                <a16:creationId xmlns:a16="http://schemas.microsoft.com/office/drawing/2014/main" id="{01F5A234-6200-A791-9B58-B97FC1ABB243}"/>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368;p52">
            <a:extLst>
              <a:ext uri="{FF2B5EF4-FFF2-40B4-BE49-F238E27FC236}">
                <a16:creationId xmlns:a16="http://schemas.microsoft.com/office/drawing/2014/main" id="{7A201F52-6D2C-1133-F0CF-3477F95FC28B}"/>
              </a:ext>
            </a:extLst>
          </p:cNvPr>
          <p:cNvPicPr preferRelativeResize="0"/>
          <p:nvPr/>
        </p:nvPicPr>
        <p:blipFill>
          <a:blip r:embed="rId2">
            <a:alphaModFix/>
          </a:blip>
          <a:stretch>
            <a:fillRect/>
          </a:stretch>
        </p:blipFill>
        <p:spPr>
          <a:xfrm>
            <a:off x="9223891" y="2016428"/>
            <a:ext cx="2519845" cy="2041222"/>
          </a:xfrm>
          <a:prstGeom prst="rect">
            <a:avLst/>
          </a:prstGeom>
          <a:noFill/>
          <a:ln>
            <a:noFill/>
          </a:ln>
        </p:spPr>
      </p:pic>
      <p:pic>
        <p:nvPicPr>
          <p:cNvPr id="5" name="Google Shape;369;p52">
            <a:extLst>
              <a:ext uri="{FF2B5EF4-FFF2-40B4-BE49-F238E27FC236}">
                <a16:creationId xmlns:a16="http://schemas.microsoft.com/office/drawing/2014/main" id="{F07E17EA-3F2B-7269-86BC-E90BAFF66266}"/>
              </a:ext>
            </a:extLst>
          </p:cNvPr>
          <p:cNvPicPr preferRelativeResize="0"/>
          <p:nvPr/>
        </p:nvPicPr>
        <p:blipFill>
          <a:blip r:embed="rId3">
            <a:alphaModFix/>
          </a:blip>
          <a:stretch>
            <a:fillRect/>
          </a:stretch>
        </p:blipFill>
        <p:spPr>
          <a:xfrm>
            <a:off x="8882997" y="4302580"/>
            <a:ext cx="2775603" cy="2277834"/>
          </a:xfrm>
          <a:prstGeom prst="rect">
            <a:avLst/>
          </a:prstGeom>
          <a:noFill/>
          <a:ln>
            <a:noFill/>
          </a:ln>
        </p:spPr>
      </p:pic>
      <p:sp>
        <p:nvSpPr>
          <p:cNvPr id="6" name="Content Placeholder 1">
            <a:extLst>
              <a:ext uri="{FF2B5EF4-FFF2-40B4-BE49-F238E27FC236}">
                <a16:creationId xmlns:a16="http://schemas.microsoft.com/office/drawing/2014/main" id="{BCDFA196-C435-485C-362B-0186918ED21D}"/>
              </a:ext>
            </a:extLst>
          </p:cNvPr>
          <p:cNvSpPr>
            <a:spLocks noGrp="1"/>
          </p:cNvSpPr>
          <p:nvPr/>
        </p:nvSpPr>
        <p:spPr>
          <a:xfrm>
            <a:off x="366051" y="1235527"/>
            <a:ext cx="8157463" cy="4205970"/>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A bar graph is essentially the same as a histogram, except that spaces are left between adjacent bars.</a:t>
            </a:r>
            <a:endParaRPr lang="en-US" sz="1800" dirty="0"/>
          </a:p>
          <a:p>
            <a:pPr marL="432000" algn="just"/>
            <a:r>
              <a:rPr lang="en-RU" sz="1800"/>
              <a:t>For a nominal scale, the space between bars emphasizes that the scale consists of separate, distinct categories. For ordinal scales, separate bars are used because you cannot assume that the categories are all the same size.</a:t>
            </a:r>
            <a:endParaRPr lang="en-US" sz="1800" dirty="0"/>
          </a:p>
          <a:p>
            <a:pPr marL="432000" algn="just"/>
            <a:endParaRPr lang="en-US" sz="1800" dirty="0"/>
          </a:p>
          <a:p>
            <a:pPr marL="21600" indent="0" algn="just">
              <a:buNone/>
            </a:pPr>
            <a:r>
              <a:rPr lang="en-US" sz="1800" dirty="0"/>
              <a:t>To construct a bar graph, list the categories of measurement along the X-axis and then draw a bar above each category so that the height of the bar corresponds to the frequency for the category.</a:t>
            </a:r>
          </a:p>
        </p:txBody>
      </p:sp>
      <p:sp>
        <p:nvSpPr>
          <p:cNvPr id="10" name="Google Shape;354;p50">
            <a:extLst>
              <a:ext uri="{FF2B5EF4-FFF2-40B4-BE49-F238E27FC236}">
                <a16:creationId xmlns:a16="http://schemas.microsoft.com/office/drawing/2014/main" id="{73229D3E-2CF7-E926-91A8-6F392A7FA0F1}"/>
              </a:ext>
            </a:extLst>
          </p:cNvPr>
          <p:cNvSpPr txBox="1"/>
          <p:nvPr/>
        </p:nvSpPr>
        <p:spPr>
          <a:xfrm>
            <a:off x="9223891" y="1241071"/>
            <a:ext cx="2775603" cy="76864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650" dirty="0">
                <a:latin typeface="Roboto Condensed"/>
                <a:ea typeface="Roboto"/>
                <a:cs typeface="Roboto Condensed"/>
                <a:sym typeface="Roboto Condensed"/>
              </a:rPr>
              <a:t>Frequency distribution graphs: bar chart</a:t>
            </a:r>
            <a:endParaRPr dirty="0">
              <a:latin typeface="Roboto"/>
              <a:ea typeface="Roboto"/>
              <a:cs typeface="Roboto"/>
              <a:sym typeface="Roboto"/>
            </a:endParaRPr>
          </a:p>
        </p:txBody>
      </p:sp>
    </p:spTree>
    <p:extLst>
      <p:ext uri="{BB962C8B-B14F-4D97-AF65-F5344CB8AC3E}">
        <p14:creationId xmlns:p14="http://schemas.microsoft.com/office/powerpoint/2010/main" val="1257083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ACCB-8B18-50DA-ED54-FF9F3372B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68BC6-0191-7562-4CED-383938409FDC}"/>
              </a:ext>
            </a:extLst>
          </p:cNvPr>
          <p:cNvSpPr>
            <a:spLocks noGrp="1"/>
          </p:cNvSpPr>
          <p:nvPr>
            <p:ph type="title"/>
          </p:nvPr>
        </p:nvSpPr>
        <p:spPr/>
        <p:txBody>
          <a:bodyPr/>
          <a:lstStyle/>
          <a:p>
            <a:r>
              <a:rPr lang="en-US" dirty="0"/>
              <a:t>Smooth curves</a:t>
            </a:r>
            <a:endParaRPr lang="en-RU" dirty="0"/>
          </a:p>
        </p:txBody>
      </p:sp>
      <p:sp>
        <p:nvSpPr>
          <p:cNvPr id="3" name="Footer Placeholder 2">
            <a:extLst>
              <a:ext uri="{FF2B5EF4-FFF2-40B4-BE49-F238E27FC236}">
                <a16:creationId xmlns:a16="http://schemas.microsoft.com/office/drawing/2014/main" id="{67D32F08-094D-DC2F-0080-1560B81A6911}"/>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6" name="Content Placeholder 1">
            <a:extLst>
              <a:ext uri="{FF2B5EF4-FFF2-40B4-BE49-F238E27FC236}">
                <a16:creationId xmlns:a16="http://schemas.microsoft.com/office/drawing/2014/main" id="{6521745B-6BD9-DAFE-D956-6B6D5C3B44EB}"/>
              </a:ext>
            </a:extLst>
          </p:cNvPr>
          <p:cNvSpPr>
            <a:spLocks noGrp="1"/>
          </p:cNvSpPr>
          <p:nvPr/>
        </p:nvSpPr>
        <p:spPr>
          <a:xfrm>
            <a:off x="331343" y="1208314"/>
            <a:ext cx="11529313" cy="1690008"/>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US" sz="1800" dirty="0"/>
              <a:t>When a population consists of numerical scores, it is customary to draw the distribution with a smooth curve instead of the jagged, step-wise shapes that occur with histograms and polygons. The smooth curve indicates that you are not connecting a series of dots (real frequencies) but instead are showing the relative changes that occur from one score to the next.</a:t>
            </a:r>
          </a:p>
        </p:txBody>
      </p:sp>
      <p:pic>
        <p:nvPicPr>
          <p:cNvPr id="7" name="Google Shape;384;p54">
            <a:extLst>
              <a:ext uri="{FF2B5EF4-FFF2-40B4-BE49-F238E27FC236}">
                <a16:creationId xmlns:a16="http://schemas.microsoft.com/office/drawing/2014/main" id="{D6D2E3C7-649D-B2EF-2EBF-61DA40C3906E}"/>
              </a:ext>
            </a:extLst>
          </p:cNvPr>
          <p:cNvPicPr preferRelativeResize="0"/>
          <p:nvPr/>
        </p:nvPicPr>
        <p:blipFill>
          <a:blip r:embed="rId2">
            <a:alphaModFix/>
          </a:blip>
          <a:stretch>
            <a:fillRect/>
          </a:stretch>
        </p:blipFill>
        <p:spPr>
          <a:xfrm>
            <a:off x="3521421" y="3065687"/>
            <a:ext cx="5149157" cy="3273879"/>
          </a:xfrm>
          <a:prstGeom prst="rect">
            <a:avLst/>
          </a:prstGeom>
          <a:noFill/>
          <a:ln>
            <a:noFill/>
          </a:ln>
        </p:spPr>
      </p:pic>
    </p:spTree>
    <p:extLst>
      <p:ext uri="{BB962C8B-B14F-4D97-AF65-F5344CB8AC3E}">
        <p14:creationId xmlns:p14="http://schemas.microsoft.com/office/powerpoint/2010/main" val="2594873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9BB16-573A-B4A0-1298-65BB458E7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C92DE-F8F8-3D95-8034-89F829A0A982}"/>
              </a:ext>
            </a:extLst>
          </p:cNvPr>
          <p:cNvSpPr>
            <a:spLocks noGrp="1"/>
          </p:cNvSpPr>
          <p:nvPr>
            <p:ph type="title"/>
          </p:nvPr>
        </p:nvSpPr>
        <p:spPr/>
        <p:txBody>
          <a:bodyPr/>
          <a:lstStyle/>
          <a:p>
            <a:r>
              <a:rPr lang="en-US" dirty="0"/>
              <a:t>Shape of a Frequency Distribution</a:t>
            </a:r>
            <a:endParaRPr lang="en-RU" dirty="0"/>
          </a:p>
        </p:txBody>
      </p:sp>
      <p:sp>
        <p:nvSpPr>
          <p:cNvPr id="3" name="Footer Placeholder 2">
            <a:extLst>
              <a:ext uri="{FF2B5EF4-FFF2-40B4-BE49-F238E27FC236}">
                <a16:creationId xmlns:a16="http://schemas.microsoft.com/office/drawing/2014/main" id="{8CE77A3F-DBAF-5529-6B84-8848027C26B0}"/>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6" name="Content Placeholder 1">
            <a:extLst>
              <a:ext uri="{FF2B5EF4-FFF2-40B4-BE49-F238E27FC236}">
                <a16:creationId xmlns:a16="http://schemas.microsoft.com/office/drawing/2014/main" id="{E34B09AC-2E88-5E0E-7AD3-F95277DE4577}"/>
              </a:ext>
            </a:extLst>
          </p:cNvPr>
          <p:cNvSpPr>
            <a:spLocks noGrp="1"/>
          </p:cNvSpPr>
          <p:nvPr/>
        </p:nvSpPr>
        <p:spPr>
          <a:xfrm>
            <a:off x="331343" y="1028699"/>
            <a:ext cx="5612257" cy="5216979"/>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US" sz="1800" dirty="0"/>
              <a:t>- In a </a:t>
            </a:r>
            <a:r>
              <a:rPr lang="en-US" sz="1800" b="1" dirty="0"/>
              <a:t>symmetrical distribution</a:t>
            </a:r>
            <a:r>
              <a:rPr lang="en-US" sz="1800" dirty="0"/>
              <a:t>, it is possible to draw a vertical line through the middle so that one side of the distribution is a mirror image of the other.</a:t>
            </a:r>
          </a:p>
          <a:p>
            <a:pPr marL="21600" indent="0" algn="just">
              <a:buNone/>
            </a:pPr>
            <a:r>
              <a:rPr lang="en-US" sz="1800" dirty="0"/>
              <a:t>- In a </a:t>
            </a:r>
            <a:r>
              <a:rPr lang="en-US" sz="1800" b="1" dirty="0"/>
              <a:t>skewed distribution</a:t>
            </a:r>
            <a:r>
              <a:rPr lang="en-US" sz="1800" dirty="0"/>
              <a:t>, the scores tend to pile up toward one end of the scale and taper off gradually at the other end.</a:t>
            </a:r>
          </a:p>
          <a:p>
            <a:pPr marL="21600" indent="0" algn="just">
              <a:buNone/>
            </a:pPr>
            <a:r>
              <a:rPr lang="en-US" sz="1800" dirty="0"/>
              <a:t>- The section where the scores taper off toward one end of a distribution is called the </a:t>
            </a:r>
            <a:r>
              <a:rPr lang="en-US" sz="1800" b="1" dirty="0"/>
              <a:t>tail of the distribution</a:t>
            </a:r>
            <a:r>
              <a:rPr lang="en-US" sz="1800" dirty="0"/>
              <a:t>.</a:t>
            </a:r>
          </a:p>
          <a:p>
            <a:pPr marL="21600" indent="0" algn="just">
              <a:buNone/>
            </a:pPr>
            <a:r>
              <a:rPr lang="en-US" sz="1800" dirty="0"/>
              <a:t>- A </a:t>
            </a:r>
            <a:r>
              <a:rPr lang="en-US" sz="1800" b="1" dirty="0"/>
              <a:t>skewed distribution</a:t>
            </a:r>
            <a:r>
              <a:rPr lang="en-US" sz="1800" dirty="0"/>
              <a:t> with the tail on the right-hand side is </a:t>
            </a:r>
            <a:r>
              <a:rPr lang="en-US" sz="1800" b="1" dirty="0"/>
              <a:t>positively skewed</a:t>
            </a:r>
            <a:r>
              <a:rPr lang="en-US" sz="1800" dirty="0"/>
              <a:t> because the tail points toward the positive (above-zero) end of the X-axis. If the tail points to the left, the distribution is </a:t>
            </a:r>
            <a:r>
              <a:rPr lang="en-US" sz="1800" b="1" dirty="0"/>
              <a:t>negatively skewed</a:t>
            </a:r>
            <a:r>
              <a:rPr lang="en-US" sz="1800" dirty="0"/>
              <a:t>.</a:t>
            </a:r>
          </a:p>
        </p:txBody>
      </p:sp>
      <p:pic>
        <p:nvPicPr>
          <p:cNvPr id="4" name="Google Shape;398;p56">
            <a:extLst>
              <a:ext uri="{FF2B5EF4-FFF2-40B4-BE49-F238E27FC236}">
                <a16:creationId xmlns:a16="http://schemas.microsoft.com/office/drawing/2014/main" id="{44F47BD5-7E5F-2D9D-0392-E67A56E3EAD9}"/>
              </a:ext>
            </a:extLst>
          </p:cNvPr>
          <p:cNvPicPr preferRelativeResize="0"/>
          <p:nvPr/>
        </p:nvPicPr>
        <p:blipFill>
          <a:blip r:embed="rId2">
            <a:alphaModFix/>
          </a:blip>
          <a:stretch>
            <a:fillRect/>
          </a:stretch>
        </p:blipFill>
        <p:spPr>
          <a:xfrm>
            <a:off x="6400471" y="1629312"/>
            <a:ext cx="5599024" cy="3599375"/>
          </a:xfrm>
          <a:prstGeom prst="rect">
            <a:avLst/>
          </a:prstGeom>
          <a:noFill/>
          <a:ln>
            <a:noFill/>
          </a:ln>
        </p:spPr>
      </p:pic>
    </p:spTree>
    <p:extLst>
      <p:ext uri="{BB962C8B-B14F-4D97-AF65-F5344CB8AC3E}">
        <p14:creationId xmlns:p14="http://schemas.microsoft.com/office/powerpoint/2010/main" val="2839342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99A4-0A27-B637-BB57-745D00E08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B18F2-248C-B8A9-E775-A7ABE1D1B516}"/>
              </a:ext>
            </a:extLst>
          </p:cNvPr>
          <p:cNvSpPr>
            <a:spLocks noGrp="1"/>
          </p:cNvSpPr>
          <p:nvPr>
            <p:ph type="title"/>
          </p:nvPr>
        </p:nvSpPr>
        <p:spPr/>
        <p:txBody>
          <a:bodyPr/>
          <a:lstStyle/>
          <a:p>
            <a:r>
              <a:rPr lang="en-US" dirty="0"/>
              <a:t>Normal distribution</a:t>
            </a:r>
            <a:endParaRPr lang="en-RU" dirty="0"/>
          </a:p>
        </p:txBody>
      </p:sp>
      <p:sp>
        <p:nvSpPr>
          <p:cNvPr id="3" name="Footer Placeholder 2">
            <a:extLst>
              <a:ext uri="{FF2B5EF4-FFF2-40B4-BE49-F238E27FC236}">
                <a16:creationId xmlns:a16="http://schemas.microsoft.com/office/drawing/2014/main" id="{32EC01B5-02CB-5CBA-3B21-08C2FA22075B}"/>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405;p57">
            <a:extLst>
              <a:ext uri="{FF2B5EF4-FFF2-40B4-BE49-F238E27FC236}">
                <a16:creationId xmlns:a16="http://schemas.microsoft.com/office/drawing/2014/main" id="{EBAE2849-3005-9537-3208-3C199F9ECAB2}"/>
              </a:ext>
            </a:extLst>
          </p:cNvPr>
          <p:cNvPicPr preferRelativeResize="0"/>
          <p:nvPr/>
        </p:nvPicPr>
        <p:blipFill>
          <a:blip r:embed="rId2">
            <a:alphaModFix/>
          </a:blip>
          <a:stretch>
            <a:fillRect/>
          </a:stretch>
        </p:blipFill>
        <p:spPr>
          <a:xfrm>
            <a:off x="152399" y="1394649"/>
            <a:ext cx="4337957" cy="4181557"/>
          </a:xfrm>
          <a:prstGeom prst="rect">
            <a:avLst/>
          </a:prstGeom>
          <a:noFill/>
          <a:ln>
            <a:noFill/>
          </a:ln>
        </p:spPr>
      </p:pic>
      <p:pic>
        <p:nvPicPr>
          <p:cNvPr id="4" name="Google Shape;413;p58">
            <a:extLst>
              <a:ext uri="{FF2B5EF4-FFF2-40B4-BE49-F238E27FC236}">
                <a16:creationId xmlns:a16="http://schemas.microsoft.com/office/drawing/2014/main" id="{26A59829-E909-1BF7-0486-3BE6B441B0F5}"/>
              </a:ext>
            </a:extLst>
          </p:cNvPr>
          <p:cNvPicPr preferRelativeResize="0"/>
          <p:nvPr/>
        </p:nvPicPr>
        <p:blipFill>
          <a:blip r:embed="rId3">
            <a:alphaModFix/>
          </a:blip>
          <a:stretch>
            <a:fillRect/>
          </a:stretch>
        </p:blipFill>
        <p:spPr>
          <a:xfrm>
            <a:off x="4940835" y="1911813"/>
            <a:ext cx="6587136" cy="3664393"/>
          </a:xfrm>
          <a:prstGeom prst="rect">
            <a:avLst/>
          </a:prstGeom>
          <a:noFill/>
          <a:ln>
            <a:noFill/>
          </a:ln>
        </p:spPr>
      </p:pic>
    </p:spTree>
    <p:extLst>
      <p:ext uri="{BB962C8B-B14F-4D97-AF65-F5344CB8AC3E}">
        <p14:creationId xmlns:p14="http://schemas.microsoft.com/office/powerpoint/2010/main" val="1890438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CBC7-DD2D-62B7-5D81-C1DAC1DAB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9D39D-44F2-AEC5-99EB-783E7FF4DFD4}"/>
              </a:ext>
            </a:extLst>
          </p:cNvPr>
          <p:cNvSpPr>
            <a:spLocks noGrp="1"/>
          </p:cNvSpPr>
          <p:nvPr>
            <p:ph type="title"/>
          </p:nvPr>
        </p:nvSpPr>
        <p:spPr/>
        <p:txBody>
          <a:bodyPr/>
          <a:lstStyle/>
          <a:p>
            <a:r>
              <a:rPr lang="en-US" dirty="0"/>
              <a:t>Skewed distribution</a:t>
            </a:r>
            <a:endParaRPr lang="en-RU" dirty="0"/>
          </a:p>
        </p:txBody>
      </p:sp>
      <p:sp>
        <p:nvSpPr>
          <p:cNvPr id="3" name="Footer Placeholder 2">
            <a:extLst>
              <a:ext uri="{FF2B5EF4-FFF2-40B4-BE49-F238E27FC236}">
                <a16:creationId xmlns:a16="http://schemas.microsoft.com/office/drawing/2014/main" id="{3646BDAF-8D1A-0564-EA41-A63F044D8A0E}"/>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6" name="Google Shape;420;p59">
            <a:extLst>
              <a:ext uri="{FF2B5EF4-FFF2-40B4-BE49-F238E27FC236}">
                <a16:creationId xmlns:a16="http://schemas.microsoft.com/office/drawing/2014/main" id="{7F4E82EA-255E-4F2E-A468-2A47476BEFED}"/>
              </a:ext>
            </a:extLst>
          </p:cNvPr>
          <p:cNvPicPr preferRelativeResize="0"/>
          <p:nvPr/>
        </p:nvPicPr>
        <p:blipFill>
          <a:blip r:embed="rId2">
            <a:alphaModFix/>
          </a:blip>
          <a:stretch>
            <a:fillRect/>
          </a:stretch>
        </p:blipFill>
        <p:spPr>
          <a:xfrm>
            <a:off x="311724" y="1358500"/>
            <a:ext cx="5011389" cy="4168721"/>
          </a:xfrm>
          <a:prstGeom prst="rect">
            <a:avLst/>
          </a:prstGeom>
          <a:noFill/>
          <a:ln>
            <a:noFill/>
          </a:ln>
        </p:spPr>
      </p:pic>
    </p:spTree>
    <p:extLst>
      <p:ext uri="{BB962C8B-B14F-4D97-AF65-F5344CB8AC3E}">
        <p14:creationId xmlns:p14="http://schemas.microsoft.com/office/powerpoint/2010/main" val="1334024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F5B0-3532-DEF6-789E-266B481A5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19CE9-977E-6459-EAC6-BC751EA17E43}"/>
              </a:ext>
            </a:extLst>
          </p:cNvPr>
          <p:cNvSpPr>
            <a:spLocks noGrp="1"/>
          </p:cNvSpPr>
          <p:nvPr>
            <p:ph type="title"/>
          </p:nvPr>
        </p:nvSpPr>
        <p:spPr/>
        <p:txBody>
          <a:bodyPr/>
          <a:lstStyle/>
          <a:p>
            <a:r>
              <a:rPr lang="en-US" dirty="0"/>
              <a:t>Skewed distribution</a:t>
            </a:r>
            <a:endParaRPr lang="en-RU" dirty="0"/>
          </a:p>
        </p:txBody>
      </p:sp>
      <p:sp>
        <p:nvSpPr>
          <p:cNvPr id="3" name="Footer Placeholder 2">
            <a:extLst>
              <a:ext uri="{FF2B5EF4-FFF2-40B4-BE49-F238E27FC236}">
                <a16:creationId xmlns:a16="http://schemas.microsoft.com/office/drawing/2014/main" id="{100571BC-182E-686A-8D9C-FC51C41257C9}"/>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6" name="Google Shape;420;p59">
            <a:extLst>
              <a:ext uri="{FF2B5EF4-FFF2-40B4-BE49-F238E27FC236}">
                <a16:creationId xmlns:a16="http://schemas.microsoft.com/office/drawing/2014/main" id="{5CDA1339-C7F4-1390-6CD2-284B6D7CBD40}"/>
              </a:ext>
            </a:extLst>
          </p:cNvPr>
          <p:cNvPicPr preferRelativeResize="0"/>
          <p:nvPr/>
        </p:nvPicPr>
        <p:blipFill>
          <a:blip r:embed="rId2">
            <a:alphaModFix/>
          </a:blip>
          <a:stretch>
            <a:fillRect/>
          </a:stretch>
        </p:blipFill>
        <p:spPr>
          <a:xfrm>
            <a:off x="311724" y="1358500"/>
            <a:ext cx="5011389" cy="4168721"/>
          </a:xfrm>
          <a:prstGeom prst="rect">
            <a:avLst/>
          </a:prstGeom>
          <a:noFill/>
          <a:ln>
            <a:noFill/>
          </a:ln>
        </p:spPr>
      </p:pic>
      <p:pic>
        <p:nvPicPr>
          <p:cNvPr id="4" name="Google Shape;428;p60">
            <a:extLst>
              <a:ext uri="{FF2B5EF4-FFF2-40B4-BE49-F238E27FC236}">
                <a16:creationId xmlns:a16="http://schemas.microsoft.com/office/drawing/2014/main" id="{D4BB9A92-1C20-A18C-69F8-AB232C703C00}"/>
              </a:ext>
            </a:extLst>
          </p:cNvPr>
          <p:cNvPicPr preferRelativeResize="0"/>
          <p:nvPr/>
        </p:nvPicPr>
        <p:blipFill>
          <a:blip r:embed="rId3">
            <a:alphaModFix/>
          </a:blip>
          <a:stretch>
            <a:fillRect/>
          </a:stretch>
        </p:blipFill>
        <p:spPr>
          <a:xfrm>
            <a:off x="5878286" y="1222800"/>
            <a:ext cx="6001990" cy="4443214"/>
          </a:xfrm>
          <a:prstGeom prst="rect">
            <a:avLst/>
          </a:prstGeom>
          <a:noFill/>
          <a:ln>
            <a:noFill/>
          </a:ln>
        </p:spPr>
      </p:pic>
    </p:spTree>
    <p:extLst>
      <p:ext uri="{BB962C8B-B14F-4D97-AF65-F5344CB8AC3E}">
        <p14:creationId xmlns:p14="http://schemas.microsoft.com/office/powerpoint/2010/main" val="1469179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EE58E-7EEE-7AE2-9619-948BE4BE1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D1A92-6BB5-DC0E-DD49-5B94552648E9}"/>
              </a:ext>
            </a:extLst>
          </p:cNvPr>
          <p:cNvSpPr>
            <a:spLocks noGrp="1"/>
          </p:cNvSpPr>
          <p:nvPr>
            <p:ph type="title"/>
          </p:nvPr>
        </p:nvSpPr>
        <p:spPr/>
        <p:txBody>
          <a:bodyPr/>
          <a:lstStyle/>
          <a:p>
            <a:r>
              <a:rPr lang="en-US" dirty="0"/>
              <a:t>Learning check</a:t>
            </a:r>
            <a:endParaRPr lang="en-RU" dirty="0"/>
          </a:p>
        </p:txBody>
      </p:sp>
      <p:sp>
        <p:nvSpPr>
          <p:cNvPr id="3" name="Footer Placeholder 2">
            <a:extLst>
              <a:ext uri="{FF2B5EF4-FFF2-40B4-BE49-F238E27FC236}">
                <a16:creationId xmlns:a16="http://schemas.microsoft.com/office/drawing/2014/main" id="{ADF1037C-B935-9D9A-965B-483EAD2265E3}"/>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435;p61">
            <a:extLst>
              <a:ext uri="{FF2B5EF4-FFF2-40B4-BE49-F238E27FC236}">
                <a16:creationId xmlns:a16="http://schemas.microsoft.com/office/drawing/2014/main" id="{4CEC270D-314F-F28B-58EA-B21375776E41}"/>
              </a:ext>
            </a:extLst>
          </p:cNvPr>
          <p:cNvPicPr preferRelativeResize="0"/>
          <p:nvPr/>
        </p:nvPicPr>
        <p:blipFill>
          <a:blip r:embed="rId2">
            <a:alphaModFix/>
          </a:blip>
          <a:stretch>
            <a:fillRect/>
          </a:stretch>
        </p:blipFill>
        <p:spPr>
          <a:xfrm>
            <a:off x="1936296" y="2228850"/>
            <a:ext cx="8319407" cy="2400300"/>
          </a:xfrm>
          <a:prstGeom prst="rect">
            <a:avLst/>
          </a:prstGeom>
          <a:noFill/>
          <a:ln>
            <a:noFill/>
          </a:ln>
        </p:spPr>
      </p:pic>
    </p:spTree>
    <p:extLst>
      <p:ext uri="{BB962C8B-B14F-4D97-AF65-F5344CB8AC3E}">
        <p14:creationId xmlns:p14="http://schemas.microsoft.com/office/powerpoint/2010/main" val="1747776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09A68-3B66-4325-2005-05E173A9B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D4C5D-14DD-0B55-049C-3FAF1C678412}"/>
              </a:ext>
            </a:extLst>
          </p:cNvPr>
          <p:cNvSpPr>
            <a:spLocks noGrp="1"/>
          </p:cNvSpPr>
          <p:nvPr>
            <p:ph type="title"/>
          </p:nvPr>
        </p:nvSpPr>
        <p:spPr/>
        <p:txBody>
          <a:bodyPr/>
          <a:lstStyle/>
          <a:p>
            <a:r>
              <a:rPr lang="en-US" dirty="0"/>
              <a:t>Learning check</a:t>
            </a:r>
            <a:endParaRPr lang="en-RU" dirty="0"/>
          </a:p>
        </p:txBody>
      </p:sp>
      <p:sp>
        <p:nvSpPr>
          <p:cNvPr id="3" name="Footer Placeholder 2">
            <a:extLst>
              <a:ext uri="{FF2B5EF4-FFF2-40B4-BE49-F238E27FC236}">
                <a16:creationId xmlns:a16="http://schemas.microsoft.com/office/drawing/2014/main" id="{055BCEC6-B2C4-E5C3-BB26-454AA2785E24}"/>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442;p62">
            <a:extLst>
              <a:ext uri="{FF2B5EF4-FFF2-40B4-BE49-F238E27FC236}">
                <a16:creationId xmlns:a16="http://schemas.microsoft.com/office/drawing/2014/main" id="{6104158B-A98C-252B-76D4-2860FD0641AE}"/>
              </a:ext>
            </a:extLst>
          </p:cNvPr>
          <p:cNvPicPr preferRelativeResize="0"/>
          <p:nvPr/>
        </p:nvPicPr>
        <p:blipFill>
          <a:blip r:embed="rId2">
            <a:alphaModFix/>
          </a:blip>
          <a:stretch>
            <a:fillRect/>
          </a:stretch>
        </p:blipFill>
        <p:spPr>
          <a:xfrm>
            <a:off x="1938337" y="2350362"/>
            <a:ext cx="8315325" cy="2157275"/>
          </a:xfrm>
          <a:prstGeom prst="rect">
            <a:avLst/>
          </a:prstGeom>
          <a:noFill/>
          <a:ln>
            <a:noFill/>
          </a:ln>
        </p:spPr>
      </p:pic>
    </p:spTree>
    <p:extLst>
      <p:ext uri="{BB962C8B-B14F-4D97-AF65-F5344CB8AC3E}">
        <p14:creationId xmlns:p14="http://schemas.microsoft.com/office/powerpoint/2010/main" val="245875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5D2CF-F1C7-CCBE-C67F-613BEC122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2E453-2BB8-970C-C548-8EF1591A28A5}"/>
              </a:ext>
            </a:extLst>
          </p:cNvPr>
          <p:cNvSpPr>
            <a:spLocks noGrp="1"/>
          </p:cNvSpPr>
          <p:nvPr>
            <p:ph type="title"/>
          </p:nvPr>
        </p:nvSpPr>
        <p:spPr/>
        <p:txBody>
          <a:bodyPr/>
          <a:lstStyle/>
          <a:p>
            <a:r>
              <a:rPr lang="en-US" dirty="0"/>
              <a:t>Measures of central tendency</a:t>
            </a:r>
            <a:endParaRPr lang="en-RU"/>
          </a:p>
        </p:txBody>
      </p:sp>
    </p:spTree>
    <p:extLst>
      <p:ext uri="{BB962C8B-B14F-4D97-AF65-F5344CB8AC3E}">
        <p14:creationId xmlns:p14="http://schemas.microsoft.com/office/powerpoint/2010/main" val="3090772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E4E3-FF7C-31F1-3856-21BD66274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F7834-3C7D-7D36-7B71-EDFB7D4A8A09}"/>
              </a:ext>
            </a:extLst>
          </p:cNvPr>
          <p:cNvSpPr>
            <a:spLocks noGrp="1"/>
          </p:cNvSpPr>
          <p:nvPr>
            <p:ph type="title"/>
          </p:nvPr>
        </p:nvSpPr>
        <p:spPr/>
        <p:txBody>
          <a:bodyPr/>
          <a:lstStyle/>
          <a:p>
            <a:r>
              <a:rPr lang="en-US" dirty="0"/>
              <a:t>Central tendency</a:t>
            </a:r>
            <a:endParaRPr lang="en-RU" dirty="0"/>
          </a:p>
        </p:txBody>
      </p:sp>
      <p:sp>
        <p:nvSpPr>
          <p:cNvPr id="3" name="Footer Placeholder 2">
            <a:extLst>
              <a:ext uri="{FF2B5EF4-FFF2-40B4-BE49-F238E27FC236}">
                <a16:creationId xmlns:a16="http://schemas.microsoft.com/office/drawing/2014/main" id="{8F73C744-2F2A-BC36-77D5-0F77EA7D27FE}"/>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5" name="Content Placeholder 1">
            <a:extLst>
              <a:ext uri="{FF2B5EF4-FFF2-40B4-BE49-F238E27FC236}">
                <a16:creationId xmlns:a16="http://schemas.microsoft.com/office/drawing/2014/main" id="{26FF3350-991A-2D67-93C2-C91222721E0D}"/>
              </a:ext>
            </a:extLst>
          </p:cNvPr>
          <p:cNvSpPr>
            <a:spLocks noGrp="1"/>
          </p:cNvSpPr>
          <p:nvPr/>
        </p:nvSpPr>
        <p:spPr>
          <a:xfrm>
            <a:off x="830567" y="1769268"/>
            <a:ext cx="10530865" cy="3319464"/>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Central tendency is a statistical measure to determine a single score that defines the center of a distribution. The goal of central tendency is to find the single score that is most typical or most representative of the entire group.</a:t>
            </a:r>
            <a:endParaRPr lang="en-US" sz="1800" dirty="0"/>
          </a:p>
          <a:p>
            <a:pPr marL="432000" algn="just"/>
            <a:endParaRPr lang="en-US" sz="1800" dirty="0"/>
          </a:p>
          <a:p>
            <a:pPr marL="21600" indent="0" algn="just">
              <a:buNone/>
            </a:pPr>
            <a:r>
              <a:rPr lang="en-US" sz="1800" dirty="0"/>
              <a:t>Examples of central tendency metrics:</a:t>
            </a:r>
          </a:p>
          <a:p>
            <a:pPr marL="307350" indent="-285750" algn="just">
              <a:buFont typeface="Wingdings" pitchFamily="2" charset="2"/>
              <a:buChar char="ü"/>
            </a:pPr>
            <a:r>
              <a:rPr lang="en-US" sz="1600" b="0" dirty="0"/>
              <a:t>Mean</a:t>
            </a:r>
          </a:p>
          <a:p>
            <a:pPr marL="307350" indent="-285750" algn="just">
              <a:buFont typeface="Wingdings" pitchFamily="2" charset="2"/>
              <a:buChar char="ü"/>
            </a:pPr>
            <a:r>
              <a:rPr lang="en-US" sz="1600" b="0" dirty="0"/>
              <a:t>Median</a:t>
            </a:r>
            <a:endParaRPr lang="en-US" sz="1600" dirty="0"/>
          </a:p>
          <a:p>
            <a:pPr marL="307350" indent="-285750" algn="just">
              <a:buFont typeface="Wingdings" pitchFamily="2" charset="2"/>
              <a:buChar char="ü"/>
            </a:pPr>
            <a:r>
              <a:rPr lang="en-US" sz="1600" b="0" dirty="0"/>
              <a:t>Mode	</a:t>
            </a:r>
            <a:endParaRPr lang="en-RU" sz="2800" dirty="0"/>
          </a:p>
        </p:txBody>
      </p:sp>
    </p:spTree>
    <p:extLst>
      <p:ext uri="{BB962C8B-B14F-4D97-AF65-F5344CB8AC3E}">
        <p14:creationId xmlns:p14="http://schemas.microsoft.com/office/powerpoint/2010/main" val="485400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79ADB-F21A-E595-84B0-562E8623B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F2312-FB34-3CC2-67C3-5542FD87636B}"/>
              </a:ext>
            </a:extLst>
          </p:cNvPr>
          <p:cNvSpPr>
            <a:spLocks noGrp="1"/>
          </p:cNvSpPr>
          <p:nvPr>
            <p:ph type="title"/>
          </p:nvPr>
        </p:nvSpPr>
        <p:spPr>
          <a:xfrm>
            <a:off x="192505" y="72192"/>
            <a:ext cx="11806990" cy="1266751"/>
          </a:xfrm>
        </p:spPr>
        <p:txBody>
          <a:bodyPr>
            <a:normAutofit fontScale="90000"/>
          </a:bodyPr>
          <a:lstStyle/>
          <a:p>
            <a:r>
              <a:rPr lang="en-US" dirty="0"/>
              <a:t>No central tendency measure is good for every situation</a:t>
            </a:r>
            <a:endParaRPr lang="en-RU" dirty="0"/>
          </a:p>
        </p:txBody>
      </p:sp>
      <p:sp>
        <p:nvSpPr>
          <p:cNvPr id="3" name="Footer Placeholder 2">
            <a:extLst>
              <a:ext uri="{FF2B5EF4-FFF2-40B4-BE49-F238E27FC236}">
                <a16:creationId xmlns:a16="http://schemas.microsoft.com/office/drawing/2014/main" id="{C32DB219-583F-579E-E326-C7D21AF88243}"/>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101;p18">
            <a:extLst>
              <a:ext uri="{FF2B5EF4-FFF2-40B4-BE49-F238E27FC236}">
                <a16:creationId xmlns:a16="http://schemas.microsoft.com/office/drawing/2014/main" id="{8E46807B-0569-B38E-0510-E6460CC2E64E}"/>
              </a:ext>
            </a:extLst>
          </p:cNvPr>
          <p:cNvPicPr preferRelativeResize="0"/>
          <p:nvPr/>
        </p:nvPicPr>
        <p:blipFill>
          <a:blip r:embed="rId2">
            <a:alphaModFix/>
          </a:blip>
          <a:stretch>
            <a:fillRect/>
          </a:stretch>
        </p:blipFill>
        <p:spPr>
          <a:xfrm>
            <a:off x="2253343" y="1582186"/>
            <a:ext cx="7685314" cy="4451219"/>
          </a:xfrm>
          <a:prstGeom prst="rect">
            <a:avLst/>
          </a:prstGeom>
          <a:noFill/>
          <a:ln>
            <a:noFill/>
          </a:ln>
        </p:spPr>
      </p:pic>
    </p:spTree>
    <p:extLst>
      <p:ext uri="{BB962C8B-B14F-4D97-AF65-F5344CB8AC3E}">
        <p14:creationId xmlns:p14="http://schemas.microsoft.com/office/powerpoint/2010/main" val="697411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45596-A0C5-0BD7-EFE6-E47DE07D5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FE04A-6212-D5D2-878A-67EA1219A0FF}"/>
              </a:ext>
            </a:extLst>
          </p:cNvPr>
          <p:cNvSpPr>
            <a:spLocks noGrp="1"/>
          </p:cNvSpPr>
          <p:nvPr>
            <p:ph type="title"/>
          </p:nvPr>
        </p:nvSpPr>
        <p:spPr/>
        <p:txBody>
          <a:bodyPr/>
          <a:lstStyle/>
          <a:p>
            <a:r>
              <a:rPr lang="en-US" dirty="0"/>
              <a:t>Mean</a:t>
            </a:r>
            <a:endParaRPr lang="en-RU" dirty="0"/>
          </a:p>
        </p:txBody>
      </p:sp>
      <p:sp>
        <p:nvSpPr>
          <p:cNvPr id="3" name="Footer Placeholder 2">
            <a:extLst>
              <a:ext uri="{FF2B5EF4-FFF2-40B4-BE49-F238E27FC236}">
                <a16:creationId xmlns:a16="http://schemas.microsoft.com/office/drawing/2014/main" id="{1BC86898-9D9A-1064-D819-1DEBF4898F9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5" name="Content Placeholder 1">
            <a:extLst>
              <a:ext uri="{FF2B5EF4-FFF2-40B4-BE49-F238E27FC236}">
                <a16:creationId xmlns:a16="http://schemas.microsoft.com/office/drawing/2014/main" id="{29C35D9C-639E-AB92-1213-427E221C0AEA}"/>
              </a:ext>
            </a:extLst>
          </p:cNvPr>
          <p:cNvSpPr>
            <a:spLocks noGrp="1"/>
          </p:cNvSpPr>
          <p:nvPr/>
        </p:nvSpPr>
        <p:spPr>
          <a:xfrm>
            <a:off x="710695" y="1717081"/>
            <a:ext cx="5047719" cy="3896748"/>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The </a:t>
            </a:r>
            <a:r>
              <a:rPr lang="en-RU" sz="1800" b="1"/>
              <a:t>mean</a:t>
            </a:r>
            <a:r>
              <a:rPr lang="en-RU" sz="1800"/>
              <a:t> for a distribution is the sum of the scores divided by the number of scores.</a:t>
            </a:r>
            <a:endParaRPr lang="en-US" sz="1800" dirty="0"/>
          </a:p>
          <a:p>
            <a:pPr marL="21600" indent="0" algn="just">
              <a:buNone/>
            </a:pPr>
            <a:endParaRPr lang="en-US" sz="1800" dirty="0"/>
          </a:p>
          <a:p>
            <a:pPr marL="21600" indent="0" algn="just">
              <a:buNone/>
            </a:pPr>
            <a:endParaRPr lang="en-US" sz="1800" dirty="0"/>
          </a:p>
          <a:p>
            <a:pPr marL="21600" indent="0" algn="just">
              <a:buNone/>
            </a:pPr>
            <a:r>
              <a:rPr lang="en-US" sz="1800" dirty="0"/>
              <a:t>Population formula:</a:t>
            </a:r>
          </a:p>
          <a:p>
            <a:pPr marL="21600" indent="0" algn="just">
              <a:buNone/>
            </a:pPr>
            <a:endParaRPr lang="en-US" sz="1800" dirty="0"/>
          </a:p>
          <a:p>
            <a:pPr marL="21600" indent="0" algn="just">
              <a:buNone/>
            </a:pPr>
            <a:r>
              <a:rPr lang="en-US" sz="1800" dirty="0"/>
              <a:t>Sample formula:</a:t>
            </a:r>
          </a:p>
          <a:p>
            <a:pPr marL="21600" indent="0" algn="just">
              <a:buNone/>
            </a:pPr>
            <a:endParaRPr lang="en-US" sz="1800" dirty="0"/>
          </a:p>
          <a:p>
            <a:pPr marL="21600" indent="0" algn="just">
              <a:buNone/>
            </a:pPr>
            <a:endParaRPr lang="en-US" sz="1800" dirty="0"/>
          </a:p>
        </p:txBody>
      </p:sp>
      <p:pic>
        <p:nvPicPr>
          <p:cNvPr id="4" name="Google Shape;108;p19">
            <a:extLst>
              <a:ext uri="{FF2B5EF4-FFF2-40B4-BE49-F238E27FC236}">
                <a16:creationId xmlns:a16="http://schemas.microsoft.com/office/drawing/2014/main" id="{54F607E4-D0F2-43F1-90EC-C205457BC500}"/>
              </a:ext>
            </a:extLst>
          </p:cNvPr>
          <p:cNvPicPr preferRelativeResize="0"/>
          <p:nvPr/>
        </p:nvPicPr>
        <p:blipFill>
          <a:blip r:embed="rId2">
            <a:alphaModFix/>
          </a:blip>
          <a:stretch>
            <a:fillRect/>
          </a:stretch>
        </p:blipFill>
        <p:spPr>
          <a:xfrm>
            <a:off x="3439757" y="3113660"/>
            <a:ext cx="1257300" cy="876300"/>
          </a:xfrm>
          <a:prstGeom prst="rect">
            <a:avLst/>
          </a:prstGeom>
          <a:noFill/>
          <a:ln>
            <a:noFill/>
          </a:ln>
        </p:spPr>
      </p:pic>
      <p:pic>
        <p:nvPicPr>
          <p:cNvPr id="6" name="Google Shape;109;p19">
            <a:extLst>
              <a:ext uri="{FF2B5EF4-FFF2-40B4-BE49-F238E27FC236}">
                <a16:creationId xmlns:a16="http://schemas.microsoft.com/office/drawing/2014/main" id="{AA8EEDF1-DD0C-E154-00B1-B85DFA9E3907}"/>
              </a:ext>
            </a:extLst>
          </p:cNvPr>
          <p:cNvPicPr preferRelativeResize="0"/>
          <p:nvPr/>
        </p:nvPicPr>
        <p:blipFill>
          <a:blip r:embed="rId3">
            <a:alphaModFix/>
          </a:blip>
          <a:stretch>
            <a:fillRect/>
          </a:stretch>
        </p:blipFill>
        <p:spPr>
          <a:xfrm>
            <a:off x="3611207" y="4080019"/>
            <a:ext cx="1085850" cy="895350"/>
          </a:xfrm>
          <a:prstGeom prst="rect">
            <a:avLst/>
          </a:prstGeom>
          <a:noFill/>
          <a:ln>
            <a:noFill/>
          </a:ln>
        </p:spPr>
      </p:pic>
      <p:pic>
        <p:nvPicPr>
          <p:cNvPr id="7" name="Google Shape;116;p20">
            <a:extLst>
              <a:ext uri="{FF2B5EF4-FFF2-40B4-BE49-F238E27FC236}">
                <a16:creationId xmlns:a16="http://schemas.microsoft.com/office/drawing/2014/main" id="{F6F7879F-2505-B167-14F8-23AE53706B1A}"/>
              </a:ext>
            </a:extLst>
          </p:cNvPr>
          <p:cNvPicPr preferRelativeResize="0"/>
          <p:nvPr/>
        </p:nvPicPr>
        <p:blipFill>
          <a:blip r:embed="rId4">
            <a:alphaModFix/>
          </a:blip>
          <a:stretch>
            <a:fillRect/>
          </a:stretch>
        </p:blipFill>
        <p:spPr>
          <a:xfrm>
            <a:off x="7113777" y="4278086"/>
            <a:ext cx="3767667" cy="2314841"/>
          </a:xfrm>
          <a:prstGeom prst="rect">
            <a:avLst/>
          </a:prstGeom>
          <a:noFill/>
          <a:ln>
            <a:noFill/>
          </a:ln>
        </p:spPr>
      </p:pic>
      <p:sp>
        <p:nvSpPr>
          <p:cNvPr id="9" name="TextBox 8">
            <a:extLst>
              <a:ext uri="{FF2B5EF4-FFF2-40B4-BE49-F238E27FC236}">
                <a16:creationId xmlns:a16="http://schemas.microsoft.com/office/drawing/2014/main" id="{0F40407F-49C5-A7BD-1DCB-2599840BB964}"/>
              </a:ext>
            </a:extLst>
          </p:cNvPr>
          <p:cNvSpPr txBox="1"/>
          <p:nvPr/>
        </p:nvSpPr>
        <p:spPr>
          <a:xfrm>
            <a:off x="6319157" y="1783877"/>
            <a:ext cx="5872843" cy="2776145"/>
          </a:xfrm>
          <a:prstGeom prst="rect">
            <a:avLst/>
          </a:prstGeom>
          <a:noFill/>
        </p:spPr>
        <p:txBody>
          <a:bodyPr wrap="square">
            <a:spAutoFit/>
          </a:bodyPr>
          <a:lstStyle/>
          <a:p>
            <a:pPr marL="21600" indent="0" algn="just">
              <a:buNone/>
            </a:pPr>
            <a:r>
              <a:rPr lang="en-US" sz="1800" dirty="0"/>
              <a:t>The mean as a balance point:</a:t>
            </a:r>
          </a:p>
          <a:p>
            <a:pPr marL="307350" indent="-285750" algn="just">
              <a:buFontTx/>
              <a:buChar char="-"/>
            </a:pPr>
            <a:r>
              <a:rPr lang="en-US" sz="1800" dirty="0"/>
              <a:t>Notice that the mean balances the distances.  That is, the total distance below the mean is the same as the total distance above the mean:</a:t>
            </a:r>
          </a:p>
          <a:p>
            <a:pPr marL="307350" indent="-285750" algn="just">
              <a:buFontTx/>
              <a:buChar char="-"/>
            </a:pPr>
            <a:endParaRPr lang="en-US" dirty="0"/>
          </a:p>
          <a:p>
            <a:pPr marL="0" marR="0" lvl="0" indent="0" algn="l" rtl="0">
              <a:lnSpc>
                <a:spcPct val="115000"/>
              </a:lnSpc>
              <a:spcBef>
                <a:spcPts val="1000"/>
              </a:spcBef>
              <a:spcAft>
                <a:spcPts val="0"/>
              </a:spcAft>
              <a:buNone/>
            </a:pPr>
            <a:r>
              <a:rPr lang="en-US" sz="1800" b="1" dirty="0">
                <a:solidFill>
                  <a:srgbClr val="000000"/>
                </a:solidFill>
                <a:latin typeface="Roboto Condensed"/>
                <a:ea typeface="Roboto Condensed"/>
                <a:cs typeface="Roboto Condensed"/>
                <a:sym typeface="Roboto Condensed"/>
              </a:rPr>
              <a:t>below the mean: </a:t>
            </a:r>
            <a:r>
              <a:rPr lang="en-US" sz="1800" dirty="0">
                <a:solidFill>
                  <a:srgbClr val="000000"/>
                </a:solidFill>
                <a:latin typeface="Roboto Condensed"/>
                <a:ea typeface="Roboto Condensed"/>
                <a:cs typeface="Roboto Condensed"/>
                <a:sym typeface="Roboto Condensed"/>
              </a:rPr>
              <a:t>4 + 3 = 7 points</a:t>
            </a:r>
          </a:p>
          <a:p>
            <a:pPr marL="0" marR="0" lvl="0" indent="0" algn="l" rtl="0">
              <a:lnSpc>
                <a:spcPct val="115000"/>
              </a:lnSpc>
              <a:spcBef>
                <a:spcPts val="1000"/>
              </a:spcBef>
              <a:spcAft>
                <a:spcPts val="1000"/>
              </a:spcAft>
              <a:buNone/>
            </a:pPr>
            <a:r>
              <a:rPr lang="en-US" sz="1800" b="1" dirty="0">
                <a:solidFill>
                  <a:srgbClr val="000000"/>
                </a:solidFill>
                <a:latin typeface="Roboto Condensed"/>
                <a:ea typeface="Roboto Condensed"/>
                <a:cs typeface="Roboto Condensed"/>
                <a:sym typeface="Roboto Condensed"/>
              </a:rPr>
              <a:t>above the mean: </a:t>
            </a:r>
            <a:r>
              <a:rPr lang="en-US" sz="1800" dirty="0">
                <a:solidFill>
                  <a:srgbClr val="000000"/>
                </a:solidFill>
                <a:latin typeface="Roboto Condensed"/>
                <a:ea typeface="Roboto Condensed"/>
                <a:cs typeface="Roboto Condensed"/>
                <a:sym typeface="Roboto Condensed"/>
              </a:rPr>
              <a:t>1 + 1 + 5 = 7 points</a:t>
            </a:r>
            <a:endParaRPr lang="en-US" dirty="0"/>
          </a:p>
          <a:p>
            <a:pPr marL="21600" algn="just"/>
            <a:endParaRPr lang="en-US" sz="1800" dirty="0"/>
          </a:p>
        </p:txBody>
      </p:sp>
    </p:spTree>
    <p:extLst>
      <p:ext uri="{BB962C8B-B14F-4D97-AF65-F5344CB8AC3E}">
        <p14:creationId xmlns:p14="http://schemas.microsoft.com/office/powerpoint/2010/main" val="3073775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E6D3D-5643-A45B-6EF2-26CAA1085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ACE27-4F78-2A2C-0FA5-7E8DE82904BD}"/>
              </a:ext>
            </a:extLst>
          </p:cNvPr>
          <p:cNvSpPr>
            <a:spLocks noGrp="1"/>
          </p:cNvSpPr>
          <p:nvPr>
            <p:ph type="title"/>
          </p:nvPr>
        </p:nvSpPr>
        <p:spPr/>
        <p:txBody>
          <a:bodyPr/>
          <a:lstStyle/>
          <a:p>
            <a:r>
              <a:rPr lang="en-US" dirty="0"/>
              <a:t>Learning check</a:t>
            </a:r>
            <a:endParaRPr lang="en-RU" dirty="0"/>
          </a:p>
        </p:txBody>
      </p:sp>
      <p:sp>
        <p:nvSpPr>
          <p:cNvPr id="3" name="Footer Placeholder 2">
            <a:extLst>
              <a:ext uri="{FF2B5EF4-FFF2-40B4-BE49-F238E27FC236}">
                <a16:creationId xmlns:a16="http://schemas.microsoft.com/office/drawing/2014/main" id="{14DD8AAD-93D3-026F-9D8C-543E89F4B87C}"/>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122;p21">
            <a:extLst>
              <a:ext uri="{FF2B5EF4-FFF2-40B4-BE49-F238E27FC236}">
                <a16:creationId xmlns:a16="http://schemas.microsoft.com/office/drawing/2014/main" id="{DC413D7C-6B2F-762E-FA5F-5ECB614DB1BF}"/>
              </a:ext>
            </a:extLst>
          </p:cNvPr>
          <p:cNvPicPr preferRelativeResize="0"/>
          <p:nvPr/>
        </p:nvPicPr>
        <p:blipFill>
          <a:blip r:embed="rId2">
            <a:alphaModFix/>
          </a:blip>
          <a:stretch>
            <a:fillRect/>
          </a:stretch>
        </p:blipFill>
        <p:spPr>
          <a:xfrm>
            <a:off x="3217099" y="1145458"/>
            <a:ext cx="5757801" cy="1948806"/>
          </a:xfrm>
          <a:prstGeom prst="rect">
            <a:avLst/>
          </a:prstGeom>
          <a:noFill/>
          <a:ln>
            <a:noFill/>
          </a:ln>
        </p:spPr>
      </p:pic>
      <p:pic>
        <p:nvPicPr>
          <p:cNvPr id="6" name="Google Shape;128;p22">
            <a:extLst>
              <a:ext uri="{FF2B5EF4-FFF2-40B4-BE49-F238E27FC236}">
                <a16:creationId xmlns:a16="http://schemas.microsoft.com/office/drawing/2014/main" id="{CA275620-CAE6-2497-BD22-419E624EB6D9}"/>
              </a:ext>
            </a:extLst>
          </p:cNvPr>
          <p:cNvPicPr preferRelativeResize="0"/>
          <p:nvPr/>
        </p:nvPicPr>
        <p:blipFill>
          <a:blip r:embed="rId3">
            <a:alphaModFix/>
          </a:blip>
          <a:stretch>
            <a:fillRect/>
          </a:stretch>
        </p:blipFill>
        <p:spPr>
          <a:xfrm>
            <a:off x="1835699" y="3605961"/>
            <a:ext cx="8520600" cy="2106581"/>
          </a:xfrm>
          <a:prstGeom prst="rect">
            <a:avLst/>
          </a:prstGeom>
          <a:noFill/>
          <a:ln>
            <a:noFill/>
          </a:ln>
        </p:spPr>
      </p:pic>
    </p:spTree>
    <p:extLst>
      <p:ext uri="{BB962C8B-B14F-4D97-AF65-F5344CB8AC3E}">
        <p14:creationId xmlns:p14="http://schemas.microsoft.com/office/powerpoint/2010/main" val="665234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39B56-35EA-4D1D-024E-FE0F2E032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5DB03-76E6-FEC4-3C74-A745AFA6E0BD}"/>
              </a:ext>
            </a:extLst>
          </p:cNvPr>
          <p:cNvSpPr>
            <a:spLocks noGrp="1"/>
          </p:cNvSpPr>
          <p:nvPr>
            <p:ph type="title"/>
          </p:nvPr>
        </p:nvSpPr>
        <p:spPr/>
        <p:txBody>
          <a:bodyPr/>
          <a:lstStyle/>
          <a:p>
            <a:r>
              <a:rPr lang="en-US" dirty="0"/>
              <a:t>Finding the median</a:t>
            </a:r>
            <a:endParaRPr lang="en-RU" dirty="0"/>
          </a:p>
        </p:txBody>
      </p:sp>
      <p:sp>
        <p:nvSpPr>
          <p:cNvPr id="3" name="Footer Placeholder 2">
            <a:extLst>
              <a:ext uri="{FF2B5EF4-FFF2-40B4-BE49-F238E27FC236}">
                <a16:creationId xmlns:a16="http://schemas.microsoft.com/office/drawing/2014/main" id="{27FF2D09-BFBA-A94B-0F3C-F4C3394A8F0F}"/>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134;p23">
            <a:extLst>
              <a:ext uri="{FF2B5EF4-FFF2-40B4-BE49-F238E27FC236}">
                <a16:creationId xmlns:a16="http://schemas.microsoft.com/office/drawing/2014/main" id="{B8B3F398-05E6-757A-A813-D22BAA977C25}"/>
              </a:ext>
            </a:extLst>
          </p:cNvPr>
          <p:cNvPicPr preferRelativeResize="0"/>
          <p:nvPr/>
        </p:nvPicPr>
        <p:blipFill>
          <a:blip r:embed="rId2">
            <a:alphaModFix/>
          </a:blip>
          <a:stretch>
            <a:fillRect/>
          </a:stretch>
        </p:blipFill>
        <p:spPr>
          <a:xfrm>
            <a:off x="1171463" y="1360925"/>
            <a:ext cx="1809750" cy="457200"/>
          </a:xfrm>
          <a:prstGeom prst="rect">
            <a:avLst/>
          </a:prstGeom>
          <a:noFill/>
          <a:ln>
            <a:noFill/>
          </a:ln>
        </p:spPr>
      </p:pic>
    </p:spTree>
    <p:extLst>
      <p:ext uri="{BB962C8B-B14F-4D97-AF65-F5344CB8AC3E}">
        <p14:creationId xmlns:p14="http://schemas.microsoft.com/office/powerpoint/2010/main" val="4283655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A93FD-E5D6-B7E7-6521-852D0DB7A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10F67-68BF-6423-AEA7-065D545D0CA3}"/>
              </a:ext>
            </a:extLst>
          </p:cNvPr>
          <p:cNvSpPr>
            <a:spLocks noGrp="1"/>
          </p:cNvSpPr>
          <p:nvPr>
            <p:ph type="title"/>
          </p:nvPr>
        </p:nvSpPr>
        <p:spPr/>
        <p:txBody>
          <a:bodyPr/>
          <a:lstStyle/>
          <a:p>
            <a:r>
              <a:rPr lang="en-US" dirty="0"/>
              <a:t>Finding the median</a:t>
            </a:r>
            <a:endParaRPr lang="en-RU" dirty="0"/>
          </a:p>
        </p:txBody>
      </p:sp>
      <p:sp>
        <p:nvSpPr>
          <p:cNvPr id="3" name="Footer Placeholder 2">
            <a:extLst>
              <a:ext uri="{FF2B5EF4-FFF2-40B4-BE49-F238E27FC236}">
                <a16:creationId xmlns:a16="http://schemas.microsoft.com/office/drawing/2014/main" id="{7EF3A1BB-A5C8-834F-0557-438DCD6C7C94}"/>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134;p23">
            <a:extLst>
              <a:ext uri="{FF2B5EF4-FFF2-40B4-BE49-F238E27FC236}">
                <a16:creationId xmlns:a16="http://schemas.microsoft.com/office/drawing/2014/main" id="{C6A83B4B-3BF4-11A6-AC54-24601DFC94E6}"/>
              </a:ext>
            </a:extLst>
          </p:cNvPr>
          <p:cNvPicPr preferRelativeResize="0"/>
          <p:nvPr/>
        </p:nvPicPr>
        <p:blipFill>
          <a:blip r:embed="rId2">
            <a:alphaModFix/>
          </a:blip>
          <a:stretch>
            <a:fillRect/>
          </a:stretch>
        </p:blipFill>
        <p:spPr>
          <a:xfrm>
            <a:off x="1171463" y="1360925"/>
            <a:ext cx="1809750" cy="457200"/>
          </a:xfrm>
          <a:prstGeom prst="rect">
            <a:avLst/>
          </a:prstGeom>
          <a:noFill/>
          <a:ln>
            <a:noFill/>
          </a:ln>
        </p:spPr>
      </p:pic>
      <p:sp>
        <p:nvSpPr>
          <p:cNvPr id="6" name="Google Shape;141;p24">
            <a:extLst>
              <a:ext uri="{FF2B5EF4-FFF2-40B4-BE49-F238E27FC236}">
                <a16:creationId xmlns:a16="http://schemas.microsoft.com/office/drawing/2014/main" id="{EAB64A10-A511-CD73-CF44-9433FAD901C4}"/>
              </a:ext>
            </a:extLst>
          </p:cNvPr>
          <p:cNvSpPr/>
          <p:nvPr/>
        </p:nvSpPr>
        <p:spPr>
          <a:xfrm>
            <a:off x="1805427" y="1360925"/>
            <a:ext cx="280800" cy="430800"/>
          </a:xfrm>
          <a:prstGeom prst="rect">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4910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D6EB3-2B3F-EA35-6379-E7064573E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708AD-57D3-B8FB-82BC-9DC7966B60E9}"/>
              </a:ext>
            </a:extLst>
          </p:cNvPr>
          <p:cNvSpPr>
            <a:spLocks noGrp="1"/>
          </p:cNvSpPr>
          <p:nvPr>
            <p:ph type="title"/>
          </p:nvPr>
        </p:nvSpPr>
        <p:spPr/>
        <p:txBody>
          <a:bodyPr/>
          <a:lstStyle/>
          <a:p>
            <a:r>
              <a:rPr lang="en-US" dirty="0"/>
              <a:t>Finding the median</a:t>
            </a:r>
            <a:endParaRPr lang="en-RU" dirty="0"/>
          </a:p>
        </p:txBody>
      </p:sp>
      <p:sp>
        <p:nvSpPr>
          <p:cNvPr id="3" name="Footer Placeholder 2">
            <a:extLst>
              <a:ext uri="{FF2B5EF4-FFF2-40B4-BE49-F238E27FC236}">
                <a16:creationId xmlns:a16="http://schemas.microsoft.com/office/drawing/2014/main" id="{1DA774B0-14CA-4C81-C32A-CF0958B3BD5A}"/>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134;p23">
            <a:extLst>
              <a:ext uri="{FF2B5EF4-FFF2-40B4-BE49-F238E27FC236}">
                <a16:creationId xmlns:a16="http://schemas.microsoft.com/office/drawing/2014/main" id="{21E2BAD2-96C6-F63B-E40E-1FEBF7B1A28A}"/>
              </a:ext>
            </a:extLst>
          </p:cNvPr>
          <p:cNvPicPr preferRelativeResize="0"/>
          <p:nvPr/>
        </p:nvPicPr>
        <p:blipFill>
          <a:blip r:embed="rId2">
            <a:alphaModFix/>
          </a:blip>
          <a:stretch>
            <a:fillRect/>
          </a:stretch>
        </p:blipFill>
        <p:spPr>
          <a:xfrm>
            <a:off x="1171463" y="1360925"/>
            <a:ext cx="1809750" cy="457200"/>
          </a:xfrm>
          <a:prstGeom prst="rect">
            <a:avLst/>
          </a:prstGeom>
          <a:noFill/>
          <a:ln>
            <a:noFill/>
          </a:ln>
        </p:spPr>
      </p:pic>
      <p:sp>
        <p:nvSpPr>
          <p:cNvPr id="6" name="Google Shape;141;p24">
            <a:extLst>
              <a:ext uri="{FF2B5EF4-FFF2-40B4-BE49-F238E27FC236}">
                <a16:creationId xmlns:a16="http://schemas.microsoft.com/office/drawing/2014/main" id="{930AB7FF-E58D-2B46-C60D-5E797D3D5AA7}"/>
              </a:ext>
            </a:extLst>
          </p:cNvPr>
          <p:cNvSpPr/>
          <p:nvPr/>
        </p:nvSpPr>
        <p:spPr>
          <a:xfrm>
            <a:off x="1805427" y="1360925"/>
            <a:ext cx="280800" cy="430800"/>
          </a:xfrm>
          <a:prstGeom prst="rect">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Google Shape;149;p25">
            <a:extLst>
              <a:ext uri="{FF2B5EF4-FFF2-40B4-BE49-F238E27FC236}">
                <a16:creationId xmlns:a16="http://schemas.microsoft.com/office/drawing/2014/main" id="{A2256E35-E9E4-2EF6-9D0F-44DE7436A6A0}"/>
              </a:ext>
            </a:extLst>
          </p:cNvPr>
          <p:cNvPicPr preferRelativeResize="0"/>
          <p:nvPr/>
        </p:nvPicPr>
        <p:blipFill>
          <a:blip r:embed="rId3">
            <a:alphaModFix/>
          </a:blip>
          <a:stretch>
            <a:fillRect/>
          </a:stretch>
        </p:blipFill>
        <p:spPr>
          <a:xfrm>
            <a:off x="1257792" y="1921915"/>
            <a:ext cx="1847850" cy="419100"/>
          </a:xfrm>
          <a:prstGeom prst="rect">
            <a:avLst/>
          </a:prstGeom>
          <a:noFill/>
          <a:ln>
            <a:noFill/>
          </a:ln>
        </p:spPr>
      </p:pic>
    </p:spTree>
    <p:extLst>
      <p:ext uri="{BB962C8B-B14F-4D97-AF65-F5344CB8AC3E}">
        <p14:creationId xmlns:p14="http://schemas.microsoft.com/office/powerpoint/2010/main" val="1254435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D9D0-1E50-5F36-4767-D26B6E16F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26355-4EBF-860C-07B6-8369CC6ABB74}"/>
              </a:ext>
            </a:extLst>
          </p:cNvPr>
          <p:cNvSpPr>
            <a:spLocks noGrp="1"/>
          </p:cNvSpPr>
          <p:nvPr>
            <p:ph type="title"/>
          </p:nvPr>
        </p:nvSpPr>
        <p:spPr/>
        <p:txBody>
          <a:bodyPr/>
          <a:lstStyle/>
          <a:p>
            <a:r>
              <a:rPr lang="en-US" dirty="0"/>
              <a:t>Finding the median</a:t>
            </a:r>
            <a:endParaRPr lang="en-RU" dirty="0"/>
          </a:p>
        </p:txBody>
      </p:sp>
      <p:sp>
        <p:nvSpPr>
          <p:cNvPr id="3" name="Footer Placeholder 2">
            <a:extLst>
              <a:ext uri="{FF2B5EF4-FFF2-40B4-BE49-F238E27FC236}">
                <a16:creationId xmlns:a16="http://schemas.microsoft.com/office/drawing/2014/main" id="{C0272327-56F7-84AF-1606-8E89C3AA6450}"/>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134;p23">
            <a:extLst>
              <a:ext uri="{FF2B5EF4-FFF2-40B4-BE49-F238E27FC236}">
                <a16:creationId xmlns:a16="http://schemas.microsoft.com/office/drawing/2014/main" id="{FA3D1835-F64F-1AE3-4A29-9E5A6FAF7231}"/>
              </a:ext>
            </a:extLst>
          </p:cNvPr>
          <p:cNvPicPr preferRelativeResize="0"/>
          <p:nvPr/>
        </p:nvPicPr>
        <p:blipFill>
          <a:blip r:embed="rId2">
            <a:alphaModFix/>
          </a:blip>
          <a:stretch>
            <a:fillRect/>
          </a:stretch>
        </p:blipFill>
        <p:spPr>
          <a:xfrm>
            <a:off x="1171463" y="1360925"/>
            <a:ext cx="1809750" cy="457200"/>
          </a:xfrm>
          <a:prstGeom prst="rect">
            <a:avLst/>
          </a:prstGeom>
          <a:noFill/>
          <a:ln>
            <a:noFill/>
          </a:ln>
        </p:spPr>
      </p:pic>
      <p:sp>
        <p:nvSpPr>
          <p:cNvPr id="6" name="Google Shape;141;p24">
            <a:extLst>
              <a:ext uri="{FF2B5EF4-FFF2-40B4-BE49-F238E27FC236}">
                <a16:creationId xmlns:a16="http://schemas.microsoft.com/office/drawing/2014/main" id="{7172CE01-872E-6792-8BED-395B3789C4FD}"/>
              </a:ext>
            </a:extLst>
          </p:cNvPr>
          <p:cNvSpPr/>
          <p:nvPr/>
        </p:nvSpPr>
        <p:spPr>
          <a:xfrm>
            <a:off x="1805427" y="1360925"/>
            <a:ext cx="280800" cy="430800"/>
          </a:xfrm>
          <a:prstGeom prst="rect">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Google Shape;149;p25">
            <a:extLst>
              <a:ext uri="{FF2B5EF4-FFF2-40B4-BE49-F238E27FC236}">
                <a16:creationId xmlns:a16="http://schemas.microsoft.com/office/drawing/2014/main" id="{4C16C6D8-6677-E20B-7337-1BDFB5FDFAC2}"/>
              </a:ext>
            </a:extLst>
          </p:cNvPr>
          <p:cNvPicPr preferRelativeResize="0"/>
          <p:nvPr/>
        </p:nvPicPr>
        <p:blipFill>
          <a:blip r:embed="rId3">
            <a:alphaModFix/>
          </a:blip>
          <a:stretch>
            <a:fillRect/>
          </a:stretch>
        </p:blipFill>
        <p:spPr>
          <a:xfrm>
            <a:off x="1257792" y="1921915"/>
            <a:ext cx="1847850" cy="419100"/>
          </a:xfrm>
          <a:prstGeom prst="rect">
            <a:avLst/>
          </a:prstGeom>
          <a:noFill/>
          <a:ln>
            <a:noFill/>
          </a:ln>
        </p:spPr>
      </p:pic>
      <p:pic>
        <p:nvPicPr>
          <p:cNvPr id="7" name="Google Shape;158;p26">
            <a:extLst>
              <a:ext uri="{FF2B5EF4-FFF2-40B4-BE49-F238E27FC236}">
                <a16:creationId xmlns:a16="http://schemas.microsoft.com/office/drawing/2014/main" id="{804CFE46-E12B-20C2-6198-C978E8637DC2}"/>
              </a:ext>
            </a:extLst>
          </p:cNvPr>
          <p:cNvPicPr preferRelativeResize="0"/>
          <p:nvPr/>
        </p:nvPicPr>
        <p:blipFill>
          <a:blip r:embed="rId4">
            <a:alphaModFix/>
          </a:blip>
          <a:stretch>
            <a:fillRect/>
          </a:stretch>
        </p:blipFill>
        <p:spPr>
          <a:xfrm>
            <a:off x="1171463" y="2418665"/>
            <a:ext cx="3429000" cy="990600"/>
          </a:xfrm>
          <a:prstGeom prst="rect">
            <a:avLst/>
          </a:prstGeom>
          <a:noFill/>
          <a:ln>
            <a:noFill/>
          </a:ln>
        </p:spPr>
      </p:pic>
    </p:spTree>
    <p:extLst>
      <p:ext uri="{BB962C8B-B14F-4D97-AF65-F5344CB8AC3E}">
        <p14:creationId xmlns:p14="http://schemas.microsoft.com/office/powerpoint/2010/main" val="270567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B6B23-1A68-4AF6-55B3-A5CB9F5AA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97959-04C1-F1E3-0609-8494D3684B74}"/>
              </a:ext>
            </a:extLst>
          </p:cNvPr>
          <p:cNvSpPr>
            <a:spLocks noGrp="1"/>
          </p:cNvSpPr>
          <p:nvPr>
            <p:ph type="title"/>
          </p:nvPr>
        </p:nvSpPr>
        <p:spPr/>
        <p:txBody>
          <a:bodyPr/>
          <a:lstStyle/>
          <a:p>
            <a:r>
              <a:rPr lang="en-US" dirty="0"/>
              <a:t>Median</a:t>
            </a:r>
            <a:endParaRPr lang="en-RU" dirty="0"/>
          </a:p>
        </p:txBody>
      </p:sp>
      <p:sp>
        <p:nvSpPr>
          <p:cNvPr id="3" name="Footer Placeholder 2">
            <a:extLst>
              <a:ext uri="{FF2B5EF4-FFF2-40B4-BE49-F238E27FC236}">
                <a16:creationId xmlns:a16="http://schemas.microsoft.com/office/drawing/2014/main" id="{576B3D1C-5070-076A-1519-9972725BCA49}"/>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5" name="Content Placeholder 1">
            <a:extLst>
              <a:ext uri="{FF2B5EF4-FFF2-40B4-BE49-F238E27FC236}">
                <a16:creationId xmlns:a16="http://schemas.microsoft.com/office/drawing/2014/main" id="{6380B19E-760B-5B9C-CA4A-21D93E43F9F4}"/>
              </a:ext>
            </a:extLst>
          </p:cNvPr>
          <p:cNvSpPr>
            <a:spLocks noGrp="1"/>
          </p:cNvSpPr>
          <p:nvPr/>
        </p:nvSpPr>
        <p:spPr>
          <a:xfrm>
            <a:off x="710695" y="1717081"/>
            <a:ext cx="10751962" cy="3896748"/>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If the scores in a distribution are listed in order from smallest to largest, the median is the midpoint of the list. More specifically, the </a:t>
            </a:r>
            <a:r>
              <a:rPr lang="en-RU" sz="1800" b="1"/>
              <a:t>median</a:t>
            </a:r>
            <a:r>
              <a:rPr lang="en-RU" sz="1800"/>
              <a:t> is the point on the measurement scale below which 50% of the scores in the distribution are located.</a:t>
            </a:r>
            <a:endParaRPr lang="en-US" sz="1800" dirty="0"/>
          </a:p>
          <a:p>
            <a:pPr marL="432000" algn="just"/>
            <a:endParaRPr lang="en-US" sz="1800" dirty="0"/>
          </a:p>
          <a:p>
            <a:pPr marL="432000" algn="just"/>
            <a:r>
              <a:rPr lang="en-US" sz="1800" dirty="0"/>
              <a:t>Defining the median as the midpoint of a distribution means that the scores are being divided into two equal-sized groups. We are not locating the midpoint between the highest and lowest X values. To find the median, list the scores in order from smallest to largest. Begin with the smallest score and count the scores as you move up the list. The median is the first point you reach that is greater than 50% of the scores in the distribution.</a:t>
            </a:r>
          </a:p>
          <a:p>
            <a:pPr marL="432000" algn="just"/>
            <a:endParaRPr lang="en-US" sz="1800" dirty="0"/>
          </a:p>
          <a:p>
            <a:pPr marL="432000" algn="just"/>
            <a:endParaRPr lang="en-US" sz="1800" dirty="0"/>
          </a:p>
          <a:p>
            <a:pPr marL="21600" indent="0" algn="just">
              <a:buNone/>
            </a:pPr>
            <a:endParaRPr lang="en-US" sz="1800" dirty="0"/>
          </a:p>
        </p:txBody>
      </p:sp>
    </p:spTree>
    <p:extLst>
      <p:ext uri="{BB962C8B-B14F-4D97-AF65-F5344CB8AC3E}">
        <p14:creationId xmlns:p14="http://schemas.microsoft.com/office/powerpoint/2010/main" val="2320159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B6399-CE9C-F389-88FD-4AACD55CD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4C751-8208-3AA2-99AD-4501F8428EFD}"/>
              </a:ext>
            </a:extLst>
          </p:cNvPr>
          <p:cNvSpPr>
            <a:spLocks noGrp="1"/>
          </p:cNvSpPr>
          <p:nvPr>
            <p:ph type="title"/>
          </p:nvPr>
        </p:nvSpPr>
        <p:spPr/>
        <p:txBody>
          <a:bodyPr/>
          <a:lstStyle/>
          <a:p>
            <a:r>
              <a:rPr lang="en-US" dirty="0"/>
              <a:t>Learning check</a:t>
            </a:r>
            <a:endParaRPr lang="en-RU" dirty="0"/>
          </a:p>
        </p:txBody>
      </p:sp>
      <p:sp>
        <p:nvSpPr>
          <p:cNvPr id="3" name="Footer Placeholder 2">
            <a:extLst>
              <a:ext uri="{FF2B5EF4-FFF2-40B4-BE49-F238E27FC236}">
                <a16:creationId xmlns:a16="http://schemas.microsoft.com/office/drawing/2014/main" id="{22EA48B2-B311-D63E-3B17-D09D3652B0C3}"/>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5" name="Google Shape;170;p28">
            <a:extLst>
              <a:ext uri="{FF2B5EF4-FFF2-40B4-BE49-F238E27FC236}">
                <a16:creationId xmlns:a16="http://schemas.microsoft.com/office/drawing/2014/main" id="{63EF639D-7134-5250-EF74-7174AF2603FF}"/>
              </a:ext>
            </a:extLst>
          </p:cNvPr>
          <p:cNvPicPr preferRelativeResize="0"/>
          <p:nvPr/>
        </p:nvPicPr>
        <p:blipFill>
          <a:blip r:embed="rId2">
            <a:alphaModFix/>
          </a:blip>
          <a:stretch>
            <a:fillRect/>
          </a:stretch>
        </p:blipFill>
        <p:spPr>
          <a:xfrm>
            <a:off x="2562225" y="2019300"/>
            <a:ext cx="7067550" cy="2819400"/>
          </a:xfrm>
          <a:prstGeom prst="rect">
            <a:avLst/>
          </a:prstGeom>
          <a:noFill/>
          <a:ln>
            <a:noFill/>
          </a:ln>
        </p:spPr>
      </p:pic>
    </p:spTree>
    <p:extLst>
      <p:ext uri="{BB962C8B-B14F-4D97-AF65-F5344CB8AC3E}">
        <p14:creationId xmlns:p14="http://schemas.microsoft.com/office/powerpoint/2010/main" val="39695615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D1E73-247E-F964-0756-28A8CE39C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D897C-70A9-6847-1F30-0B3E835D0DF6}"/>
              </a:ext>
            </a:extLst>
          </p:cNvPr>
          <p:cNvSpPr>
            <a:spLocks noGrp="1"/>
          </p:cNvSpPr>
          <p:nvPr>
            <p:ph type="title"/>
          </p:nvPr>
        </p:nvSpPr>
        <p:spPr/>
        <p:txBody>
          <a:bodyPr/>
          <a:lstStyle/>
          <a:p>
            <a:r>
              <a:rPr lang="en-US" dirty="0"/>
              <a:t>Mode</a:t>
            </a:r>
            <a:endParaRPr lang="en-RU" dirty="0"/>
          </a:p>
        </p:txBody>
      </p:sp>
      <p:sp>
        <p:nvSpPr>
          <p:cNvPr id="3" name="Footer Placeholder 2">
            <a:extLst>
              <a:ext uri="{FF2B5EF4-FFF2-40B4-BE49-F238E27FC236}">
                <a16:creationId xmlns:a16="http://schemas.microsoft.com/office/drawing/2014/main" id="{DC0166F4-4005-982A-C7EE-6B5C1A971529}"/>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5" name="Content Placeholder 1">
            <a:extLst>
              <a:ext uri="{FF2B5EF4-FFF2-40B4-BE49-F238E27FC236}">
                <a16:creationId xmlns:a16="http://schemas.microsoft.com/office/drawing/2014/main" id="{0BEF78B5-E162-08CB-0FB0-D3B097C8EAB0}"/>
              </a:ext>
            </a:extLst>
          </p:cNvPr>
          <p:cNvSpPr>
            <a:spLocks noGrp="1"/>
          </p:cNvSpPr>
          <p:nvPr/>
        </p:nvSpPr>
        <p:spPr>
          <a:xfrm>
            <a:off x="679198" y="1496645"/>
            <a:ext cx="7762674" cy="4479612"/>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RU" sz="1800"/>
              <a:t>In a frequency distribution, the </a:t>
            </a:r>
            <a:r>
              <a:rPr lang="en-RU" sz="1800" b="1"/>
              <a:t>mode</a:t>
            </a:r>
            <a:r>
              <a:rPr lang="en-RU" sz="1800"/>
              <a:t> is the score or category that has the greatest frequency.</a:t>
            </a:r>
            <a:endParaRPr lang="en-US" sz="1800" dirty="0"/>
          </a:p>
          <a:p>
            <a:pPr marL="432000" algn="just"/>
            <a:r>
              <a:rPr lang="en-RU" sz="1800"/>
              <a:t>Although a distribution will have only one mean and only one median, it is possible to have more than one mode. Specifically, it is possible to have two or more scores that have the same highest frequency.</a:t>
            </a:r>
            <a:endParaRPr lang="en-US" sz="1800" dirty="0"/>
          </a:p>
          <a:p>
            <a:pPr marL="432000" algn="just"/>
            <a:r>
              <a:rPr lang="en-RU" sz="1800"/>
              <a:t>In a frequency distribution graph, the different modes will correspond to distinct, equally high peaks. A distribution with two modes is said to be </a:t>
            </a:r>
            <a:r>
              <a:rPr lang="en-RU" sz="1800" b="1"/>
              <a:t>bimodal</a:t>
            </a:r>
            <a:r>
              <a:rPr lang="en-RU" sz="1800"/>
              <a:t>, and a distribution with more than two modes is called </a:t>
            </a:r>
            <a:r>
              <a:rPr lang="en-RU" sz="1800" b="1"/>
              <a:t>multimodal</a:t>
            </a:r>
            <a:r>
              <a:rPr lang="en-RU" sz="1800"/>
              <a:t>. Occasionally, a distribution with several equally high points is said to have no mode.</a:t>
            </a:r>
            <a:endParaRPr lang="en-US" sz="1800" dirty="0"/>
          </a:p>
          <a:p>
            <a:pPr marL="432000" algn="just"/>
            <a:endParaRPr lang="en-US" sz="1800" dirty="0"/>
          </a:p>
          <a:p>
            <a:pPr marL="432000" algn="just"/>
            <a:endParaRPr lang="en-US" sz="1800" dirty="0"/>
          </a:p>
          <a:p>
            <a:pPr marL="432000" algn="just"/>
            <a:endParaRPr lang="en-US" sz="1800" dirty="0"/>
          </a:p>
          <a:p>
            <a:pPr marL="21600" indent="0" algn="just">
              <a:buNone/>
            </a:pPr>
            <a:endParaRPr lang="en-US" sz="1800" dirty="0"/>
          </a:p>
        </p:txBody>
      </p:sp>
      <p:pic>
        <p:nvPicPr>
          <p:cNvPr id="4" name="Google Shape;177;p29">
            <a:extLst>
              <a:ext uri="{FF2B5EF4-FFF2-40B4-BE49-F238E27FC236}">
                <a16:creationId xmlns:a16="http://schemas.microsoft.com/office/drawing/2014/main" id="{912C860A-9646-12C8-6296-9A5B88DE4C04}"/>
              </a:ext>
            </a:extLst>
          </p:cNvPr>
          <p:cNvPicPr preferRelativeResize="0"/>
          <p:nvPr/>
        </p:nvPicPr>
        <p:blipFill>
          <a:blip r:embed="rId2">
            <a:alphaModFix/>
          </a:blip>
          <a:stretch>
            <a:fillRect/>
          </a:stretch>
        </p:blipFill>
        <p:spPr>
          <a:xfrm>
            <a:off x="8879216" y="2109628"/>
            <a:ext cx="3057219" cy="2508900"/>
          </a:xfrm>
          <a:prstGeom prst="rect">
            <a:avLst/>
          </a:prstGeom>
          <a:noFill/>
          <a:ln>
            <a:noFill/>
          </a:ln>
        </p:spPr>
      </p:pic>
    </p:spTree>
    <p:extLst>
      <p:ext uri="{BB962C8B-B14F-4D97-AF65-F5344CB8AC3E}">
        <p14:creationId xmlns:p14="http://schemas.microsoft.com/office/powerpoint/2010/main" val="2675168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733D0-2B83-7509-BD45-7962BD0D9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34E93-0CF8-3769-F744-2B65669349A5}"/>
              </a:ext>
            </a:extLst>
          </p:cNvPr>
          <p:cNvSpPr>
            <a:spLocks noGrp="1"/>
          </p:cNvSpPr>
          <p:nvPr>
            <p:ph type="title"/>
          </p:nvPr>
        </p:nvSpPr>
        <p:spPr/>
        <p:txBody>
          <a:bodyPr/>
          <a:lstStyle/>
          <a:p>
            <a:r>
              <a:rPr lang="en-US" dirty="0"/>
              <a:t>Bimodal distribution</a:t>
            </a:r>
            <a:endParaRPr lang="en-RU" dirty="0"/>
          </a:p>
        </p:txBody>
      </p:sp>
      <p:sp>
        <p:nvSpPr>
          <p:cNvPr id="3" name="Footer Placeholder 2">
            <a:extLst>
              <a:ext uri="{FF2B5EF4-FFF2-40B4-BE49-F238E27FC236}">
                <a16:creationId xmlns:a16="http://schemas.microsoft.com/office/drawing/2014/main" id="{901A2868-85EC-1530-7EDC-66C324DF495E}"/>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6" name="Google Shape;189;p31">
            <a:extLst>
              <a:ext uri="{FF2B5EF4-FFF2-40B4-BE49-F238E27FC236}">
                <a16:creationId xmlns:a16="http://schemas.microsoft.com/office/drawing/2014/main" id="{C4218016-6226-0B53-6D45-00695A50F555}"/>
              </a:ext>
            </a:extLst>
          </p:cNvPr>
          <p:cNvPicPr preferRelativeResize="0"/>
          <p:nvPr/>
        </p:nvPicPr>
        <p:blipFill rotWithShape="1">
          <a:blip r:embed="rId2">
            <a:alphaModFix/>
          </a:blip>
          <a:srcRect l="1806"/>
          <a:stretch/>
        </p:blipFill>
        <p:spPr>
          <a:xfrm>
            <a:off x="1112445" y="1572396"/>
            <a:ext cx="9967110" cy="3713207"/>
          </a:xfrm>
          <a:prstGeom prst="rect">
            <a:avLst/>
          </a:prstGeom>
          <a:noFill/>
          <a:ln>
            <a:noFill/>
          </a:ln>
        </p:spPr>
      </p:pic>
    </p:spTree>
    <p:extLst>
      <p:ext uri="{BB962C8B-B14F-4D97-AF65-F5344CB8AC3E}">
        <p14:creationId xmlns:p14="http://schemas.microsoft.com/office/powerpoint/2010/main" val="2928391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5D5D7-5920-E724-9EB9-EC11897EC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B36B4-22F6-DD96-D6CE-CDCE0C909718}"/>
              </a:ext>
            </a:extLst>
          </p:cNvPr>
          <p:cNvSpPr>
            <a:spLocks noGrp="1"/>
          </p:cNvSpPr>
          <p:nvPr>
            <p:ph type="title"/>
          </p:nvPr>
        </p:nvSpPr>
        <p:spPr/>
        <p:txBody>
          <a:bodyPr/>
          <a:lstStyle/>
          <a:p>
            <a:r>
              <a:rPr lang="en-US" dirty="0"/>
              <a:t>Selecting a measure of central tendency</a:t>
            </a:r>
            <a:endParaRPr lang="en-RU" dirty="0"/>
          </a:p>
        </p:txBody>
      </p:sp>
      <p:sp>
        <p:nvSpPr>
          <p:cNvPr id="3" name="Footer Placeholder 2">
            <a:extLst>
              <a:ext uri="{FF2B5EF4-FFF2-40B4-BE49-F238E27FC236}">
                <a16:creationId xmlns:a16="http://schemas.microsoft.com/office/drawing/2014/main" id="{C8DF63A8-93AD-0F8E-8A08-83AA3B156F0C}"/>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47EA570C-08C3-F2EB-BCB6-4C1958734299}"/>
              </a:ext>
            </a:extLst>
          </p:cNvPr>
          <p:cNvSpPr>
            <a:spLocks noGrp="1"/>
          </p:cNvSpPr>
          <p:nvPr/>
        </p:nvSpPr>
        <p:spPr>
          <a:xfrm>
            <a:off x="408616" y="1055772"/>
            <a:ext cx="6326919" cy="5238891"/>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US" sz="1800" dirty="0"/>
              <a:t>You can use </a:t>
            </a:r>
            <a:r>
              <a:rPr lang="en-US" sz="1800" b="1" dirty="0"/>
              <a:t>mean</a:t>
            </a:r>
            <a:r>
              <a:rPr lang="en-US" sz="1800" dirty="0"/>
              <a:t> for </a:t>
            </a:r>
            <a:r>
              <a:rPr lang="en-US" sz="1800" b="1" dirty="0"/>
              <a:t>numerical features</a:t>
            </a:r>
            <a:r>
              <a:rPr lang="en-US" sz="1800" dirty="0"/>
              <a:t> and for </a:t>
            </a:r>
            <a:r>
              <a:rPr lang="en-US" sz="1800" b="1" dirty="0"/>
              <a:t>symmetrical distributions</a:t>
            </a:r>
            <a:r>
              <a:rPr lang="en-US" sz="1800" dirty="0"/>
              <a:t> since it can be easily affected by extreme values and become less representative.</a:t>
            </a:r>
          </a:p>
          <a:p>
            <a:pPr marL="21600" indent="0" algn="just">
              <a:buNone/>
            </a:pPr>
            <a:endParaRPr lang="en-US" sz="1800" dirty="0"/>
          </a:p>
          <a:p>
            <a:pPr marL="21600" indent="0" algn="just">
              <a:buNone/>
            </a:pPr>
            <a:r>
              <a:rPr lang="en-US" sz="1800" dirty="0"/>
              <a:t>It’s better to use the </a:t>
            </a:r>
            <a:r>
              <a:rPr lang="en-US" sz="1800" b="1" dirty="0"/>
              <a:t>median</a:t>
            </a:r>
            <a:r>
              <a:rPr lang="en-US" sz="1800" dirty="0"/>
              <a:t> for </a:t>
            </a:r>
            <a:r>
              <a:rPr lang="en-US" sz="1800" b="1" dirty="0"/>
              <a:t>skewed distrib</a:t>
            </a:r>
            <a:r>
              <a:rPr lang="en-US" sz="1800" dirty="0"/>
              <a:t>utions. Also do not use mean but median, when you have </a:t>
            </a:r>
            <a:r>
              <a:rPr lang="en-US" sz="1800" b="1" dirty="0"/>
              <a:t>undetermined values</a:t>
            </a:r>
            <a:r>
              <a:rPr lang="en-US" sz="1800" dirty="0"/>
              <a:t> in your data. The median is also suitable for an </a:t>
            </a:r>
            <a:r>
              <a:rPr lang="en-US" sz="1800" b="1" dirty="0"/>
              <a:t>ordinal scale</a:t>
            </a:r>
            <a:r>
              <a:rPr lang="en-US" sz="1800" dirty="0"/>
              <a:t> when the mean is not!</a:t>
            </a:r>
          </a:p>
          <a:p>
            <a:pPr marL="21600" indent="0" algn="just">
              <a:buNone/>
            </a:pPr>
            <a:endParaRPr lang="en-US" sz="1800" dirty="0"/>
          </a:p>
          <a:p>
            <a:pPr marL="21600" indent="0" algn="just">
              <a:buNone/>
            </a:pPr>
            <a:r>
              <a:rPr lang="en-US" sz="1800" dirty="0"/>
              <a:t>The </a:t>
            </a:r>
            <a:r>
              <a:rPr lang="en-US" sz="1800" b="1" dirty="0"/>
              <a:t>mode</a:t>
            </a:r>
            <a:r>
              <a:rPr lang="en-US" sz="1800" dirty="0"/>
              <a:t> you can find for any distribution, but most likely you will use it with </a:t>
            </a:r>
            <a:r>
              <a:rPr lang="en-US" sz="1800" b="1" dirty="0"/>
              <a:t>nominal data</a:t>
            </a:r>
            <a:r>
              <a:rPr lang="en-US" sz="1800" dirty="0"/>
              <a:t> since it is the only central tendency metric that can be calculated for those. Also, it makes sense for discrete variables</a:t>
            </a:r>
            <a:r>
              <a:rPr lang="ru-RU" sz="1800" dirty="0"/>
              <a:t>.</a:t>
            </a:r>
            <a:endParaRPr lang="en-US" sz="1800" dirty="0"/>
          </a:p>
        </p:txBody>
      </p:sp>
      <p:pic>
        <p:nvPicPr>
          <p:cNvPr id="5" name="Google Shape;202;p33">
            <a:extLst>
              <a:ext uri="{FF2B5EF4-FFF2-40B4-BE49-F238E27FC236}">
                <a16:creationId xmlns:a16="http://schemas.microsoft.com/office/drawing/2014/main" id="{7534D1F9-2AE1-CD17-9AC5-301E595D083F}"/>
              </a:ext>
            </a:extLst>
          </p:cNvPr>
          <p:cNvPicPr preferRelativeResize="0"/>
          <p:nvPr/>
        </p:nvPicPr>
        <p:blipFill>
          <a:blip r:embed="rId2">
            <a:alphaModFix/>
          </a:blip>
          <a:stretch>
            <a:fillRect/>
          </a:stretch>
        </p:blipFill>
        <p:spPr>
          <a:xfrm>
            <a:off x="6982832" y="1931973"/>
            <a:ext cx="4800552" cy="3423797"/>
          </a:xfrm>
          <a:prstGeom prst="rect">
            <a:avLst/>
          </a:prstGeom>
          <a:noFill/>
          <a:ln>
            <a:noFill/>
          </a:ln>
        </p:spPr>
      </p:pic>
    </p:spTree>
    <p:extLst>
      <p:ext uri="{BB962C8B-B14F-4D97-AF65-F5344CB8AC3E}">
        <p14:creationId xmlns:p14="http://schemas.microsoft.com/office/powerpoint/2010/main" val="1906953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4FC55-7D00-9293-5A57-7494E9F0B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73928-244B-B643-CB6D-F4F969A57BFC}"/>
              </a:ext>
            </a:extLst>
          </p:cNvPr>
          <p:cNvSpPr>
            <a:spLocks noGrp="1"/>
          </p:cNvSpPr>
          <p:nvPr>
            <p:ph type="title"/>
          </p:nvPr>
        </p:nvSpPr>
        <p:spPr/>
        <p:txBody>
          <a:bodyPr/>
          <a:lstStyle/>
          <a:p>
            <a:r>
              <a:rPr lang="en-US" dirty="0"/>
              <a:t>Undetermined values &amp; Open-ended data</a:t>
            </a:r>
            <a:endParaRPr lang="en-RU" dirty="0"/>
          </a:p>
        </p:txBody>
      </p:sp>
      <p:sp>
        <p:nvSpPr>
          <p:cNvPr id="3" name="Footer Placeholder 2">
            <a:extLst>
              <a:ext uri="{FF2B5EF4-FFF2-40B4-BE49-F238E27FC236}">
                <a16:creationId xmlns:a16="http://schemas.microsoft.com/office/drawing/2014/main" id="{9B288DFE-62DB-863D-2287-5DB2CBB0BEAB}"/>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6" name="Google Shape;208;p34">
            <a:extLst>
              <a:ext uri="{FF2B5EF4-FFF2-40B4-BE49-F238E27FC236}">
                <a16:creationId xmlns:a16="http://schemas.microsoft.com/office/drawing/2014/main" id="{F6D3DCC5-F350-0159-2F36-4246E8C32BF5}"/>
              </a:ext>
            </a:extLst>
          </p:cNvPr>
          <p:cNvPicPr preferRelativeResize="0"/>
          <p:nvPr/>
        </p:nvPicPr>
        <p:blipFill>
          <a:blip r:embed="rId2">
            <a:alphaModFix/>
          </a:blip>
          <a:stretch>
            <a:fillRect/>
          </a:stretch>
        </p:blipFill>
        <p:spPr>
          <a:xfrm>
            <a:off x="3276489" y="1248109"/>
            <a:ext cx="2520154" cy="1760266"/>
          </a:xfrm>
          <a:prstGeom prst="rect">
            <a:avLst/>
          </a:prstGeom>
          <a:noFill/>
          <a:ln>
            <a:noFill/>
          </a:ln>
        </p:spPr>
      </p:pic>
      <p:pic>
        <p:nvPicPr>
          <p:cNvPr id="7" name="Google Shape;209;p34">
            <a:extLst>
              <a:ext uri="{FF2B5EF4-FFF2-40B4-BE49-F238E27FC236}">
                <a16:creationId xmlns:a16="http://schemas.microsoft.com/office/drawing/2014/main" id="{A5E26C95-78F0-A1CF-9E22-9CC839F26C08}"/>
              </a:ext>
            </a:extLst>
          </p:cNvPr>
          <p:cNvPicPr preferRelativeResize="0"/>
          <p:nvPr/>
        </p:nvPicPr>
        <p:blipFill>
          <a:blip r:embed="rId3">
            <a:alphaModFix/>
          </a:blip>
          <a:stretch>
            <a:fillRect/>
          </a:stretch>
        </p:blipFill>
        <p:spPr>
          <a:xfrm>
            <a:off x="6882493" y="1020536"/>
            <a:ext cx="1665513" cy="2076655"/>
          </a:xfrm>
          <a:prstGeom prst="rect">
            <a:avLst/>
          </a:prstGeom>
          <a:noFill/>
          <a:ln>
            <a:noFill/>
          </a:ln>
        </p:spPr>
      </p:pic>
      <p:sp>
        <p:nvSpPr>
          <p:cNvPr id="8" name="Content Placeholder 1">
            <a:extLst>
              <a:ext uri="{FF2B5EF4-FFF2-40B4-BE49-F238E27FC236}">
                <a16:creationId xmlns:a16="http://schemas.microsoft.com/office/drawing/2014/main" id="{E765B09F-A1F2-D834-D32E-E59AA56B5E83}"/>
              </a:ext>
            </a:extLst>
          </p:cNvPr>
          <p:cNvSpPr>
            <a:spLocks noGrp="1"/>
          </p:cNvSpPr>
          <p:nvPr/>
        </p:nvSpPr>
        <p:spPr>
          <a:xfrm>
            <a:off x="351466" y="3194513"/>
            <a:ext cx="3767667" cy="493796"/>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2000" algn="just"/>
            <a:r>
              <a:rPr lang="en-US" sz="1800" dirty="0"/>
              <a:t>Mean and median’s in graphs:</a:t>
            </a:r>
          </a:p>
          <a:p>
            <a:pPr marL="432000" algn="just"/>
            <a:endParaRPr lang="en-US" sz="1800" dirty="0"/>
          </a:p>
          <a:p>
            <a:pPr marL="21600" indent="0" algn="just">
              <a:buNone/>
            </a:pPr>
            <a:endParaRPr lang="en-US" sz="1800" dirty="0"/>
          </a:p>
        </p:txBody>
      </p:sp>
      <p:pic>
        <p:nvPicPr>
          <p:cNvPr id="9" name="Google Shape;215;p35">
            <a:extLst>
              <a:ext uri="{FF2B5EF4-FFF2-40B4-BE49-F238E27FC236}">
                <a16:creationId xmlns:a16="http://schemas.microsoft.com/office/drawing/2014/main" id="{49C7CF5A-6F5F-06B9-EF3A-33930678FC1D}"/>
              </a:ext>
            </a:extLst>
          </p:cNvPr>
          <p:cNvPicPr preferRelativeResize="0"/>
          <p:nvPr/>
        </p:nvPicPr>
        <p:blipFill>
          <a:blip r:embed="rId4">
            <a:alphaModFix/>
          </a:blip>
          <a:stretch>
            <a:fillRect/>
          </a:stretch>
        </p:blipFill>
        <p:spPr>
          <a:xfrm>
            <a:off x="1461407" y="3849625"/>
            <a:ext cx="4400153" cy="2428711"/>
          </a:xfrm>
          <a:prstGeom prst="rect">
            <a:avLst/>
          </a:prstGeom>
          <a:noFill/>
          <a:ln>
            <a:noFill/>
          </a:ln>
        </p:spPr>
      </p:pic>
      <p:pic>
        <p:nvPicPr>
          <p:cNvPr id="10" name="Google Shape;216;p35">
            <a:extLst>
              <a:ext uri="{FF2B5EF4-FFF2-40B4-BE49-F238E27FC236}">
                <a16:creationId xmlns:a16="http://schemas.microsoft.com/office/drawing/2014/main" id="{6A4645AC-DBE5-D3D5-3FB9-984627E35418}"/>
              </a:ext>
            </a:extLst>
          </p:cNvPr>
          <p:cNvPicPr preferRelativeResize="0"/>
          <p:nvPr/>
        </p:nvPicPr>
        <p:blipFill>
          <a:blip r:embed="rId5">
            <a:alphaModFix/>
          </a:blip>
          <a:stretch>
            <a:fillRect/>
          </a:stretch>
        </p:blipFill>
        <p:spPr>
          <a:xfrm>
            <a:off x="6167119" y="3993757"/>
            <a:ext cx="4234181" cy="2076655"/>
          </a:xfrm>
          <a:prstGeom prst="rect">
            <a:avLst/>
          </a:prstGeom>
          <a:noFill/>
          <a:ln>
            <a:noFill/>
          </a:ln>
        </p:spPr>
      </p:pic>
    </p:spTree>
    <p:extLst>
      <p:ext uri="{BB962C8B-B14F-4D97-AF65-F5344CB8AC3E}">
        <p14:creationId xmlns:p14="http://schemas.microsoft.com/office/powerpoint/2010/main" val="5830848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D5140-C832-6D8A-B1FB-B9226FAC1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64E8B-7926-CC43-790B-C8661A6026E3}"/>
              </a:ext>
            </a:extLst>
          </p:cNvPr>
          <p:cNvSpPr>
            <a:spLocks noGrp="1"/>
          </p:cNvSpPr>
          <p:nvPr>
            <p:ph type="title"/>
          </p:nvPr>
        </p:nvSpPr>
        <p:spPr/>
        <p:txBody>
          <a:bodyPr>
            <a:normAutofit fontScale="90000"/>
          </a:bodyPr>
          <a:lstStyle/>
          <a:p>
            <a:r>
              <a:rPr lang="en-US" dirty="0"/>
              <a:t>Central Tendency and the Shape of the Distribution</a:t>
            </a:r>
            <a:endParaRPr lang="en-RU" dirty="0"/>
          </a:p>
        </p:txBody>
      </p:sp>
      <p:sp>
        <p:nvSpPr>
          <p:cNvPr id="3" name="Footer Placeholder 2">
            <a:extLst>
              <a:ext uri="{FF2B5EF4-FFF2-40B4-BE49-F238E27FC236}">
                <a16:creationId xmlns:a16="http://schemas.microsoft.com/office/drawing/2014/main" id="{3A6D1561-5E7B-9D80-3489-24CB6124B325}"/>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52C24920-8758-FA72-6589-DD26CCA2B118}"/>
              </a:ext>
            </a:extLst>
          </p:cNvPr>
          <p:cNvSpPr>
            <a:spLocks noGrp="1"/>
          </p:cNvSpPr>
          <p:nvPr/>
        </p:nvSpPr>
        <p:spPr>
          <a:xfrm>
            <a:off x="506186" y="1681843"/>
            <a:ext cx="11169999" cy="4359728"/>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US" sz="1800" dirty="0"/>
              <a:t>There are situations in which all three measures will have exactly the same value. On the other hand, there are situations in which the three measures are guaranteed to be different. In part, the relationships among the mean, median, and mode are determined by the shape of the distribution. </a:t>
            </a:r>
          </a:p>
        </p:txBody>
      </p:sp>
    </p:spTree>
    <p:extLst>
      <p:ext uri="{BB962C8B-B14F-4D97-AF65-F5344CB8AC3E}">
        <p14:creationId xmlns:p14="http://schemas.microsoft.com/office/powerpoint/2010/main" val="22038780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ACD5-AAF8-96A0-197D-F6B5B64257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D1224-99ED-8899-A845-6D078F33485F}"/>
              </a:ext>
            </a:extLst>
          </p:cNvPr>
          <p:cNvSpPr>
            <a:spLocks noGrp="1"/>
          </p:cNvSpPr>
          <p:nvPr>
            <p:ph type="title"/>
          </p:nvPr>
        </p:nvSpPr>
        <p:spPr/>
        <p:txBody>
          <a:bodyPr>
            <a:normAutofit/>
          </a:bodyPr>
          <a:lstStyle/>
          <a:p>
            <a:r>
              <a:rPr lang="en-US" dirty="0"/>
              <a:t>Symmetrical distribution</a:t>
            </a:r>
            <a:endParaRPr lang="en-RU" dirty="0"/>
          </a:p>
        </p:txBody>
      </p:sp>
      <p:sp>
        <p:nvSpPr>
          <p:cNvPr id="3" name="Footer Placeholder 2">
            <a:extLst>
              <a:ext uri="{FF2B5EF4-FFF2-40B4-BE49-F238E27FC236}">
                <a16:creationId xmlns:a16="http://schemas.microsoft.com/office/drawing/2014/main" id="{82DB0607-CCBC-8E8C-523E-78493289706C}"/>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08B46ECD-5C06-E4FC-C042-E025D2AA451E}"/>
              </a:ext>
            </a:extLst>
          </p:cNvPr>
          <p:cNvSpPr>
            <a:spLocks noGrp="1"/>
          </p:cNvSpPr>
          <p:nvPr/>
        </p:nvSpPr>
        <p:spPr>
          <a:xfrm>
            <a:off x="495300" y="1006827"/>
            <a:ext cx="11201400" cy="1360816"/>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US" sz="1800" dirty="0"/>
              <a:t>For a perfectly symmetrical distribution with one mode, all three measures of central tendency — </a:t>
            </a:r>
            <a:br>
              <a:rPr lang="en-US" sz="1800" dirty="0"/>
            </a:br>
            <a:r>
              <a:rPr lang="en-US" sz="1800" dirty="0"/>
              <a:t>the mean, median, and mode — have the same value.</a:t>
            </a:r>
          </a:p>
          <a:p>
            <a:pPr marL="21600" indent="0" algn="just">
              <a:buNone/>
            </a:pPr>
            <a:r>
              <a:rPr lang="en-US" sz="1800" dirty="0"/>
              <a:t>However, there will be cases that are different.</a:t>
            </a:r>
          </a:p>
          <a:p>
            <a:pPr marL="21600" indent="0" algn="just">
              <a:buNone/>
            </a:pPr>
            <a:endParaRPr lang="en-US" sz="1800" dirty="0"/>
          </a:p>
        </p:txBody>
      </p:sp>
      <p:pic>
        <p:nvPicPr>
          <p:cNvPr id="5" name="Google Shape;247;p40">
            <a:extLst>
              <a:ext uri="{FF2B5EF4-FFF2-40B4-BE49-F238E27FC236}">
                <a16:creationId xmlns:a16="http://schemas.microsoft.com/office/drawing/2014/main" id="{05419883-90B5-0079-679B-9FFC1BDEC2BB}"/>
              </a:ext>
            </a:extLst>
          </p:cNvPr>
          <p:cNvPicPr preferRelativeResize="0"/>
          <p:nvPr/>
        </p:nvPicPr>
        <p:blipFill>
          <a:blip r:embed="rId2">
            <a:alphaModFix/>
          </a:blip>
          <a:stretch>
            <a:fillRect/>
          </a:stretch>
        </p:blipFill>
        <p:spPr>
          <a:xfrm>
            <a:off x="2419604" y="2721328"/>
            <a:ext cx="7352791" cy="2942067"/>
          </a:xfrm>
          <a:prstGeom prst="rect">
            <a:avLst/>
          </a:prstGeom>
          <a:noFill/>
          <a:ln>
            <a:noFill/>
          </a:ln>
        </p:spPr>
      </p:pic>
    </p:spTree>
    <p:extLst>
      <p:ext uri="{BB962C8B-B14F-4D97-AF65-F5344CB8AC3E}">
        <p14:creationId xmlns:p14="http://schemas.microsoft.com/office/powerpoint/2010/main" val="1311884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E953-4274-EE92-6958-FB61BC0E4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8129C-7D77-C16F-EF08-CC612C4B8DAC}"/>
              </a:ext>
            </a:extLst>
          </p:cNvPr>
          <p:cNvSpPr>
            <a:spLocks noGrp="1"/>
          </p:cNvSpPr>
          <p:nvPr>
            <p:ph type="title"/>
          </p:nvPr>
        </p:nvSpPr>
        <p:spPr/>
        <p:txBody>
          <a:bodyPr>
            <a:normAutofit/>
          </a:bodyPr>
          <a:lstStyle/>
          <a:p>
            <a:r>
              <a:rPr lang="en-US" dirty="0"/>
              <a:t>Skewed distribution</a:t>
            </a:r>
            <a:endParaRPr lang="en-RU" dirty="0"/>
          </a:p>
        </p:txBody>
      </p:sp>
      <p:sp>
        <p:nvSpPr>
          <p:cNvPr id="3" name="Footer Placeholder 2">
            <a:extLst>
              <a:ext uri="{FF2B5EF4-FFF2-40B4-BE49-F238E27FC236}">
                <a16:creationId xmlns:a16="http://schemas.microsoft.com/office/drawing/2014/main" id="{BC3B59C5-CD34-72F5-127A-D70FD7CC9A57}"/>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sp>
        <p:nvSpPr>
          <p:cNvPr id="4" name="Content Placeholder 1">
            <a:extLst>
              <a:ext uri="{FF2B5EF4-FFF2-40B4-BE49-F238E27FC236}">
                <a16:creationId xmlns:a16="http://schemas.microsoft.com/office/drawing/2014/main" id="{2968E9FC-ADFC-4E40-C683-0818DA4201FF}"/>
              </a:ext>
            </a:extLst>
          </p:cNvPr>
          <p:cNvSpPr>
            <a:spLocks noGrp="1"/>
          </p:cNvSpPr>
          <p:nvPr/>
        </p:nvSpPr>
        <p:spPr>
          <a:xfrm>
            <a:off x="495300" y="1006827"/>
            <a:ext cx="11201400" cy="1360816"/>
          </a:xfrm>
          <a:prstGeom prst="rect">
            <a:avLst/>
          </a:prstGeom>
        </p:spPr>
        <p:txBody>
          <a:bodyPr vert="horz" lIns="91440" tIns="45720" rIns="91440" bIns="45720" rtlCol="0">
            <a:noAutofit/>
          </a:bodyPr>
          <a:lstStyle>
            <a:lvl1pPr marL="720000" indent="-410400" algn="l" defTabSz="914400" rtl="0" eaLnBrk="1" fontAlgn="ctr" latinLnBrk="0" hangingPunct="1">
              <a:lnSpc>
                <a:spcPct val="125000"/>
              </a:lnSpc>
              <a:spcBef>
                <a:spcPts val="700"/>
              </a:spcBef>
              <a:buClr>
                <a:schemeClr val="tx2"/>
              </a:buClr>
              <a:buSzPct val="70000"/>
              <a:buFont typeface="Menlo Bold" panose="020B0609030804020204" pitchFamily="49" charset="0"/>
              <a:buChar char="▶"/>
              <a:defRPr sz="2400" kern="1200">
                <a:solidFill>
                  <a:schemeClr val="tx1"/>
                </a:solidFill>
                <a:latin typeface="+mn-lt"/>
                <a:ea typeface="+mn-ea"/>
                <a:cs typeface="+mn-cs"/>
              </a:defRPr>
            </a:lvl1pPr>
            <a:lvl2pPr marL="1008000" indent="-288000" algn="l" defTabSz="914400" rtl="0" eaLnBrk="1" fontAlgn="ctr" latinLnBrk="0" hangingPunct="1">
              <a:lnSpc>
                <a:spcPct val="125000"/>
              </a:lnSpc>
              <a:spcBef>
                <a:spcPts val="700"/>
              </a:spcBef>
              <a:buClr>
                <a:schemeClr val="tx1"/>
              </a:buClr>
              <a:buFont typeface="System Font Regular"/>
              <a:buChar char="–"/>
              <a:defRPr sz="2000" kern="1200">
                <a:solidFill>
                  <a:schemeClr val="tx1"/>
                </a:solidFill>
                <a:latin typeface="+mn-lt"/>
                <a:ea typeface="+mn-ea"/>
                <a:cs typeface="+mn-cs"/>
              </a:defRPr>
            </a:lvl2pPr>
            <a:lvl3pPr marL="1314000" indent="-288000" algn="l" defTabSz="914400" rtl="0" eaLnBrk="1" fontAlgn="ctr" latinLnBrk="0" hangingPunct="1">
              <a:lnSpc>
                <a:spcPct val="125000"/>
              </a:lnSpc>
              <a:spcBef>
                <a:spcPts val="700"/>
              </a:spcBef>
              <a:buClr>
                <a:schemeClr val="tx1"/>
              </a:buClr>
              <a:buFont typeface="System Font Regular"/>
              <a:buChar char="–"/>
              <a:defRPr sz="1800" kern="1200">
                <a:solidFill>
                  <a:schemeClr val="tx1"/>
                </a:solidFill>
                <a:latin typeface="+mn-lt"/>
                <a:ea typeface="+mn-ea"/>
                <a:cs typeface="+mn-cs"/>
              </a:defRPr>
            </a:lvl3pPr>
            <a:lvl4pPr marL="16002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4pPr>
            <a:lvl5pPr marL="1872000" indent="-288000" algn="l" defTabSz="914400" rtl="0" eaLnBrk="1" fontAlgn="ctr" latinLnBrk="0" hangingPunct="1">
              <a:lnSpc>
                <a:spcPct val="125000"/>
              </a:lnSpc>
              <a:spcBef>
                <a:spcPts val="700"/>
              </a:spcBef>
              <a:buClr>
                <a:schemeClr val="tx1"/>
              </a:buClr>
              <a:buFont typeface="System Font Regular"/>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00" indent="0" algn="just">
              <a:buNone/>
            </a:pPr>
            <a:r>
              <a:rPr lang="en-US" sz="1800" dirty="0"/>
              <a:t>In skewed distributions, especially distributions for continuous variables, there is a strong tendency for the mean, median, and mode to be located in predictably different positions.</a:t>
            </a:r>
          </a:p>
        </p:txBody>
      </p:sp>
      <p:pic>
        <p:nvPicPr>
          <p:cNvPr id="6" name="Google Shape;254;p41">
            <a:extLst>
              <a:ext uri="{FF2B5EF4-FFF2-40B4-BE49-F238E27FC236}">
                <a16:creationId xmlns:a16="http://schemas.microsoft.com/office/drawing/2014/main" id="{F0AAF053-47D7-747D-F217-7474AA1118B9}"/>
              </a:ext>
            </a:extLst>
          </p:cNvPr>
          <p:cNvPicPr preferRelativeResize="0"/>
          <p:nvPr/>
        </p:nvPicPr>
        <p:blipFill>
          <a:blip r:embed="rId2">
            <a:alphaModFix/>
          </a:blip>
          <a:stretch>
            <a:fillRect/>
          </a:stretch>
        </p:blipFill>
        <p:spPr>
          <a:xfrm>
            <a:off x="429094" y="2958396"/>
            <a:ext cx="5593428" cy="1970251"/>
          </a:xfrm>
          <a:prstGeom prst="rect">
            <a:avLst/>
          </a:prstGeom>
          <a:noFill/>
          <a:ln>
            <a:noFill/>
          </a:ln>
        </p:spPr>
      </p:pic>
      <p:pic>
        <p:nvPicPr>
          <p:cNvPr id="7" name="Google Shape;260;p42">
            <a:extLst>
              <a:ext uri="{FF2B5EF4-FFF2-40B4-BE49-F238E27FC236}">
                <a16:creationId xmlns:a16="http://schemas.microsoft.com/office/drawing/2014/main" id="{2822BB9A-BE59-C9E7-5AEB-94FFC1B833EB}"/>
              </a:ext>
            </a:extLst>
          </p:cNvPr>
          <p:cNvPicPr preferRelativeResize="0"/>
          <p:nvPr/>
        </p:nvPicPr>
        <p:blipFill>
          <a:blip r:embed="rId3">
            <a:alphaModFix/>
          </a:blip>
          <a:stretch>
            <a:fillRect/>
          </a:stretch>
        </p:blipFill>
        <p:spPr>
          <a:xfrm>
            <a:off x="6431673" y="2035872"/>
            <a:ext cx="5272299" cy="3815301"/>
          </a:xfrm>
          <a:prstGeom prst="rect">
            <a:avLst/>
          </a:prstGeom>
          <a:noFill/>
          <a:ln>
            <a:noFill/>
          </a:ln>
        </p:spPr>
      </p:pic>
    </p:spTree>
    <p:extLst>
      <p:ext uri="{BB962C8B-B14F-4D97-AF65-F5344CB8AC3E}">
        <p14:creationId xmlns:p14="http://schemas.microsoft.com/office/powerpoint/2010/main" val="3634451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25AC-955B-9BC3-A2D3-764F9FC15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81404-1A96-F518-E61F-BF50707D7BCE}"/>
              </a:ext>
            </a:extLst>
          </p:cNvPr>
          <p:cNvSpPr>
            <a:spLocks noGrp="1"/>
          </p:cNvSpPr>
          <p:nvPr>
            <p:ph type="title"/>
          </p:nvPr>
        </p:nvSpPr>
        <p:spPr/>
        <p:txBody>
          <a:bodyPr>
            <a:normAutofit/>
          </a:bodyPr>
          <a:lstStyle/>
          <a:p>
            <a:r>
              <a:rPr lang="en-US" dirty="0"/>
              <a:t>Selecting a measure of central tendency</a:t>
            </a:r>
            <a:endParaRPr lang="en-RU" dirty="0"/>
          </a:p>
        </p:txBody>
      </p:sp>
      <p:sp>
        <p:nvSpPr>
          <p:cNvPr id="3" name="Footer Placeholder 2">
            <a:extLst>
              <a:ext uri="{FF2B5EF4-FFF2-40B4-BE49-F238E27FC236}">
                <a16:creationId xmlns:a16="http://schemas.microsoft.com/office/drawing/2014/main" id="{A5AF1B98-2BE1-5CA9-D4F2-5CE1812675F3}"/>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graphicFrame>
        <p:nvGraphicFramePr>
          <p:cNvPr id="7" name="Google Shape;266;p43">
            <a:extLst>
              <a:ext uri="{FF2B5EF4-FFF2-40B4-BE49-F238E27FC236}">
                <a16:creationId xmlns:a16="http://schemas.microsoft.com/office/drawing/2014/main" id="{3764D207-0557-14F0-AE9E-A20D58167AB0}"/>
              </a:ext>
            </a:extLst>
          </p:cNvPr>
          <p:cNvGraphicFramePr/>
          <p:nvPr>
            <p:extLst>
              <p:ext uri="{D42A27DB-BD31-4B8C-83A1-F6EECF244321}">
                <p14:modId xmlns:p14="http://schemas.microsoft.com/office/powerpoint/2010/main" val="2800496547"/>
              </p:ext>
            </p:extLst>
          </p:nvPr>
        </p:nvGraphicFramePr>
        <p:xfrm>
          <a:off x="1001950" y="1526625"/>
          <a:ext cx="10188100" cy="3804750"/>
        </p:xfrm>
        <a:graphic>
          <a:graphicData uri="http://schemas.openxmlformats.org/drawingml/2006/table">
            <a:tbl>
              <a:tblPr>
                <a:noFill/>
              </a:tblPr>
              <a:tblGrid>
                <a:gridCol w="2547025">
                  <a:extLst>
                    <a:ext uri="{9D8B030D-6E8A-4147-A177-3AD203B41FA5}">
                      <a16:colId xmlns:a16="http://schemas.microsoft.com/office/drawing/2014/main" val="20000"/>
                    </a:ext>
                  </a:extLst>
                </a:gridCol>
                <a:gridCol w="2547025">
                  <a:extLst>
                    <a:ext uri="{9D8B030D-6E8A-4147-A177-3AD203B41FA5}">
                      <a16:colId xmlns:a16="http://schemas.microsoft.com/office/drawing/2014/main" val="20001"/>
                    </a:ext>
                  </a:extLst>
                </a:gridCol>
                <a:gridCol w="2547025">
                  <a:extLst>
                    <a:ext uri="{9D8B030D-6E8A-4147-A177-3AD203B41FA5}">
                      <a16:colId xmlns:a16="http://schemas.microsoft.com/office/drawing/2014/main" val="20002"/>
                    </a:ext>
                  </a:extLst>
                </a:gridCol>
                <a:gridCol w="2547025">
                  <a:extLst>
                    <a:ext uri="{9D8B030D-6E8A-4147-A177-3AD203B41FA5}">
                      <a16:colId xmlns:a16="http://schemas.microsoft.com/office/drawing/2014/main" val="20003"/>
                    </a:ext>
                  </a:extLst>
                </a:gridCol>
              </a:tblGrid>
              <a:tr h="487781">
                <a:tc>
                  <a:txBody>
                    <a:bodyPr/>
                    <a:lstStyle/>
                    <a:p>
                      <a:pPr marL="0" lvl="0" indent="0" algn="l" rtl="0">
                        <a:spcBef>
                          <a:spcPts val="0"/>
                        </a:spcBef>
                        <a:spcAft>
                          <a:spcPts val="0"/>
                        </a:spcAft>
                        <a:buNone/>
                      </a:pPr>
                      <a:endParaRPr>
                        <a:latin typeface="Roboto Condensed Light"/>
                        <a:ea typeface="Roboto Condensed Light"/>
                        <a:cs typeface="Roboto Condensed Light"/>
                        <a:sym typeface="Roboto Condensed Light"/>
                      </a:endParaRPr>
                    </a:p>
                  </a:txBody>
                  <a:tcPr marL="91425" marR="91425" marT="91425" marB="91425"/>
                </a:tc>
                <a:tc>
                  <a:txBody>
                    <a:bodyPr/>
                    <a:lstStyle/>
                    <a:p>
                      <a:pPr marL="0" lvl="0" indent="0" algn="l" rtl="0">
                        <a:spcBef>
                          <a:spcPts val="0"/>
                        </a:spcBef>
                        <a:spcAft>
                          <a:spcPts val="0"/>
                        </a:spcAft>
                        <a:buNone/>
                      </a:pPr>
                      <a:r>
                        <a:rPr lang="en" b="1" dirty="0">
                          <a:latin typeface="Roboto Condensed"/>
                          <a:ea typeface="Roboto Condensed"/>
                          <a:cs typeface="Roboto Condensed"/>
                          <a:sym typeface="Roboto Condensed"/>
                        </a:rPr>
                        <a:t>Mean</a:t>
                      </a:r>
                      <a:endParaRPr b="1" dirty="0">
                        <a:latin typeface="Roboto Condensed"/>
                        <a:ea typeface="Roboto Condensed"/>
                        <a:cs typeface="Roboto Condensed"/>
                        <a:sym typeface="Roboto Condensed"/>
                      </a:endParaRPr>
                    </a:p>
                  </a:txBody>
                  <a:tcPr marL="91425" marR="91425" marT="91425" marB="91425"/>
                </a:tc>
                <a:tc>
                  <a:txBody>
                    <a:bodyPr/>
                    <a:lstStyle/>
                    <a:p>
                      <a:pPr marL="0" lvl="0" indent="0" algn="l" rtl="0">
                        <a:spcBef>
                          <a:spcPts val="0"/>
                        </a:spcBef>
                        <a:spcAft>
                          <a:spcPts val="0"/>
                        </a:spcAft>
                        <a:buNone/>
                      </a:pPr>
                      <a:r>
                        <a:rPr lang="en" b="1">
                          <a:latin typeface="Roboto Condensed"/>
                          <a:ea typeface="Roboto Condensed"/>
                          <a:cs typeface="Roboto Condensed"/>
                          <a:sym typeface="Roboto Condensed"/>
                        </a:rPr>
                        <a:t>Median</a:t>
                      </a:r>
                      <a:endParaRPr b="1">
                        <a:latin typeface="Roboto Condensed"/>
                        <a:ea typeface="Roboto Condensed"/>
                        <a:cs typeface="Roboto Condensed"/>
                        <a:sym typeface="Roboto Condensed"/>
                      </a:endParaRPr>
                    </a:p>
                  </a:txBody>
                  <a:tcPr marL="91425" marR="91425" marT="91425" marB="91425"/>
                </a:tc>
                <a:tc>
                  <a:txBody>
                    <a:bodyPr/>
                    <a:lstStyle/>
                    <a:p>
                      <a:pPr marL="0" lvl="0" indent="0" algn="l" rtl="0">
                        <a:spcBef>
                          <a:spcPts val="0"/>
                        </a:spcBef>
                        <a:spcAft>
                          <a:spcPts val="0"/>
                        </a:spcAft>
                        <a:buNone/>
                      </a:pPr>
                      <a:r>
                        <a:rPr lang="en" b="1">
                          <a:latin typeface="Roboto Condensed"/>
                          <a:ea typeface="Roboto Condensed"/>
                          <a:cs typeface="Roboto Condensed"/>
                          <a:sym typeface="Roboto Condensed"/>
                        </a:rPr>
                        <a:t>Mode</a:t>
                      </a:r>
                      <a:endParaRPr b="1">
                        <a:latin typeface="Roboto Condensed"/>
                        <a:ea typeface="Roboto Condensed"/>
                        <a:cs typeface="Roboto Condensed"/>
                        <a:sym typeface="Roboto Condensed"/>
                      </a:endParaRPr>
                    </a:p>
                  </a:txBody>
                  <a:tcPr marL="91425" marR="91425" marT="91425" marB="91425"/>
                </a:tc>
                <a:extLst>
                  <a:ext uri="{0D108BD9-81ED-4DB2-BD59-A6C34878D82A}">
                    <a16:rowId xmlns:a16="http://schemas.microsoft.com/office/drawing/2014/main" val="10000"/>
                  </a:ext>
                </a:extLst>
              </a:tr>
              <a:tr h="487781">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Nominal variables</a:t>
                      </a:r>
                      <a:endParaRPr>
                        <a:latin typeface="Roboto Condensed Light"/>
                        <a:ea typeface="Roboto Condensed Light"/>
                        <a:cs typeface="Roboto Condensed Light"/>
                        <a:sym typeface="Roboto Condensed Light"/>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latin typeface="Roboto Condensed Light"/>
                          <a:ea typeface="Roboto Condensed Light"/>
                          <a:cs typeface="Roboto Condensed Light"/>
                          <a:sym typeface="Roboto Condensed Light"/>
                        </a:rPr>
                        <a:t>No</a:t>
                      </a:r>
                      <a:endParaRPr dirty="0">
                        <a:latin typeface="Roboto Condensed Light"/>
                        <a:ea typeface="Roboto Condensed Light"/>
                        <a:cs typeface="Roboto Condensed Light"/>
                        <a:sym typeface="Roboto Condensed Light"/>
                      </a:endParaRPr>
                    </a:p>
                  </a:txBody>
                  <a:tcPr marL="91425" marR="91425" marT="91425" marB="91425">
                    <a:lnB w="9525" cap="flat" cmpd="sng">
                      <a:solidFill>
                        <a:srgbClr val="9E9E9E"/>
                      </a:solidFill>
                      <a:prstDash val="solid"/>
                      <a:round/>
                      <a:headEnd type="none" w="sm" len="sm"/>
                      <a:tailEnd type="none" w="sm" len="sm"/>
                    </a:lnB>
                    <a:solidFill>
                      <a:srgbClr val="EDE3DA"/>
                    </a:solidFill>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No</a:t>
                      </a:r>
                      <a:endParaRPr>
                        <a:latin typeface="Roboto Condensed Light"/>
                        <a:ea typeface="Roboto Condensed Light"/>
                        <a:cs typeface="Roboto Condensed Light"/>
                        <a:sym typeface="Roboto Condensed Light"/>
                      </a:endParaRPr>
                    </a:p>
                  </a:txBody>
                  <a:tcPr marL="91425" marR="91425" marT="91425" marB="91425">
                    <a:lnB w="9525" cap="flat" cmpd="sng">
                      <a:solidFill>
                        <a:srgbClr val="9E9E9E"/>
                      </a:solidFill>
                      <a:prstDash val="solid"/>
                      <a:round/>
                      <a:headEnd type="none" w="sm" len="sm"/>
                      <a:tailEnd type="none" w="sm" len="sm"/>
                    </a:lnB>
                    <a:solidFill>
                      <a:srgbClr val="EDE3DA"/>
                    </a:solidFill>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780469">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There are extreme values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No</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EDE3DA"/>
                    </a:solidFill>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780469">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Distribution is symmetrical</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 (with caution)</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780469">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Distribution is skewed</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a:latin typeface="Roboto Condensed Light"/>
                          <a:ea typeface="Roboto Condensed Light"/>
                          <a:cs typeface="Roboto Condensed Light"/>
                          <a:sym typeface="Roboto Condensed Light"/>
                        </a:rPr>
                        <a:t>No</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EDE3DA"/>
                    </a:solidFill>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a:latin typeface="Roboto Condensed Light"/>
                          <a:ea typeface="Roboto Condensed Light"/>
                          <a:cs typeface="Roboto Condensed Light"/>
                          <a:sym typeface="Roboto Condensed Light"/>
                        </a:rPr>
                        <a:t>No</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EDE3DA"/>
                    </a:solidFill>
                  </a:tcPr>
                </a:tc>
                <a:extLst>
                  <a:ext uri="{0D108BD9-81ED-4DB2-BD59-A6C34878D82A}">
                    <a16:rowId xmlns:a16="http://schemas.microsoft.com/office/drawing/2014/main" val="10004"/>
                  </a:ext>
                </a:extLst>
              </a:tr>
              <a:tr h="487781">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Ordinal variables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a:latin typeface="Roboto Condensed Light"/>
                          <a:ea typeface="Roboto Condensed Light"/>
                          <a:cs typeface="Roboto Condensed Light"/>
                          <a:sym typeface="Roboto Condensed Light"/>
                        </a:rPr>
                        <a:t>No</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EDE3DA"/>
                    </a:solidFill>
                  </a:tcPr>
                </a:tc>
                <a:tc>
                  <a:txBody>
                    <a:bodyPr/>
                    <a:lstStyle/>
                    <a:p>
                      <a:pPr marL="0" lvl="0" indent="0" algn="l" rtl="0">
                        <a:spcBef>
                          <a:spcPts val="0"/>
                        </a:spcBef>
                        <a:spcAft>
                          <a:spcPts val="0"/>
                        </a:spcAft>
                        <a:buNone/>
                      </a:pPr>
                      <a:r>
                        <a:rPr lang="en">
                          <a:latin typeface="Roboto Condensed Light"/>
                          <a:ea typeface="Roboto Condensed Light"/>
                          <a:cs typeface="Roboto Condensed Light"/>
                          <a:sym typeface="Roboto Condensed Light"/>
                        </a:rPr>
                        <a:t>Yes</a:t>
                      </a:r>
                      <a:endParaRPr>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dirty="0">
                          <a:latin typeface="Roboto Condensed Light"/>
                          <a:ea typeface="Roboto Condensed Light"/>
                          <a:cs typeface="Roboto Condensed Light"/>
                          <a:sym typeface="Roboto Condensed Light"/>
                        </a:rPr>
                        <a:t>Yes</a:t>
                      </a:r>
                      <a:endParaRPr dirty="0">
                        <a:latin typeface="Roboto Condensed Light"/>
                        <a:ea typeface="Roboto Condensed Light"/>
                        <a:cs typeface="Roboto Condensed Light"/>
                        <a:sym typeface="Roboto Condensed Light"/>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56376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92FFD-B0D4-47F5-10F0-60F3BD250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DC878-7DC8-0E1E-3F6A-EBB778FDA3D7}"/>
              </a:ext>
            </a:extLst>
          </p:cNvPr>
          <p:cNvSpPr>
            <a:spLocks noGrp="1"/>
          </p:cNvSpPr>
          <p:nvPr>
            <p:ph type="title"/>
          </p:nvPr>
        </p:nvSpPr>
        <p:spPr/>
        <p:txBody>
          <a:bodyPr/>
          <a:lstStyle/>
          <a:p>
            <a:r>
              <a:rPr lang="en-US" dirty="0"/>
              <a:t>Learning check</a:t>
            </a:r>
            <a:endParaRPr lang="en-RU" dirty="0"/>
          </a:p>
        </p:txBody>
      </p:sp>
      <p:sp>
        <p:nvSpPr>
          <p:cNvPr id="3" name="Footer Placeholder 2">
            <a:extLst>
              <a:ext uri="{FF2B5EF4-FFF2-40B4-BE49-F238E27FC236}">
                <a16:creationId xmlns:a16="http://schemas.microsoft.com/office/drawing/2014/main" id="{2CA1B163-1965-0ADB-8EF7-904E5E43456D}"/>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4" name="Google Shape;272;p44">
            <a:extLst>
              <a:ext uri="{FF2B5EF4-FFF2-40B4-BE49-F238E27FC236}">
                <a16:creationId xmlns:a16="http://schemas.microsoft.com/office/drawing/2014/main" id="{F5DCB6C4-F11D-E71D-6623-61518C8549E0}"/>
              </a:ext>
            </a:extLst>
          </p:cNvPr>
          <p:cNvPicPr preferRelativeResize="0"/>
          <p:nvPr/>
        </p:nvPicPr>
        <p:blipFill>
          <a:blip r:embed="rId2">
            <a:alphaModFix/>
          </a:blip>
          <a:stretch>
            <a:fillRect/>
          </a:stretch>
        </p:blipFill>
        <p:spPr>
          <a:xfrm>
            <a:off x="2009775" y="2276475"/>
            <a:ext cx="8172450" cy="2305050"/>
          </a:xfrm>
          <a:prstGeom prst="rect">
            <a:avLst/>
          </a:prstGeom>
          <a:noFill/>
          <a:ln>
            <a:noFill/>
          </a:ln>
        </p:spPr>
      </p:pic>
    </p:spTree>
    <p:extLst>
      <p:ext uri="{BB962C8B-B14F-4D97-AF65-F5344CB8AC3E}">
        <p14:creationId xmlns:p14="http://schemas.microsoft.com/office/powerpoint/2010/main" val="2879732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F88E7D-A386-2E4B-A14B-B5A4AB791275}"/>
              </a:ext>
            </a:extLst>
          </p:cNvPr>
          <p:cNvSpPr>
            <a:spLocks noGrp="1"/>
          </p:cNvSpPr>
          <p:nvPr>
            <p:ph type="title"/>
          </p:nvPr>
        </p:nvSpPr>
        <p:spPr/>
        <p:txBody>
          <a:bodyPr/>
          <a:lstStyle/>
          <a:p>
            <a:r>
              <a:rPr lang="en-US" dirty="0"/>
              <a:t>Thank you!</a:t>
            </a:r>
            <a:endParaRPr lang="ru-RU" dirty="0"/>
          </a:p>
        </p:txBody>
      </p:sp>
      <p:sp>
        <p:nvSpPr>
          <p:cNvPr id="3" name="Объект 2">
            <a:extLst>
              <a:ext uri="{FF2B5EF4-FFF2-40B4-BE49-F238E27FC236}">
                <a16:creationId xmlns:a16="http://schemas.microsoft.com/office/drawing/2014/main" id="{C4E2DE52-7ED0-7F42-B55D-3A8EA4221456}"/>
              </a:ext>
            </a:extLst>
          </p:cNvPr>
          <p:cNvSpPr>
            <a:spLocks noGrp="1"/>
          </p:cNvSpPr>
          <p:nvPr>
            <p:ph idx="1"/>
          </p:nvPr>
        </p:nvSpPr>
        <p:spPr>
          <a:xfrm>
            <a:off x="4815332" y="2642953"/>
            <a:ext cx="4267955" cy="3141553"/>
          </a:xfrm>
        </p:spPr>
        <p:txBody>
          <a:bodyPr>
            <a:normAutofit/>
          </a:bodyPr>
          <a:lstStyle/>
          <a:p>
            <a:pPr marL="0" indent="0">
              <a:buNone/>
            </a:pPr>
            <a:r>
              <a:rPr lang="en-GB" dirty="0"/>
              <a:t>Fedor </a:t>
            </a:r>
            <a:r>
              <a:rPr lang="en-GB" dirty="0" err="1"/>
              <a:t>Shlyakhov</a:t>
            </a:r>
            <a:r>
              <a:rPr lang="en-GB" dirty="0"/>
              <a:t> </a:t>
            </a:r>
            <a:r>
              <a:rPr lang="en-US" dirty="0" err="1"/>
              <a:t>fshlyahov@hse.ru</a:t>
            </a:r>
            <a:endParaRPr lang="en-US" dirty="0"/>
          </a:p>
        </p:txBody>
      </p:sp>
      <p:sp>
        <p:nvSpPr>
          <p:cNvPr id="5" name="Нижний колонтитул 4">
            <a:extLst>
              <a:ext uri="{FF2B5EF4-FFF2-40B4-BE49-F238E27FC236}">
                <a16:creationId xmlns:a16="http://schemas.microsoft.com/office/drawing/2014/main" id="{195DB9D6-D67E-D34C-B142-1765A8C3A47B}"/>
              </a:ext>
            </a:extLst>
          </p:cNvPr>
          <p:cNvSpPr>
            <a:spLocks noGrp="1"/>
          </p:cNvSpPr>
          <p:nvPr>
            <p:ph type="ftr" sz="quarter" idx="11"/>
          </p:nvPr>
        </p:nvSpPr>
        <p:spPr/>
        <p:txBody>
          <a:bodyPr/>
          <a:lstStyle/>
          <a:p>
            <a:r>
              <a:rPr lang="en-GB" dirty="0"/>
              <a:t>Fedor </a:t>
            </a:r>
            <a:r>
              <a:rPr lang="en-GB" dirty="0" err="1"/>
              <a:t>Shlyakhov</a:t>
            </a:r>
            <a:r>
              <a:rPr lang="en-GB" dirty="0"/>
              <a:t>, NRU HSE</a:t>
            </a:r>
            <a:endParaRPr lang="ru-RU" dirty="0"/>
          </a:p>
        </p:txBody>
      </p:sp>
      <p:pic>
        <p:nvPicPr>
          <p:cNvPr id="11" name="Рисунок 10">
            <a:extLst>
              <a:ext uri="{FF2B5EF4-FFF2-40B4-BE49-F238E27FC236}">
                <a16:creationId xmlns:a16="http://schemas.microsoft.com/office/drawing/2014/main" id="{D99A0736-E0EC-8D4B-9EE4-A0F32FB474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0172" y="3370691"/>
            <a:ext cx="681555" cy="606584"/>
          </a:xfrm>
          <a:prstGeom prst="rect">
            <a:avLst/>
          </a:prstGeom>
        </p:spPr>
      </p:pic>
    </p:spTree>
    <p:extLst>
      <p:ext uri="{BB962C8B-B14F-4D97-AF65-F5344CB8AC3E}">
        <p14:creationId xmlns:p14="http://schemas.microsoft.com/office/powerpoint/2010/main" val="4285884831"/>
      </p:ext>
    </p:extLst>
  </p:cSld>
  <p:clrMapOvr>
    <a:masterClrMapping/>
  </p:clrMapOvr>
</p:sld>
</file>

<file path=ppt/theme/theme1.xml><?xml version="1.0" encoding="utf-8"?>
<a:theme xmlns:a="http://schemas.openxmlformats.org/drawingml/2006/main" name="HSE">
  <a:themeElements>
    <a:clrScheme name="HSE">
      <a:dk1>
        <a:srgbClr val="000000"/>
      </a:dk1>
      <a:lt1>
        <a:srgbClr val="FFFFFF"/>
      </a:lt1>
      <a:dk2>
        <a:srgbClr val="005AAA"/>
      </a:dk2>
      <a:lt2>
        <a:srgbClr val="CED9EA"/>
      </a:lt2>
      <a:accent1>
        <a:srgbClr val="992622"/>
      </a:accent1>
      <a:accent2>
        <a:srgbClr val="F36C2A"/>
      </a:accent2>
      <a:accent3>
        <a:srgbClr val="E58224"/>
      </a:accent3>
      <a:accent4>
        <a:srgbClr val="142B50"/>
      </a:accent4>
      <a:accent5>
        <a:srgbClr val="4C5FAB"/>
      </a:accent5>
      <a:accent6>
        <a:srgbClr val="28A348"/>
      </a:accent6>
      <a:hlink>
        <a:srgbClr val="000000"/>
      </a:hlink>
      <a:folHlink>
        <a:srgbClr val="000000"/>
      </a:folHlink>
    </a:clrScheme>
    <a:fontScheme name="HSE">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1C6823A7FE37E642BE1D2CC3A4E7222D" ma:contentTypeVersion="9" ma:contentTypeDescription="Создание документа." ma:contentTypeScope="" ma:versionID="59b764e8087e8c92d107e797eb92b095">
  <xsd:schema xmlns:xsd="http://www.w3.org/2001/XMLSchema" xmlns:xs="http://www.w3.org/2001/XMLSchema" xmlns:p="http://schemas.microsoft.com/office/2006/metadata/properties" xmlns:ns2="c115710a-098a-48ce-8518-bc6417fcdd65" targetNamespace="http://schemas.microsoft.com/office/2006/metadata/properties" ma:root="true" ma:fieldsID="a20aa69aa9c7f544eacdccb7dac4bcdb" ns2:_="">
    <xsd:import namespace="c115710a-098a-48ce-8518-bc6417fcdd6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15710a-098a-48ce-8518-bc6417fcdd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980635-4A4C-4C5A-A896-476527F040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15710a-098a-48ce-8518-bc6417fcdd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B40442-68EA-4285-AAFD-0966C47C499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9DCFF4E-7731-4E81-AB1D-41746E451C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8082</TotalTime>
  <Words>2031</Words>
  <Application>Microsoft Macintosh PowerPoint</Application>
  <PresentationFormat>Широкоэкранный</PresentationFormat>
  <Paragraphs>238</Paragraphs>
  <Slides>49</Slides>
  <Notes>0</Notes>
  <HiddenSlides>0</HiddenSlides>
  <MMClips>0</MMClips>
  <ScaleCrop>false</ScaleCrop>
  <HeadingPairs>
    <vt:vector size="6" baseType="variant">
      <vt:variant>
        <vt:lpstr>Использованные шрифты</vt:lpstr>
      </vt:variant>
      <vt:variant>
        <vt:i4>12</vt:i4>
      </vt:variant>
      <vt:variant>
        <vt:lpstr>Тема</vt:lpstr>
      </vt:variant>
      <vt:variant>
        <vt:i4>1</vt:i4>
      </vt:variant>
      <vt:variant>
        <vt:lpstr>Заголовки слайдов</vt:lpstr>
      </vt:variant>
      <vt:variant>
        <vt:i4>49</vt:i4>
      </vt:variant>
    </vt:vector>
  </HeadingPairs>
  <TitlesOfParts>
    <vt:vector size="62" baseType="lpstr">
      <vt:lpstr>Arial</vt:lpstr>
      <vt:lpstr>Calibri</vt:lpstr>
      <vt:lpstr>Courier New</vt:lpstr>
      <vt:lpstr>Menlo Bold</vt:lpstr>
      <vt:lpstr>Myriad Pro</vt:lpstr>
      <vt:lpstr>Proxima Nova</vt:lpstr>
      <vt:lpstr>Roboto</vt:lpstr>
      <vt:lpstr>Roboto Condensed</vt:lpstr>
      <vt:lpstr>Roboto Condensed Light</vt:lpstr>
      <vt:lpstr>Source Code Pro</vt:lpstr>
      <vt:lpstr>System Font Regular</vt:lpstr>
      <vt:lpstr>Wingdings</vt:lpstr>
      <vt:lpstr>HSE</vt:lpstr>
      <vt:lpstr>Data Analytics and Mining</vt:lpstr>
      <vt:lpstr>Variables</vt:lpstr>
      <vt:lpstr>Constructs</vt:lpstr>
      <vt:lpstr>Numerical Variables</vt:lpstr>
      <vt:lpstr>Categorical Variables</vt:lpstr>
      <vt:lpstr>Variables’ types</vt:lpstr>
      <vt:lpstr>Variables’ types</vt:lpstr>
      <vt:lpstr>World of Data</vt:lpstr>
      <vt:lpstr>World of Data</vt:lpstr>
      <vt:lpstr>Distributions</vt:lpstr>
      <vt:lpstr>Statistical notation</vt:lpstr>
      <vt:lpstr>Frequency distribution</vt:lpstr>
      <vt:lpstr>Frequency distribution</vt:lpstr>
      <vt:lpstr>Proportions and Percentage</vt:lpstr>
      <vt:lpstr>Proportions and Percentage</vt:lpstr>
      <vt:lpstr>Proportions and Percentage</vt:lpstr>
      <vt:lpstr>Frequency distribution graphs: histogram</vt:lpstr>
      <vt:lpstr>Histogram</vt:lpstr>
      <vt:lpstr>Frequency distribution graphs: polygons</vt:lpstr>
      <vt:lpstr>Polygons</vt:lpstr>
      <vt:lpstr>Bar Graph (Chart)</vt:lpstr>
      <vt:lpstr>Smooth curves</vt:lpstr>
      <vt:lpstr>Shape of a Frequency Distribution</vt:lpstr>
      <vt:lpstr>Normal distribution</vt:lpstr>
      <vt:lpstr>Skewed distribution</vt:lpstr>
      <vt:lpstr>Skewed distribution</vt:lpstr>
      <vt:lpstr>Learning check</vt:lpstr>
      <vt:lpstr>Learning check</vt:lpstr>
      <vt:lpstr>Measures of central tendency</vt:lpstr>
      <vt:lpstr>Central tendency</vt:lpstr>
      <vt:lpstr>No central tendency measure is good for every situation</vt:lpstr>
      <vt:lpstr>Mean</vt:lpstr>
      <vt:lpstr>Learning check</vt:lpstr>
      <vt:lpstr>Finding the median</vt:lpstr>
      <vt:lpstr>Finding the median</vt:lpstr>
      <vt:lpstr>Finding the median</vt:lpstr>
      <vt:lpstr>Finding the median</vt:lpstr>
      <vt:lpstr>Median</vt:lpstr>
      <vt:lpstr>Learning check</vt:lpstr>
      <vt:lpstr>Mode</vt:lpstr>
      <vt:lpstr>Bimodal distribution</vt:lpstr>
      <vt:lpstr>Selecting a measure of central tendency</vt:lpstr>
      <vt:lpstr>Undetermined values &amp; Open-ended data</vt:lpstr>
      <vt:lpstr>Central Tendency and the Shape of the Distribution</vt:lpstr>
      <vt:lpstr>Symmetrical distribution</vt:lpstr>
      <vt:lpstr>Skewed distribution</vt:lpstr>
      <vt:lpstr>Selecting a measure of central tendency</vt:lpstr>
      <vt:lpstr>Learning check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Digits Classification</dc:title>
  <dc:creator>Artem Maevskij</dc:creator>
  <cp:lastModifiedBy>a898</cp:lastModifiedBy>
  <cp:revision>183</cp:revision>
  <dcterms:created xsi:type="dcterms:W3CDTF">2020-04-10T16:25:38Z</dcterms:created>
  <dcterms:modified xsi:type="dcterms:W3CDTF">2026-09-12T14:19:32Z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0x0101001C6823A7FE37E642BE1D2CC3A4E7222D</vt:lpwstr>
  </property>
</Properties>
</file>